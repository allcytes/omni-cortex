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667EEA"/>
          </a:solidFill>
          <a:ln/>
        </p:spPr>
        <p:txBody>
          <a:bodyPr wrap="square" rtlCol="0" anchor="ctr"/>
          <a:lstStyle/>
          <a:p>
            <a:pPr indent="0" marL="0">
              <a:buNone/>
            </a:pPr>
            <a:endParaRPr lang="en-US" dirty="0"/>
          </a:p>
        </p:txBody>
      </p:sp>
      <p:sp>
        <p:nvSpPr>
          <p:cNvPr id="3" name="Text 1"/>
          <p:cNvSpPr/>
          <p:nvPr/>
        </p:nvSpPr>
        <p:spPr>
          <a:xfrm>
            <a:off x="0" y="76200"/>
            <a:ext cx="5168801" cy="5067300"/>
          </a:xfrm>
          <a:prstGeom prst="rect">
            <a:avLst/>
          </a:prstGeom>
          <a:solidFill>
            <a:srgbClr val="F0F4FF"/>
          </a:solidFill>
          <a:ln/>
        </p:spPr>
        <p:txBody>
          <a:bodyPr wrap="square" rtlCol="0" anchor="ctr"/>
          <a:lstStyle/>
          <a:p>
            <a:pPr indent="0" marL="0">
              <a:buNone/>
            </a:pPr>
            <a:endParaRPr lang="en-US" dirty="0"/>
          </a:p>
        </p:txBody>
      </p:sp>
      <p:sp>
        <p:nvSpPr>
          <p:cNvPr id="4" name="Shape 2"/>
          <p:cNvSpPr/>
          <p:nvPr/>
        </p:nvSpPr>
        <p:spPr>
          <a:xfrm>
            <a:off x="5149751" y="76200"/>
            <a:ext cx="0" cy="5067300"/>
          </a:xfrm>
          <a:prstGeom prst="line">
            <a:avLst/>
          </a:prstGeom>
          <a:noFill/>
          <a:ln w="38100">
            <a:solidFill>
              <a:srgbClr val="667EEA"/>
            </a:solidFill>
            <a:prstDash val="solid"/>
          </a:ln>
        </p:spPr>
      </p:sp>
      <p:sp>
        <p:nvSpPr>
          <p:cNvPr id="5" name="Text 3"/>
          <p:cNvSpPr/>
          <p:nvPr/>
        </p:nvSpPr>
        <p:spPr>
          <a:xfrm>
            <a:off x="507950" y="1530102"/>
            <a:ext cx="4114800" cy="269677"/>
          </a:xfrm>
          <a:prstGeom prst="roundRect">
            <a:avLst>
              <a:gd name="adj" fmla="val 94187"/>
            </a:avLst>
          </a:prstGeom>
          <a:solidFill>
            <a:srgbClr val="667EEA"/>
          </a:solidFill>
          <a:ln/>
        </p:spPr>
        <p:txBody>
          <a:bodyPr wrap="square" rtlCol="0" anchor="ctr"/>
          <a:lstStyle/>
          <a:p>
            <a:pPr indent="0" marL="0">
              <a:buNone/>
            </a:pPr>
            <a:endParaRPr lang="en-US" dirty="0"/>
          </a:p>
        </p:txBody>
      </p:sp>
      <p:sp>
        <p:nvSpPr>
          <p:cNvPr id="6" name="Text 4"/>
          <p:cNvSpPr/>
          <p:nvPr/>
        </p:nvSpPr>
        <p:spPr>
          <a:xfrm>
            <a:off x="660350" y="1593503"/>
            <a:ext cx="3886200" cy="142875"/>
          </a:xfrm>
          <a:prstGeom prst="rect">
            <a:avLst/>
          </a:prstGeom>
          <a:noFill/>
          <a:ln/>
        </p:spPr>
        <p:txBody>
          <a:bodyPr wrap="square" lIns="0" tIns="0" rIns="0" bIns="0" rtlCol="0" anchor="t"/>
          <a:lstStyle/>
          <a:p>
            <a:pPr algn="l" indent="0" marL="0">
              <a:buNone/>
            </a:pPr>
            <a:r>
              <a:rPr lang="en-US" sz="1000" dirty="0">
                <a:solidFill>
                  <a:srgbClr val="FFFFFF"/>
                </a:solidFill>
                <a:latin typeface="Arial" pitchFamily="34" charset="0"/>
                <a:ea typeface="Arial" pitchFamily="34" charset="-122"/>
                <a:cs typeface="Arial" pitchFamily="34" charset="-120"/>
              </a:rPr>
              <a:t>TECHNICAL DEEP DIVE</a:t>
            </a:r>
            <a:endParaRPr lang="en-US" sz="1000" dirty="0"/>
          </a:p>
        </p:txBody>
      </p:sp>
      <p:sp>
        <p:nvSpPr>
          <p:cNvPr id="7" name="Text 5"/>
          <p:cNvSpPr/>
          <p:nvPr/>
        </p:nvSpPr>
        <p:spPr>
          <a:xfrm>
            <a:off x="507950" y="1990279"/>
            <a:ext cx="4197096" cy="975420"/>
          </a:xfrm>
          <a:prstGeom prst="rect">
            <a:avLst/>
          </a:prstGeom>
          <a:noFill/>
          <a:ln/>
        </p:spPr>
        <p:txBody>
          <a:bodyPr wrap="square" lIns="0" tIns="0" rIns="0" bIns="0" rtlCol="0" anchor="t"/>
          <a:lstStyle/>
          <a:p>
            <a:pPr algn="l" indent="0" marL="0">
              <a:lnSpc>
                <a:spcPts val="3840"/>
              </a:lnSpc>
              <a:spcAft>
                <a:spcPts val="1500"/>
              </a:spcAft>
              <a:buNone/>
            </a:pPr>
            <a:r>
              <a:rPr lang="en-US" sz="3200" b="1" dirty="0">
                <a:solidFill>
                  <a:srgbClr val="1A1A2E"/>
                </a:solidFill>
                <a:latin typeface="Arial" pitchFamily="34" charset="0"/>
                <a:ea typeface="Arial" pitchFamily="34" charset="-122"/>
                <a:cs typeface="Arial" pitchFamily="34" charset="-120"/>
              </a:rPr>
              <a:t>Why Python for Omni-Cortex MCP</a:t>
            </a:r>
            <a:endParaRPr lang="en-US" sz="3200" dirty="0"/>
          </a:p>
        </p:txBody>
      </p:sp>
      <p:sp>
        <p:nvSpPr>
          <p:cNvPr id="8" name="Text 6"/>
          <p:cNvSpPr/>
          <p:nvPr/>
        </p:nvSpPr>
        <p:spPr>
          <a:xfrm>
            <a:off x="507950" y="3156198"/>
            <a:ext cx="4197096" cy="533400"/>
          </a:xfrm>
          <a:prstGeom prst="rect">
            <a:avLst/>
          </a:prstGeom>
          <a:noFill/>
          <a:ln/>
        </p:spPr>
        <p:txBody>
          <a:bodyPr wrap="square" lIns="0" tIns="0" rIns="0" bIns="0" rtlCol="0" anchor="t"/>
          <a:lstStyle/>
          <a:p>
            <a:pPr algn="l" indent="0" marL="0">
              <a:buNone/>
            </a:pPr>
            <a:r>
              <a:rPr lang="en-US" sz="1800" dirty="0">
                <a:solidFill>
                  <a:srgbClr val="667EEA"/>
                </a:solidFill>
                <a:latin typeface="Arial" pitchFamily="34" charset="0"/>
                <a:ea typeface="Arial" pitchFamily="34" charset="-122"/>
                <a:cs typeface="Arial" pitchFamily="34" charset="-120"/>
              </a:rPr>
              <a:t>IndyDevDan's Philosophy &amp; Technical Comparison</a:t>
            </a:r>
            <a:endParaRPr lang="en-US" sz="1800" dirty="0"/>
          </a:p>
        </p:txBody>
      </p:sp>
      <p:sp>
        <p:nvSpPr>
          <p:cNvPr id="9" name="Text 7"/>
          <p:cNvSpPr/>
          <p:nvPr/>
        </p:nvSpPr>
        <p:spPr>
          <a:xfrm>
            <a:off x="5168801" y="76200"/>
            <a:ext cx="3975199" cy="5067300"/>
          </a:xfrm>
          <a:prstGeom prst="rect">
            <a:avLst/>
          </a:prstGeom>
          <a:solidFill>
            <a:srgbClr val="FFFFFF"/>
          </a:solidFill>
          <a:ln/>
        </p:spPr>
        <p:txBody>
          <a:bodyPr wrap="square" rtlCol="0" anchor="ctr"/>
          <a:lstStyle/>
          <a:p>
            <a:pPr indent="0" marL="0">
              <a:buNone/>
            </a:pPr>
            <a:endParaRPr lang="en-US" dirty="0"/>
          </a:p>
        </p:txBody>
      </p:sp>
      <p:sp>
        <p:nvSpPr>
          <p:cNvPr id="10" name="Text 8"/>
          <p:cNvSpPr/>
          <p:nvPr/>
        </p:nvSpPr>
        <p:spPr>
          <a:xfrm>
            <a:off x="5676751" y="1511350"/>
            <a:ext cx="3018484" cy="171450"/>
          </a:xfrm>
          <a:prstGeom prst="rect">
            <a:avLst/>
          </a:prstGeom>
          <a:noFill/>
          <a:ln/>
        </p:spPr>
        <p:txBody>
          <a:bodyPr wrap="square" lIns="0" tIns="0" rIns="0" bIns="0" rtlCol="0" anchor="t"/>
          <a:lstStyle/>
          <a:p>
            <a:pPr algn="l" indent="0" marL="0">
              <a:spcAft>
                <a:spcPts val="1000"/>
              </a:spcAft>
              <a:buNone/>
            </a:pPr>
            <a:r>
              <a:rPr lang="en-US" sz="1200" dirty="0">
                <a:solidFill>
                  <a:srgbClr val="555555"/>
                </a:solidFill>
                <a:latin typeface="Arial" pitchFamily="34" charset="0"/>
                <a:ea typeface="Arial" pitchFamily="34" charset="-122"/>
                <a:cs typeface="Arial" pitchFamily="34" charset="-120"/>
              </a:rPr>
              <a:t>Key Metrics Covered</a:t>
            </a:r>
            <a:endParaRPr lang="en-US" sz="1200" dirty="0"/>
          </a:p>
        </p:txBody>
      </p:sp>
      <p:sp>
        <p:nvSpPr>
          <p:cNvPr id="11" name="Text 9"/>
          <p:cNvSpPr/>
          <p:nvPr/>
        </p:nvSpPr>
        <p:spPr>
          <a:xfrm>
            <a:off x="5669636" y="2190750"/>
            <a:ext cx="725778" cy="409575"/>
          </a:xfrm>
          <a:prstGeom prst="rect">
            <a:avLst/>
          </a:prstGeom>
          <a:noFill/>
          <a:ln/>
        </p:spPr>
        <p:txBody>
          <a:bodyPr wrap="square" lIns="0" tIns="0" rIns="0" bIns="0" rtlCol="0" anchor="t"/>
          <a:lstStyle/>
          <a:p>
            <a:pPr algn="ctr" indent="0" marL="0">
              <a:buNone/>
            </a:pPr>
            <a:r>
              <a:rPr lang="en-US" sz="2800" b="1" dirty="0">
                <a:solidFill>
                  <a:srgbClr val="667EEA"/>
                </a:solidFill>
                <a:latin typeface="Arial" pitchFamily="34" charset="0"/>
                <a:ea typeface="Arial" pitchFamily="34" charset="-122"/>
                <a:cs typeface="Arial" pitchFamily="34" charset="-120"/>
              </a:rPr>
              <a:t>3</a:t>
            </a:r>
            <a:endParaRPr lang="en-US" sz="2800" dirty="0"/>
          </a:p>
        </p:txBody>
      </p:sp>
      <p:sp>
        <p:nvSpPr>
          <p:cNvPr id="12" name="Text 10"/>
          <p:cNvSpPr/>
          <p:nvPr/>
        </p:nvSpPr>
        <p:spPr>
          <a:xfrm>
            <a:off x="5669636" y="2663726"/>
            <a:ext cx="725778" cy="133350"/>
          </a:xfrm>
          <a:prstGeom prst="rect">
            <a:avLst/>
          </a:prstGeom>
          <a:noFill/>
          <a:ln/>
        </p:spPr>
        <p:txBody>
          <a:bodyPr wrap="square" lIns="0" tIns="0" rIns="0" bIns="0" rtlCol="0" anchor="t"/>
          <a:lstStyle/>
          <a:p>
            <a:pPr algn="ctr" indent="0" marL="0">
              <a:spcBef>
                <a:spcPts val="500"/>
              </a:spcBef>
              <a:buNone/>
            </a:pPr>
            <a:r>
              <a:rPr lang="en-US" sz="900" dirty="0">
                <a:solidFill>
                  <a:srgbClr val="888888"/>
                </a:solidFill>
                <a:latin typeface="Arial" pitchFamily="34" charset="0"/>
                <a:ea typeface="Arial" pitchFamily="34" charset="-122"/>
                <a:cs typeface="Arial" pitchFamily="34" charset="-120"/>
              </a:rPr>
              <a:t>LANGUAGES</a:t>
            </a:r>
            <a:endParaRPr lang="en-US" sz="900" dirty="0"/>
          </a:p>
        </p:txBody>
      </p:sp>
      <p:sp>
        <p:nvSpPr>
          <p:cNvPr id="13" name="Text 11"/>
          <p:cNvSpPr/>
          <p:nvPr/>
        </p:nvSpPr>
        <p:spPr>
          <a:xfrm>
            <a:off x="6632746" y="2190750"/>
            <a:ext cx="964263" cy="409575"/>
          </a:xfrm>
          <a:prstGeom prst="rect">
            <a:avLst/>
          </a:prstGeom>
          <a:noFill/>
          <a:ln/>
        </p:spPr>
        <p:txBody>
          <a:bodyPr wrap="square" lIns="0" tIns="0" rIns="0" bIns="0" rtlCol="0" anchor="t"/>
          <a:lstStyle/>
          <a:p>
            <a:pPr algn="ctr" indent="0" marL="0">
              <a:buNone/>
            </a:pPr>
            <a:r>
              <a:rPr lang="en-US" sz="2800" b="1" dirty="0">
                <a:solidFill>
                  <a:srgbClr val="667EEA"/>
                </a:solidFill>
                <a:latin typeface="Arial" pitchFamily="34" charset="0"/>
                <a:ea typeface="Arial" pitchFamily="34" charset="-122"/>
                <a:cs typeface="Arial" pitchFamily="34" charset="-120"/>
              </a:rPr>
              <a:t>5+</a:t>
            </a:r>
            <a:endParaRPr lang="en-US" sz="2800" dirty="0"/>
          </a:p>
        </p:txBody>
      </p:sp>
      <p:sp>
        <p:nvSpPr>
          <p:cNvPr id="14" name="Text 12"/>
          <p:cNvSpPr/>
          <p:nvPr/>
        </p:nvSpPr>
        <p:spPr>
          <a:xfrm>
            <a:off x="6632746" y="2663726"/>
            <a:ext cx="964263" cy="266700"/>
          </a:xfrm>
          <a:prstGeom prst="rect">
            <a:avLst/>
          </a:prstGeom>
          <a:noFill/>
          <a:ln/>
        </p:spPr>
        <p:txBody>
          <a:bodyPr wrap="square" lIns="0" tIns="0" rIns="0" bIns="0" rtlCol="0" anchor="t"/>
          <a:lstStyle/>
          <a:p>
            <a:pPr algn="ctr" indent="0" marL="0">
              <a:spcBef>
                <a:spcPts val="500"/>
              </a:spcBef>
              <a:buNone/>
            </a:pPr>
            <a:r>
              <a:rPr lang="en-US" sz="900" dirty="0">
                <a:solidFill>
                  <a:srgbClr val="888888"/>
                </a:solidFill>
                <a:latin typeface="Arial" pitchFamily="34" charset="0"/>
                <a:ea typeface="Arial" pitchFamily="34" charset="-122"/>
                <a:cs typeface="Arial" pitchFamily="34" charset="-120"/>
              </a:rPr>
              <a:t>MCPs COMPARED</a:t>
            </a:r>
            <a:endParaRPr lang="en-US" sz="900" dirty="0"/>
          </a:p>
        </p:txBody>
      </p:sp>
      <p:sp>
        <p:nvSpPr>
          <p:cNvPr id="15" name="Text 13"/>
          <p:cNvSpPr/>
          <p:nvPr/>
        </p:nvSpPr>
        <p:spPr>
          <a:xfrm>
            <a:off x="7833510" y="2190750"/>
            <a:ext cx="810485" cy="409575"/>
          </a:xfrm>
          <a:prstGeom prst="rect">
            <a:avLst/>
          </a:prstGeom>
          <a:noFill/>
          <a:ln/>
        </p:spPr>
        <p:txBody>
          <a:bodyPr wrap="square" lIns="0" tIns="0" rIns="0" bIns="0" rtlCol="0" anchor="t"/>
          <a:lstStyle/>
          <a:p>
            <a:pPr algn="ctr" indent="0" marL="0">
              <a:buNone/>
            </a:pPr>
            <a:r>
              <a:rPr lang="en-US" sz="2800" b="1" dirty="0">
                <a:solidFill>
                  <a:srgbClr val="667EEA"/>
                </a:solidFill>
                <a:latin typeface="Arial" pitchFamily="34" charset="0"/>
                <a:ea typeface="Arial" pitchFamily="34" charset="-122"/>
                <a:cs typeface="Arial" pitchFamily="34" charset="-120"/>
              </a:rPr>
              <a:t>14</a:t>
            </a:r>
            <a:endParaRPr lang="en-US" sz="2800" dirty="0"/>
          </a:p>
        </p:txBody>
      </p:sp>
      <p:sp>
        <p:nvSpPr>
          <p:cNvPr id="16" name="Text 14"/>
          <p:cNvSpPr/>
          <p:nvPr/>
        </p:nvSpPr>
        <p:spPr>
          <a:xfrm>
            <a:off x="7833510" y="2663726"/>
            <a:ext cx="810485" cy="266700"/>
          </a:xfrm>
          <a:prstGeom prst="rect">
            <a:avLst/>
          </a:prstGeom>
          <a:noFill/>
          <a:ln/>
        </p:spPr>
        <p:txBody>
          <a:bodyPr wrap="square" lIns="0" tIns="0" rIns="0" bIns="0" rtlCol="0" anchor="t"/>
          <a:lstStyle/>
          <a:p>
            <a:pPr algn="ctr" indent="0" marL="0">
              <a:spcBef>
                <a:spcPts val="500"/>
              </a:spcBef>
              <a:buNone/>
            </a:pPr>
            <a:r>
              <a:rPr lang="en-US" sz="900" dirty="0">
                <a:solidFill>
                  <a:srgbClr val="888888"/>
                </a:solidFill>
                <a:latin typeface="Arial" pitchFamily="34" charset="0"/>
                <a:ea typeface="Arial" pitchFamily="34" charset="-122"/>
                <a:cs typeface="Arial" pitchFamily="34" charset="-120"/>
              </a:rPr>
              <a:t>TAC EPISODES</a:t>
            </a:r>
            <a:endParaRPr lang="en-US" sz="900" dirty="0"/>
          </a:p>
        </p:txBody>
      </p:sp>
      <p:sp>
        <p:nvSpPr>
          <p:cNvPr id="17" name="Text 15"/>
          <p:cNvSpPr/>
          <p:nvPr/>
        </p:nvSpPr>
        <p:spPr>
          <a:xfrm>
            <a:off x="5676751" y="3438376"/>
            <a:ext cx="3018484" cy="142875"/>
          </a:xfrm>
          <a:prstGeom prst="rect">
            <a:avLst/>
          </a:prstGeom>
          <a:noFill/>
          <a:ln/>
        </p:spPr>
        <p:txBody>
          <a:bodyPr wrap="square" lIns="0" tIns="0" rIns="0" bIns="0" rtlCol="0" anchor="t"/>
          <a:lstStyle/>
          <a:p>
            <a:pPr algn="l" indent="0" marL="0">
              <a:spcBef>
                <a:spcPts val="4000"/>
              </a:spcBef>
              <a:spcAft>
                <a:spcPts val="1000"/>
              </a:spcAft>
              <a:buNone/>
            </a:pPr>
            <a:r>
              <a:rPr lang="en-US" sz="1000" dirty="0">
                <a:solidFill>
                  <a:srgbClr val="AAAAAA"/>
                </a:solidFill>
                <a:latin typeface="Arial" pitchFamily="34" charset="0"/>
                <a:ea typeface="Arial" pitchFamily="34" charset="-122"/>
                <a:cs typeface="Arial" pitchFamily="34" charset="-120"/>
              </a:rPr>
              <a:t>An Objective Analysis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19125"/>
          </a:xfrm>
          <a:prstGeom prst="rect">
            <a:avLst/>
          </a:prstGeom>
          <a:solidFill>
            <a:srgbClr val="F0F4FF"/>
          </a:solidFill>
          <a:ln/>
        </p:spPr>
        <p:txBody>
          <a:bodyPr wrap="square" rtlCol="0" anchor="ctr"/>
          <a:lstStyle/>
          <a:p>
            <a:pPr indent="0" marL="0">
              <a:buNone/>
            </a:pPr>
            <a:endParaRPr lang="en-US" dirty="0"/>
          </a:p>
        </p:txBody>
      </p:sp>
      <p:sp>
        <p:nvSpPr>
          <p:cNvPr id="3" name="Shape 1"/>
          <p:cNvSpPr/>
          <p:nvPr/>
        </p:nvSpPr>
        <p:spPr>
          <a:xfrm>
            <a:off x="0" y="609600"/>
            <a:ext cx="9144000" cy="0"/>
          </a:xfrm>
          <a:prstGeom prst="line">
            <a:avLst/>
          </a:prstGeom>
          <a:noFill/>
          <a:ln w="19050">
            <a:solidFill>
              <a:srgbClr val="667EEA"/>
            </a:solidFill>
            <a:prstDash val="solid"/>
          </a:ln>
        </p:spPr>
      </p:sp>
      <p:sp>
        <p:nvSpPr>
          <p:cNvPr id="4" name="Text 2"/>
          <p:cNvSpPr/>
          <p:nvPr/>
        </p:nvSpPr>
        <p:spPr>
          <a:xfrm>
            <a:off x="317450" y="152400"/>
            <a:ext cx="3832613" cy="295275"/>
          </a:xfrm>
          <a:prstGeom prst="rect">
            <a:avLst/>
          </a:prstGeom>
          <a:noFill/>
          <a:ln/>
        </p:spPr>
        <p:txBody>
          <a:bodyPr wrap="square" lIns="0" tIns="0" rIns="0" bIns="0" rtlCol="0" anchor="t"/>
          <a:lstStyle/>
          <a:p>
            <a:pPr algn="l" indent="0" marL="0">
              <a:buNone/>
            </a:pPr>
            <a:r>
              <a:rPr lang="en-US" sz="2000" b="1" dirty="0">
                <a:solidFill>
                  <a:srgbClr val="1A1A2E"/>
                </a:solidFill>
                <a:latin typeface="Arial" pitchFamily="34" charset="0"/>
                <a:ea typeface="Arial" pitchFamily="34" charset="-122"/>
                <a:cs typeface="Arial" pitchFamily="34" charset="-120"/>
              </a:rPr>
              <a:t>IndyDevDan's Core Philosophy</a:t>
            </a:r>
            <a:endParaRPr lang="en-US" sz="2000" dirty="0"/>
          </a:p>
        </p:txBody>
      </p:sp>
      <p:sp>
        <p:nvSpPr>
          <p:cNvPr id="5" name="Text 3"/>
          <p:cNvSpPr/>
          <p:nvPr/>
        </p:nvSpPr>
        <p:spPr>
          <a:xfrm>
            <a:off x="7901434" y="182612"/>
            <a:ext cx="925116" cy="234851"/>
          </a:xfrm>
          <a:prstGeom prst="roundRect">
            <a:avLst>
              <a:gd name="adj" fmla="val 81115"/>
            </a:avLst>
          </a:prstGeom>
          <a:solidFill>
            <a:srgbClr val="667EEA"/>
          </a:solidFill>
          <a:ln/>
        </p:spPr>
        <p:txBody>
          <a:bodyPr wrap="square" rtlCol="0" anchor="ctr"/>
          <a:lstStyle/>
          <a:p>
            <a:pPr indent="0" marL="0">
              <a:buNone/>
            </a:pPr>
            <a:endParaRPr lang="en-US" dirty="0"/>
          </a:p>
        </p:txBody>
      </p:sp>
      <p:sp>
        <p:nvSpPr>
          <p:cNvPr id="6" name="Text 4"/>
          <p:cNvSpPr/>
          <p:nvPr/>
        </p:nvSpPr>
        <p:spPr>
          <a:xfrm>
            <a:off x="8028384" y="233362"/>
            <a:ext cx="684639" cy="133350"/>
          </a:xfrm>
          <a:prstGeom prst="rect">
            <a:avLst/>
          </a:prstGeom>
          <a:noFill/>
          <a:ln/>
        </p:spPr>
        <p:txBody>
          <a:bodyPr wrap="square" lIns="0" tIns="0" rIns="0" bIns="0" rtlCol="0" anchor="t"/>
          <a:lstStyle/>
          <a:p>
            <a:pPr algn="l" indent="0" marL="0">
              <a:buNone/>
            </a:pPr>
            <a:r>
              <a:rPr lang="en-US" sz="900" dirty="0">
                <a:solidFill>
                  <a:srgbClr val="FFFFFF"/>
                </a:solidFill>
                <a:latin typeface="Arial" pitchFamily="34" charset="0"/>
                <a:ea typeface="Arial" pitchFamily="34" charset="-122"/>
                <a:cs typeface="Arial" pitchFamily="34" charset="-120"/>
              </a:rPr>
              <a:t>TAC SERIES</a:t>
            </a:r>
            <a:endParaRPr lang="en-US" sz="900" dirty="0"/>
          </a:p>
        </p:txBody>
      </p:sp>
      <p:sp>
        <p:nvSpPr>
          <p:cNvPr id="7" name="Text 5"/>
          <p:cNvSpPr/>
          <p:nvPr/>
        </p:nvSpPr>
        <p:spPr>
          <a:xfrm>
            <a:off x="317450" y="809625"/>
            <a:ext cx="4739729" cy="609451"/>
          </a:xfrm>
          <a:prstGeom prst="roundRect">
            <a:avLst>
              <a:gd name="adj" fmla="val 12503"/>
            </a:avLst>
          </a:prstGeom>
          <a:solidFill>
            <a:srgbClr val="FAFBFF"/>
          </a:solidFill>
          <a:ln/>
        </p:spPr>
        <p:txBody>
          <a:bodyPr wrap="square" rtlCol="0" anchor="ctr"/>
          <a:lstStyle/>
          <a:p>
            <a:pPr indent="0" marL="0">
              <a:buNone/>
            </a:pPr>
            <a:endParaRPr lang="en-US" dirty="0"/>
          </a:p>
        </p:txBody>
      </p:sp>
      <p:sp>
        <p:nvSpPr>
          <p:cNvPr id="8" name="Shape 6"/>
          <p:cNvSpPr/>
          <p:nvPr/>
        </p:nvSpPr>
        <p:spPr>
          <a:xfrm>
            <a:off x="317450" y="814388"/>
            <a:ext cx="4739729" cy="0"/>
          </a:xfrm>
          <a:prstGeom prst="line">
            <a:avLst/>
          </a:prstGeom>
          <a:noFill/>
          <a:ln w="9525">
            <a:solidFill>
              <a:srgbClr val="E0E5F0"/>
            </a:solidFill>
            <a:prstDash val="solid"/>
          </a:ln>
        </p:spPr>
      </p:sp>
      <p:sp>
        <p:nvSpPr>
          <p:cNvPr id="9" name="Shape 7"/>
          <p:cNvSpPr/>
          <p:nvPr/>
        </p:nvSpPr>
        <p:spPr>
          <a:xfrm>
            <a:off x="5052417" y="809625"/>
            <a:ext cx="0" cy="609451"/>
          </a:xfrm>
          <a:prstGeom prst="line">
            <a:avLst/>
          </a:prstGeom>
          <a:noFill/>
          <a:ln w="9525">
            <a:solidFill>
              <a:srgbClr val="E0E5F0"/>
            </a:solidFill>
            <a:prstDash val="solid"/>
          </a:ln>
        </p:spPr>
      </p:sp>
      <p:sp>
        <p:nvSpPr>
          <p:cNvPr id="10" name="Shape 8"/>
          <p:cNvSpPr/>
          <p:nvPr/>
        </p:nvSpPr>
        <p:spPr>
          <a:xfrm>
            <a:off x="317450" y="1414314"/>
            <a:ext cx="4739729" cy="0"/>
          </a:xfrm>
          <a:prstGeom prst="line">
            <a:avLst/>
          </a:prstGeom>
          <a:noFill/>
          <a:ln w="9525">
            <a:solidFill>
              <a:srgbClr val="E0E5F0"/>
            </a:solidFill>
            <a:prstDash val="solid"/>
          </a:ln>
        </p:spPr>
      </p:sp>
      <p:sp>
        <p:nvSpPr>
          <p:cNvPr id="11" name="Shape 9"/>
          <p:cNvSpPr/>
          <p:nvPr/>
        </p:nvSpPr>
        <p:spPr>
          <a:xfrm>
            <a:off x="341263" y="809625"/>
            <a:ext cx="0" cy="609451"/>
          </a:xfrm>
          <a:prstGeom prst="line">
            <a:avLst/>
          </a:prstGeom>
          <a:noFill/>
          <a:ln w="47625">
            <a:solidFill>
              <a:srgbClr val="667EEA"/>
            </a:solidFill>
            <a:prstDash val="solid"/>
          </a:ln>
        </p:spPr>
      </p:sp>
      <p:sp>
        <p:nvSpPr>
          <p:cNvPr id="12" name="Text 10"/>
          <p:cNvSpPr/>
          <p:nvPr/>
        </p:nvSpPr>
        <p:spPr>
          <a:xfrm>
            <a:off x="517475" y="946100"/>
            <a:ext cx="4465335" cy="152400"/>
          </a:xfrm>
          <a:prstGeom prst="rect">
            <a:avLst/>
          </a:prstGeom>
          <a:noFill/>
          <a:ln/>
        </p:spPr>
        <p:txBody>
          <a:bodyPr wrap="square" lIns="0" tIns="0" rIns="0" bIns="0" rtlCol="0" anchor="t"/>
          <a:lstStyle/>
          <a:p>
            <a:pPr algn="l" indent="0" marL="0">
              <a:spcAft>
                <a:spcPts val="400"/>
              </a:spcAft>
              <a:buNone/>
            </a:pPr>
            <a:r>
              <a:rPr lang="en-US" sz="1100" b="1" dirty="0">
                <a:solidFill>
                  <a:srgbClr val="1A1A2E"/>
                </a:solidFill>
                <a:latin typeface="Arial" pitchFamily="34" charset="0"/>
                <a:ea typeface="Arial" pitchFamily="34" charset="-122"/>
                <a:cs typeface="Arial" pitchFamily="34" charset="-120"/>
              </a:rPr>
              <a:t>Build Systems That Build Systems</a:t>
            </a:r>
            <a:endParaRPr lang="en-US" sz="1100" dirty="0"/>
          </a:p>
        </p:txBody>
      </p:sp>
      <p:sp>
        <p:nvSpPr>
          <p:cNvPr id="13" name="Text 11"/>
          <p:cNvSpPr/>
          <p:nvPr/>
        </p:nvSpPr>
        <p:spPr>
          <a:xfrm>
            <a:off x="517475" y="1149251"/>
            <a:ext cx="4465335" cy="133350"/>
          </a:xfrm>
          <a:prstGeom prst="rect">
            <a:avLst/>
          </a:prstGeom>
          <a:noFill/>
          <a:ln/>
        </p:spPr>
        <p:txBody>
          <a:bodyPr wrap="square" lIns="0" tIns="0" rIns="0" bIns="0" rtlCol="0" anchor="t"/>
          <a:lstStyle/>
          <a:p>
            <a:pPr algn="l" indent="0" marL="0">
              <a:buNone/>
            </a:pPr>
            <a:r>
              <a:rPr lang="en-US" sz="900" dirty="0">
                <a:solidFill>
                  <a:srgbClr val="666666"/>
                </a:solidFill>
                <a:latin typeface="Arial" pitchFamily="34" charset="0"/>
                <a:ea typeface="Arial" pitchFamily="34" charset="-122"/>
                <a:cs typeface="Arial" pitchFamily="34" charset="-120"/>
              </a:rPr>
              <a:t>The fundamental philosophy of agentic engineering</a:t>
            </a:r>
            <a:endParaRPr lang="en-US" sz="900" dirty="0"/>
          </a:p>
        </p:txBody>
      </p:sp>
      <p:sp>
        <p:nvSpPr>
          <p:cNvPr id="14" name="Text 12"/>
          <p:cNvSpPr/>
          <p:nvPr/>
        </p:nvSpPr>
        <p:spPr>
          <a:xfrm>
            <a:off x="317450" y="1520577"/>
            <a:ext cx="4739729" cy="609451"/>
          </a:xfrm>
          <a:prstGeom prst="roundRect">
            <a:avLst>
              <a:gd name="adj" fmla="val 12503"/>
            </a:avLst>
          </a:prstGeom>
          <a:solidFill>
            <a:srgbClr val="FAFBFF"/>
          </a:solidFill>
          <a:ln/>
        </p:spPr>
        <p:txBody>
          <a:bodyPr wrap="square" rtlCol="0" anchor="ctr"/>
          <a:lstStyle/>
          <a:p>
            <a:pPr indent="0" marL="0">
              <a:buNone/>
            </a:pPr>
            <a:endParaRPr lang="en-US" dirty="0"/>
          </a:p>
        </p:txBody>
      </p:sp>
      <p:sp>
        <p:nvSpPr>
          <p:cNvPr id="15" name="Shape 13"/>
          <p:cNvSpPr/>
          <p:nvPr/>
        </p:nvSpPr>
        <p:spPr>
          <a:xfrm>
            <a:off x="317450" y="1525339"/>
            <a:ext cx="4739729" cy="0"/>
          </a:xfrm>
          <a:prstGeom prst="line">
            <a:avLst/>
          </a:prstGeom>
          <a:noFill/>
          <a:ln w="9525">
            <a:solidFill>
              <a:srgbClr val="E0E5F0"/>
            </a:solidFill>
            <a:prstDash val="solid"/>
          </a:ln>
        </p:spPr>
      </p:sp>
      <p:sp>
        <p:nvSpPr>
          <p:cNvPr id="16" name="Shape 14"/>
          <p:cNvSpPr/>
          <p:nvPr/>
        </p:nvSpPr>
        <p:spPr>
          <a:xfrm>
            <a:off x="5052417" y="1520577"/>
            <a:ext cx="0" cy="609451"/>
          </a:xfrm>
          <a:prstGeom prst="line">
            <a:avLst/>
          </a:prstGeom>
          <a:noFill/>
          <a:ln w="9525">
            <a:solidFill>
              <a:srgbClr val="E0E5F0"/>
            </a:solidFill>
            <a:prstDash val="solid"/>
          </a:ln>
        </p:spPr>
      </p:sp>
      <p:sp>
        <p:nvSpPr>
          <p:cNvPr id="17" name="Shape 15"/>
          <p:cNvSpPr/>
          <p:nvPr/>
        </p:nvSpPr>
        <p:spPr>
          <a:xfrm>
            <a:off x="317450" y="2125266"/>
            <a:ext cx="4739729" cy="0"/>
          </a:xfrm>
          <a:prstGeom prst="line">
            <a:avLst/>
          </a:prstGeom>
          <a:noFill/>
          <a:ln w="9525">
            <a:solidFill>
              <a:srgbClr val="E0E5F0"/>
            </a:solidFill>
            <a:prstDash val="solid"/>
          </a:ln>
        </p:spPr>
      </p:sp>
      <p:sp>
        <p:nvSpPr>
          <p:cNvPr id="18" name="Shape 16"/>
          <p:cNvSpPr/>
          <p:nvPr/>
        </p:nvSpPr>
        <p:spPr>
          <a:xfrm>
            <a:off x="341263" y="1520577"/>
            <a:ext cx="0" cy="609451"/>
          </a:xfrm>
          <a:prstGeom prst="line">
            <a:avLst/>
          </a:prstGeom>
          <a:noFill/>
          <a:ln w="47625">
            <a:solidFill>
              <a:srgbClr val="667EEA"/>
            </a:solidFill>
            <a:prstDash val="solid"/>
          </a:ln>
        </p:spPr>
      </p:sp>
      <p:sp>
        <p:nvSpPr>
          <p:cNvPr id="19" name="Text 17"/>
          <p:cNvSpPr/>
          <p:nvPr/>
        </p:nvSpPr>
        <p:spPr>
          <a:xfrm>
            <a:off x="517475" y="1657052"/>
            <a:ext cx="4465335" cy="152400"/>
          </a:xfrm>
          <a:prstGeom prst="rect">
            <a:avLst/>
          </a:prstGeom>
          <a:noFill/>
          <a:ln/>
        </p:spPr>
        <p:txBody>
          <a:bodyPr wrap="square" lIns="0" tIns="0" rIns="0" bIns="0" rtlCol="0" anchor="t"/>
          <a:lstStyle/>
          <a:p>
            <a:pPr algn="l" indent="0" marL="0">
              <a:spcAft>
                <a:spcPts val="400"/>
              </a:spcAft>
              <a:buNone/>
            </a:pPr>
            <a:r>
              <a:rPr lang="en-US" sz="1100" b="1" dirty="0">
                <a:solidFill>
                  <a:srgbClr val="1A1A2E"/>
                </a:solidFill>
                <a:latin typeface="Arial" pitchFamily="34" charset="0"/>
                <a:ea typeface="Arial" pitchFamily="34" charset="-122"/>
                <a:cs typeface="Arial" pitchFamily="34" charset="-120"/>
              </a:rPr>
              <a:t>One Agent, One Prompt, One Purpose</a:t>
            </a:r>
            <a:endParaRPr lang="en-US" sz="1100" dirty="0"/>
          </a:p>
        </p:txBody>
      </p:sp>
      <p:sp>
        <p:nvSpPr>
          <p:cNvPr id="20" name="Text 18"/>
          <p:cNvSpPr/>
          <p:nvPr/>
        </p:nvSpPr>
        <p:spPr>
          <a:xfrm>
            <a:off x="517475" y="1860203"/>
            <a:ext cx="4465335" cy="133350"/>
          </a:xfrm>
          <a:prstGeom prst="rect">
            <a:avLst/>
          </a:prstGeom>
          <a:noFill/>
          <a:ln/>
        </p:spPr>
        <p:txBody>
          <a:bodyPr wrap="square" lIns="0" tIns="0" rIns="0" bIns="0" rtlCol="0" anchor="t"/>
          <a:lstStyle/>
          <a:p>
            <a:pPr algn="l" indent="0" marL="0">
              <a:buNone/>
            </a:pPr>
            <a:r>
              <a:rPr lang="en-US" sz="900" dirty="0">
                <a:solidFill>
                  <a:srgbClr val="666666"/>
                </a:solidFill>
                <a:latin typeface="Arial" pitchFamily="34" charset="0"/>
                <a:ea typeface="Arial" pitchFamily="34" charset="-122"/>
                <a:cs typeface="Arial" pitchFamily="34" charset="-120"/>
              </a:rPr>
              <a:t>Specialized agents bypass 2/3 of model limitations</a:t>
            </a:r>
            <a:endParaRPr lang="en-US" sz="900" dirty="0"/>
          </a:p>
        </p:txBody>
      </p:sp>
      <p:sp>
        <p:nvSpPr>
          <p:cNvPr id="21" name="Text 19"/>
          <p:cNvSpPr/>
          <p:nvPr/>
        </p:nvSpPr>
        <p:spPr>
          <a:xfrm>
            <a:off x="317450" y="2231529"/>
            <a:ext cx="4739729" cy="609451"/>
          </a:xfrm>
          <a:prstGeom prst="roundRect">
            <a:avLst>
              <a:gd name="adj" fmla="val 12503"/>
            </a:avLst>
          </a:prstGeom>
          <a:solidFill>
            <a:srgbClr val="FAFBFF"/>
          </a:solidFill>
          <a:ln/>
        </p:spPr>
        <p:txBody>
          <a:bodyPr wrap="square" rtlCol="0" anchor="ctr"/>
          <a:lstStyle/>
          <a:p>
            <a:pPr indent="0" marL="0">
              <a:buNone/>
            </a:pPr>
            <a:endParaRPr lang="en-US" dirty="0"/>
          </a:p>
        </p:txBody>
      </p:sp>
      <p:sp>
        <p:nvSpPr>
          <p:cNvPr id="22" name="Shape 20"/>
          <p:cNvSpPr/>
          <p:nvPr/>
        </p:nvSpPr>
        <p:spPr>
          <a:xfrm>
            <a:off x="317450" y="2236291"/>
            <a:ext cx="4739729" cy="0"/>
          </a:xfrm>
          <a:prstGeom prst="line">
            <a:avLst/>
          </a:prstGeom>
          <a:noFill/>
          <a:ln w="9525">
            <a:solidFill>
              <a:srgbClr val="E0E5F0"/>
            </a:solidFill>
            <a:prstDash val="solid"/>
          </a:ln>
        </p:spPr>
      </p:sp>
      <p:sp>
        <p:nvSpPr>
          <p:cNvPr id="23" name="Shape 21"/>
          <p:cNvSpPr/>
          <p:nvPr/>
        </p:nvSpPr>
        <p:spPr>
          <a:xfrm>
            <a:off x="5052417" y="2231529"/>
            <a:ext cx="0" cy="609451"/>
          </a:xfrm>
          <a:prstGeom prst="line">
            <a:avLst/>
          </a:prstGeom>
          <a:noFill/>
          <a:ln w="9525">
            <a:solidFill>
              <a:srgbClr val="E0E5F0"/>
            </a:solidFill>
            <a:prstDash val="solid"/>
          </a:ln>
        </p:spPr>
      </p:sp>
      <p:sp>
        <p:nvSpPr>
          <p:cNvPr id="24" name="Shape 22"/>
          <p:cNvSpPr/>
          <p:nvPr/>
        </p:nvSpPr>
        <p:spPr>
          <a:xfrm>
            <a:off x="317450" y="2836218"/>
            <a:ext cx="4739729" cy="0"/>
          </a:xfrm>
          <a:prstGeom prst="line">
            <a:avLst/>
          </a:prstGeom>
          <a:noFill/>
          <a:ln w="9525">
            <a:solidFill>
              <a:srgbClr val="E0E5F0"/>
            </a:solidFill>
            <a:prstDash val="solid"/>
          </a:ln>
        </p:spPr>
      </p:sp>
      <p:sp>
        <p:nvSpPr>
          <p:cNvPr id="25" name="Shape 23"/>
          <p:cNvSpPr/>
          <p:nvPr/>
        </p:nvSpPr>
        <p:spPr>
          <a:xfrm>
            <a:off x="341263" y="2231529"/>
            <a:ext cx="0" cy="609451"/>
          </a:xfrm>
          <a:prstGeom prst="line">
            <a:avLst/>
          </a:prstGeom>
          <a:noFill/>
          <a:ln w="47625">
            <a:solidFill>
              <a:srgbClr val="667EEA"/>
            </a:solidFill>
            <a:prstDash val="solid"/>
          </a:ln>
        </p:spPr>
      </p:sp>
      <p:sp>
        <p:nvSpPr>
          <p:cNvPr id="26" name="Text 24"/>
          <p:cNvSpPr/>
          <p:nvPr/>
        </p:nvSpPr>
        <p:spPr>
          <a:xfrm>
            <a:off x="517475" y="2368004"/>
            <a:ext cx="4465335" cy="152400"/>
          </a:xfrm>
          <a:prstGeom prst="rect">
            <a:avLst/>
          </a:prstGeom>
          <a:noFill/>
          <a:ln/>
        </p:spPr>
        <p:txBody>
          <a:bodyPr wrap="square" lIns="0" tIns="0" rIns="0" bIns="0" rtlCol="0" anchor="t"/>
          <a:lstStyle/>
          <a:p>
            <a:pPr algn="l" indent="0" marL="0">
              <a:spcAft>
                <a:spcPts val="400"/>
              </a:spcAft>
              <a:buNone/>
            </a:pPr>
            <a:r>
              <a:rPr lang="en-US" sz="1100" b="1" dirty="0">
                <a:solidFill>
                  <a:srgbClr val="1A1A2E"/>
                </a:solidFill>
                <a:latin typeface="Arial" pitchFamily="34" charset="0"/>
                <a:ea typeface="Arial" pitchFamily="34" charset="-122"/>
                <a:cs typeface="Arial" pitchFamily="34" charset="-120"/>
              </a:rPr>
              <a:t>Core Four Framework</a:t>
            </a:r>
            <a:endParaRPr lang="en-US" sz="1100" dirty="0"/>
          </a:p>
        </p:txBody>
      </p:sp>
      <p:sp>
        <p:nvSpPr>
          <p:cNvPr id="27" name="Text 25"/>
          <p:cNvSpPr/>
          <p:nvPr/>
        </p:nvSpPr>
        <p:spPr>
          <a:xfrm>
            <a:off x="517475" y="2571155"/>
            <a:ext cx="4465335" cy="133350"/>
          </a:xfrm>
          <a:prstGeom prst="rect">
            <a:avLst/>
          </a:prstGeom>
          <a:noFill/>
          <a:ln/>
        </p:spPr>
        <p:txBody>
          <a:bodyPr wrap="square" lIns="0" tIns="0" rIns="0" bIns="0" rtlCol="0" anchor="t"/>
          <a:lstStyle/>
          <a:p>
            <a:pPr algn="l" indent="0" marL="0">
              <a:buNone/>
            </a:pPr>
            <a:r>
              <a:rPr lang="en-US" sz="900" dirty="0">
                <a:solidFill>
                  <a:srgbClr val="666666"/>
                </a:solidFill>
                <a:latin typeface="Arial" pitchFamily="34" charset="0"/>
                <a:ea typeface="Arial" pitchFamily="34" charset="-122"/>
                <a:cs typeface="Arial" pitchFamily="34" charset="-120"/>
              </a:rPr>
              <a:t>Context + Model + Prompt + Tools = Everything needed</a:t>
            </a:r>
            <a:endParaRPr lang="en-US" sz="900" dirty="0"/>
          </a:p>
        </p:txBody>
      </p:sp>
      <p:sp>
        <p:nvSpPr>
          <p:cNvPr id="28" name="Text 26"/>
          <p:cNvSpPr/>
          <p:nvPr/>
        </p:nvSpPr>
        <p:spPr>
          <a:xfrm>
            <a:off x="317450" y="2942481"/>
            <a:ext cx="4739729" cy="609451"/>
          </a:xfrm>
          <a:prstGeom prst="roundRect">
            <a:avLst>
              <a:gd name="adj" fmla="val 12503"/>
            </a:avLst>
          </a:prstGeom>
          <a:solidFill>
            <a:srgbClr val="FAFBFF"/>
          </a:solidFill>
          <a:ln/>
        </p:spPr>
        <p:txBody>
          <a:bodyPr wrap="square" rtlCol="0" anchor="ctr"/>
          <a:lstStyle/>
          <a:p>
            <a:pPr indent="0" marL="0">
              <a:buNone/>
            </a:pPr>
            <a:endParaRPr lang="en-US" dirty="0"/>
          </a:p>
        </p:txBody>
      </p:sp>
      <p:sp>
        <p:nvSpPr>
          <p:cNvPr id="29" name="Shape 27"/>
          <p:cNvSpPr/>
          <p:nvPr/>
        </p:nvSpPr>
        <p:spPr>
          <a:xfrm>
            <a:off x="317450" y="2947243"/>
            <a:ext cx="4739729" cy="0"/>
          </a:xfrm>
          <a:prstGeom prst="line">
            <a:avLst/>
          </a:prstGeom>
          <a:noFill/>
          <a:ln w="9525">
            <a:solidFill>
              <a:srgbClr val="E0E5F0"/>
            </a:solidFill>
            <a:prstDash val="solid"/>
          </a:ln>
        </p:spPr>
      </p:sp>
      <p:sp>
        <p:nvSpPr>
          <p:cNvPr id="30" name="Shape 28"/>
          <p:cNvSpPr/>
          <p:nvPr/>
        </p:nvSpPr>
        <p:spPr>
          <a:xfrm>
            <a:off x="5052417" y="2942481"/>
            <a:ext cx="0" cy="609451"/>
          </a:xfrm>
          <a:prstGeom prst="line">
            <a:avLst/>
          </a:prstGeom>
          <a:noFill/>
          <a:ln w="9525">
            <a:solidFill>
              <a:srgbClr val="E0E5F0"/>
            </a:solidFill>
            <a:prstDash val="solid"/>
          </a:ln>
        </p:spPr>
      </p:sp>
      <p:sp>
        <p:nvSpPr>
          <p:cNvPr id="31" name="Shape 29"/>
          <p:cNvSpPr/>
          <p:nvPr/>
        </p:nvSpPr>
        <p:spPr>
          <a:xfrm>
            <a:off x="317450" y="3547170"/>
            <a:ext cx="4739729" cy="0"/>
          </a:xfrm>
          <a:prstGeom prst="line">
            <a:avLst/>
          </a:prstGeom>
          <a:noFill/>
          <a:ln w="9525">
            <a:solidFill>
              <a:srgbClr val="E0E5F0"/>
            </a:solidFill>
            <a:prstDash val="solid"/>
          </a:ln>
        </p:spPr>
      </p:sp>
      <p:sp>
        <p:nvSpPr>
          <p:cNvPr id="32" name="Shape 30"/>
          <p:cNvSpPr/>
          <p:nvPr/>
        </p:nvSpPr>
        <p:spPr>
          <a:xfrm>
            <a:off x="341263" y="2942481"/>
            <a:ext cx="0" cy="609451"/>
          </a:xfrm>
          <a:prstGeom prst="line">
            <a:avLst/>
          </a:prstGeom>
          <a:noFill/>
          <a:ln w="47625">
            <a:solidFill>
              <a:srgbClr val="667EEA"/>
            </a:solidFill>
            <a:prstDash val="solid"/>
          </a:ln>
        </p:spPr>
      </p:sp>
      <p:sp>
        <p:nvSpPr>
          <p:cNvPr id="33" name="Text 31"/>
          <p:cNvSpPr/>
          <p:nvPr/>
        </p:nvSpPr>
        <p:spPr>
          <a:xfrm>
            <a:off x="517475" y="3078956"/>
            <a:ext cx="4465335" cy="152400"/>
          </a:xfrm>
          <a:prstGeom prst="rect">
            <a:avLst/>
          </a:prstGeom>
          <a:noFill/>
          <a:ln/>
        </p:spPr>
        <p:txBody>
          <a:bodyPr wrap="square" lIns="0" tIns="0" rIns="0" bIns="0" rtlCol="0" anchor="t"/>
          <a:lstStyle/>
          <a:p>
            <a:pPr algn="l" indent="0" marL="0">
              <a:spcAft>
                <a:spcPts val="400"/>
              </a:spcAft>
              <a:buNone/>
            </a:pPr>
            <a:r>
              <a:rPr lang="en-US" sz="1100" b="1" dirty="0">
                <a:solidFill>
                  <a:srgbClr val="1A1A2E"/>
                </a:solidFill>
                <a:latin typeface="Arial" pitchFamily="34" charset="0"/>
                <a:ea typeface="Arial" pitchFamily="34" charset="-122"/>
                <a:cs typeface="Arial" pitchFamily="34" charset="-120"/>
              </a:rPr>
              <a:t>R&amp;D Framework: Reduce &amp; Delegate</a:t>
            </a:r>
            <a:endParaRPr lang="en-US" sz="1100" dirty="0"/>
          </a:p>
        </p:txBody>
      </p:sp>
      <p:sp>
        <p:nvSpPr>
          <p:cNvPr id="34" name="Text 32"/>
          <p:cNvSpPr/>
          <p:nvPr/>
        </p:nvSpPr>
        <p:spPr>
          <a:xfrm>
            <a:off x="517475" y="3282107"/>
            <a:ext cx="4465335" cy="133350"/>
          </a:xfrm>
          <a:prstGeom prst="rect">
            <a:avLst/>
          </a:prstGeom>
          <a:noFill/>
          <a:ln/>
        </p:spPr>
        <p:txBody>
          <a:bodyPr wrap="square" lIns="0" tIns="0" rIns="0" bIns="0" rtlCol="0" anchor="t"/>
          <a:lstStyle/>
          <a:p>
            <a:pPr algn="l" indent="0" marL="0">
              <a:buNone/>
            </a:pPr>
            <a:r>
              <a:rPr lang="en-US" sz="900" dirty="0">
                <a:solidFill>
                  <a:srgbClr val="666666"/>
                </a:solidFill>
                <a:latin typeface="Arial" pitchFamily="34" charset="0"/>
                <a:ea typeface="Arial" pitchFamily="34" charset="-122"/>
                <a:cs typeface="Arial" pitchFamily="34" charset="-120"/>
              </a:rPr>
              <a:t>Only 2 ways to manage context: minimize or delegate</a:t>
            </a:r>
            <a:endParaRPr lang="en-US" sz="900" dirty="0"/>
          </a:p>
        </p:txBody>
      </p:sp>
      <p:sp>
        <p:nvSpPr>
          <p:cNvPr id="35" name="Text 33"/>
          <p:cNvSpPr/>
          <p:nvPr/>
        </p:nvSpPr>
        <p:spPr>
          <a:xfrm>
            <a:off x="317450" y="3653433"/>
            <a:ext cx="4739729" cy="609451"/>
          </a:xfrm>
          <a:prstGeom prst="roundRect">
            <a:avLst>
              <a:gd name="adj" fmla="val 12503"/>
            </a:avLst>
          </a:prstGeom>
          <a:solidFill>
            <a:srgbClr val="FAFBFF"/>
          </a:solidFill>
          <a:ln/>
        </p:spPr>
        <p:txBody>
          <a:bodyPr wrap="square" rtlCol="0" anchor="ctr"/>
          <a:lstStyle/>
          <a:p>
            <a:pPr indent="0" marL="0">
              <a:buNone/>
            </a:pPr>
            <a:endParaRPr lang="en-US" dirty="0"/>
          </a:p>
        </p:txBody>
      </p:sp>
      <p:sp>
        <p:nvSpPr>
          <p:cNvPr id="36" name="Shape 34"/>
          <p:cNvSpPr/>
          <p:nvPr/>
        </p:nvSpPr>
        <p:spPr>
          <a:xfrm>
            <a:off x="317450" y="3658195"/>
            <a:ext cx="4739729" cy="0"/>
          </a:xfrm>
          <a:prstGeom prst="line">
            <a:avLst/>
          </a:prstGeom>
          <a:noFill/>
          <a:ln w="9525">
            <a:solidFill>
              <a:srgbClr val="E0E5F0"/>
            </a:solidFill>
            <a:prstDash val="solid"/>
          </a:ln>
        </p:spPr>
      </p:sp>
      <p:sp>
        <p:nvSpPr>
          <p:cNvPr id="37" name="Shape 35"/>
          <p:cNvSpPr/>
          <p:nvPr/>
        </p:nvSpPr>
        <p:spPr>
          <a:xfrm>
            <a:off x="5052417" y="3653433"/>
            <a:ext cx="0" cy="609451"/>
          </a:xfrm>
          <a:prstGeom prst="line">
            <a:avLst/>
          </a:prstGeom>
          <a:noFill/>
          <a:ln w="9525">
            <a:solidFill>
              <a:srgbClr val="E0E5F0"/>
            </a:solidFill>
            <a:prstDash val="solid"/>
          </a:ln>
        </p:spPr>
      </p:sp>
      <p:sp>
        <p:nvSpPr>
          <p:cNvPr id="38" name="Shape 36"/>
          <p:cNvSpPr/>
          <p:nvPr/>
        </p:nvSpPr>
        <p:spPr>
          <a:xfrm>
            <a:off x="317450" y="4258121"/>
            <a:ext cx="4739729" cy="0"/>
          </a:xfrm>
          <a:prstGeom prst="line">
            <a:avLst/>
          </a:prstGeom>
          <a:noFill/>
          <a:ln w="9525">
            <a:solidFill>
              <a:srgbClr val="E0E5F0"/>
            </a:solidFill>
            <a:prstDash val="solid"/>
          </a:ln>
        </p:spPr>
      </p:sp>
      <p:sp>
        <p:nvSpPr>
          <p:cNvPr id="39" name="Shape 37"/>
          <p:cNvSpPr/>
          <p:nvPr/>
        </p:nvSpPr>
        <p:spPr>
          <a:xfrm>
            <a:off x="341263" y="3653433"/>
            <a:ext cx="0" cy="609451"/>
          </a:xfrm>
          <a:prstGeom prst="line">
            <a:avLst/>
          </a:prstGeom>
          <a:noFill/>
          <a:ln w="47625">
            <a:solidFill>
              <a:srgbClr val="667EEA"/>
            </a:solidFill>
            <a:prstDash val="solid"/>
          </a:ln>
        </p:spPr>
      </p:sp>
      <p:sp>
        <p:nvSpPr>
          <p:cNvPr id="40" name="Text 38"/>
          <p:cNvSpPr/>
          <p:nvPr/>
        </p:nvSpPr>
        <p:spPr>
          <a:xfrm>
            <a:off x="517475" y="3789908"/>
            <a:ext cx="4465335" cy="152400"/>
          </a:xfrm>
          <a:prstGeom prst="rect">
            <a:avLst/>
          </a:prstGeom>
          <a:noFill/>
          <a:ln/>
        </p:spPr>
        <p:txBody>
          <a:bodyPr wrap="square" lIns="0" tIns="0" rIns="0" bIns="0" rtlCol="0" anchor="t"/>
          <a:lstStyle/>
          <a:p>
            <a:pPr algn="l" indent="0" marL="0">
              <a:spcAft>
                <a:spcPts val="400"/>
              </a:spcAft>
              <a:buNone/>
            </a:pPr>
            <a:r>
              <a:rPr lang="en-US" sz="1100" b="1" dirty="0">
                <a:solidFill>
                  <a:srgbClr val="1A1A2E"/>
                </a:solidFill>
                <a:latin typeface="Arial" pitchFamily="34" charset="0"/>
                <a:ea typeface="Arial" pitchFamily="34" charset="-122"/>
                <a:cs typeface="Arial" pitchFamily="34" charset="-120"/>
              </a:rPr>
              <a:t>Template Once, Run Forever</a:t>
            </a:r>
            <a:endParaRPr lang="en-US" sz="1100" dirty="0"/>
          </a:p>
        </p:txBody>
      </p:sp>
      <p:sp>
        <p:nvSpPr>
          <p:cNvPr id="41" name="Text 39"/>
          <p:cNvSpPr/>
          <p:nvPr/>
        </p:nvSpPr>
        <p:spPr>
          <a:xfrm>
            <a:off x="517475" y="3993059"/>
            <a:ext cx="4465335" cy="133350"/>
          </a:xfrm>
          <a:prstGeom prst="rect">
            <a:avLst/>
          </a:prstGeom>
          <a:noFill/>
          <a:ln/>
        </p:spPr>
        <p:txBody>
          <a:bodyPr wrap="square" lIns="0" tIns="0" rIns="0" bIns="0" rtlCol="0" anchor="t"/>
          <a:lstStyle/>
          <a:p>
            <a:pPr algn="l" indent="0" marL="0">
              <a:buNone/>
            </a:pPr>
            <a:r>
              <a:rPr lang="en-US" sz="900" dirty="0">
                <a:solidFill>
                  <a:srgbClr val="666666"/>
                </a:solidFill>
                <a:latin typeface="Arial" pitchFamily="34" charset="0"/>
                <a:ea typeface="Arial" pitchFamily="34" charset="-122"/>
                <a:cs typeface="Arial" pitchFamily="34" charset="-120"/>
              </a:rPr>
              <a:t>Asymmetric returns through reusable agentic patterns</a:t>
            </a:r>
            <a:endParaRPr lang="en-US" sz="900" dirty="0"/>
          </a:p>
        </p:txBody>
      </p:sp>
      <p:sp>
        <p:nvSpPr>
          <p:cNvPr id="42" name="Text 40"/>
          <p:cNvSpPr/>
          <p:nvPr/>
        </p:nvSpPr>
        <p:spPr>
          <a:xfrm>
            <a:off x="5247680" y="809625"/>
            <a:ext cx="3578870" cy="3807023"/>
          </a:xfrm>
          <a:prstGeom prst="roundRect">
            <a:avLst>
              <a:gd name="adj" fmla="val 2839"/>
            </a:avLst>
          </a:prstGeom>
          <a:solidFill>
            <a:srgbClr val="F8F9FF"/>
          </a:solidFill>
          <a:ln w="19050">
            <a:solidFill>
              <a:srgbClr val="667EEA"/>
            </a:solidFill>
          </a:ln>
        </p:spPr>
        <p:txBody>
          <a:bodyPr wrap="square" rtlCol="0" anchor="ctr"/>
          <a:lstStyle/>
          <a:p>
            <a:pPr indent="0" marL="0">
              <a:buNone/>
            </a:pPr>
            <a:endParaRPr lang="en-US" dirty="0"/>
          </a:p>
        </p:txBody>
      </p:sp>
      <p:sp>
        <p:nvSpPr>
          <p:cNvPr id="43" name="Text 41"/>
          <p:cNvSpPr/>
          <p:nvPr/>
        </p:nvSpPr>
        <p:spPr>
          <a:xfrm>
            <a:off x="5457230" y="1019175"/>
            <a:ext cx="3222965" cy="142875"/>
          </a:xfrm>
          <a:prstGeom prst="rect">
            <a:avLst/>
          </a:prstGeom>
          <a:noFill/>
          <a:ln/>
        </p:spPr>
        <p:txBody>
          <a:bodyPr wrap="square" lIns="0" tIns="0" rIns="0" bIns="0" rtlCol="0" anchor="t"/>
          <a:lstStyle/>
          <a:p>
            <a:pPr algn="l" indent="0" marL="0">
              <a:spcAft>
                <a:spcPts val="1000"/>
              </a:spcAft>
              <a:buNone/>
            </a:pPr>
            <a:r>
              <a:rPr lang="en-US" sz="1000" b="1" dirty="0">
                <a:solidFill>
                  <a:srgbClr val="667EEA"/>
                </a:solidFill>
                <a:latin typeface="Arial" pitchFamily="34" charset="0"/>
                <a:ea typeface="Arial" pitchFamily="34" charset="-122"/>
                <a:cs typeface="Arial" pitchFamily="34" charset="-120"/>
              </a:rPr>
              <a:t>KEY INSIGHT</a:t>
            </a:r>
            <a:endParaRPr lang="en-US" sz="1000" dirty="0"/>
          </a:p>
        </p:txBody>
      </p:sp>
      <p:sp>
        <p:nvSpPr>
          <p:cNvPr id="44" name="Text 42"/>
          <p:cNvSpPr/>
          <p:nvPr/>
        </p:nvSpPr>
        <p:spPr>
          <a:xfrm>
            <a:off x="5457230" y="1289000"/>
            <a:ext cx="3222965" cy="685800"/>
          </a:xfrm>
          <a:prstGeom prst="rect">
            <a:avLst/>
          </a:prstGeom>
          <a:noFill/>
          <a:ln/>
        </p:spPr>
        <p:txBody>
          <a:bodyPr wrap="square" lIns="0" tIns="0" rIns="0" bIns="0" rtlCol="0" anchor="t"/>
          <a:lstStyle/>
          <a:p>
            <a:pPr algn="l" indent="0" marL="0">
              <a:lnSpc>
                <a:spcPts val="1800"/>
              </a:lnSpc>
              <a:spcAft>
                <a:spcPts val="1500"/>
              </a:spcAft>
              <a:buNone/>
            </a:pPr>
            <a:r>
              <a:rPr lang="en-US" sz="1200" i="1" dirty="0">
                <a:solidFill>
                  <a:srgbClr val="333333"/>
                </a:solidFill>
                <a:latin typeface="Arial" pitchFamily="34" charset="0"/>
                <a:ea typeface="Arial" pitchFamily="34" charset="-122"/>
                <a:cs typeface="Arial" pitchFamily="34" charset="-120"/>
              </a:rPr>
              <a:t>"Engineering was never about writing code. It's about building systems of leverage that produce valuable outcomes."</a:t>
            </a:r>
            <a:endParaRPr lang="en-US" sz="1200" dirty="0"/>
          </a:p>
        </p:txBody>
      </p:sp>
      <p:sp>
        <p:nvSpPr>
          <p:cNvPr id="45" name="Text 43"/>
          <p:cNvSpPr/>
          <p:nvPr/>
        </p:nvSpPr>
        <p:spPr>
          <a:xfrm>
            <a:off x="5457230" y="2165300"/>
            <a:ext cx="3222965" cy="133350"/>
          </a:xfrm>
          <a:prstGeom prst="rect">
            <a:avLst/>
          </a:prstGeom>
          <a:noFill/>
          <a:ln/>
        </p:spPr>
        <p:txBody>
          <a:bodyPr wrap="square" lIns="0" tIns="0" rIns="0" bIns="0" rtlCol="0" anchor="t"/>
          <a:lstStyle/>
          <a:p>
            <a:pPr algn="l" indent="0" marL="0">
              <a:buNone/>
            </a:pPr>
            <a:r>
              <a:rPr lang="en-US" sz="900" dirty="0">
                <a:solidFill>
                  <a:srgbClr val="888888"/>
                </a:solidFill>
                <a:latin typeface="Arial" pitchFamily="34" charset="0"/>
                <a:ea typeface="Arial" pitchFamily="34" charset="-122"/>
                <a:cs typeface="Arial" pitchFamily="34" charset="-120"/>
              </a:rPr>
              <a:t>IndyDevDan, Episode 1</a:t>
            </a:r>
            <a:endParaRPr lang="en-US" sz="900" dirty="0"/>
          </a:p>
        </p:txBody>
      </p:sp>
      <p:sp>
        <p:nvSpPr>
          <p:cNvPr id="46" name="Text 44"/>
          <p:cNvSpPr/>
          <p:nvPr/>
        </p:nvSpPr>
        <p:spPr>
          <a:xfrm>
            <a:off x="0" y="4807148"/>
            <a:ext cx="9144000" cy="336352"/>
          </a:xfrm>
          <a:prstGeom prst="rect">
            <a:avLst/>
          </a:prstGeom>
          <a:solidFill>
            <a:srgbClr val="667EEA"/>
          </a:solidFill>
          <a:ln/>
        </p:spPr>
        <p:txBody>
          <a:bodyPr wrap="square" rtlCol="0" anchor="ctr"/>
          <a:lstStyle/>
          <a:p>
            <a:pPr indent="0" marL="0">
              <a:buNone/>
            </a:pPr>
            <a:endParaRPr lang="en-US" dirty="0"/>
          </a:p>
        </p:txBody>
      </p:sp>
      <p:sp>
        <p:nvSpPr>
          <p:cNvPr id="47" name="Text 45"/>
          <p:cNvSpPr/>
          <p:nvPr/>
        </p:nvSpPr>
        <p:spPr>
          <a:xfrm>
            <a:off x="317450" y="4908649"/>
            <a:ext cx="8679281" cy="133350"/>
          </a:xfrm>
          <a:prstGeom prst="rect">
            <a:avLst/>
          </a:prstGeom>
          <a:noFill/>
          <a:ln/>
        </p:spPr>
        <p:txBody>
          <a:bodyPr wrap="square" lIns="0" tIns="0" rIns="0" bIns="0" rtlCol="0" anchor="t"/>
          <a:lstStyle/>
          <a:p>
            <a:pPr algn="l" indent="0" marL="0">
              <a:buNone/>
            </a:pPr>
            <a:r>
              <a:rPr lang="en-US" sz="900" dirty="0">
                <a:solidFill>
                  <a:srgbClr val="FFFFFF"/>
                </a:solidFill>
                <a:latin typeface="Arial" pitchFamily="34" charset="0"/>
                <a:ea typeface="Arial" pitchFamily="34" charset="-122"/>
                <a:cs typeface="Arial" pitchFamily="34" charset="-120"/>
              </a:rPr>
              <a:t>50/50 Rule: Spend half your engineering time on the agentic layer</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19125"/>
          </a:xfrm>
          <a:prstGeom prst="rect">
            <a:avLst/>
          </a:prstGeom>
          <a:solidFill>
            <a:srgbClr val="F0F4FF"/>
          </a:solidFill>
          <a:ln/>
        </p:spPr>
        <p:txBody>
          <a:bodyPr wrap="square" rtlCol="0" anchor="ctr"/>
          <a:lstStyle/>
          <a:p>
            <a:pPr indent="0" marL="0">
              <a:buNone/>
            </a:pPr>
            <a:endParaRPr lang="en-US" dirty="0"/>
          </a:p>
        </p:txBody>
      </p:sp>
      <p:sp>
        <p:nvSpPr>
          <p:cNvPr id="3" name="Shape 1"/>
          <p:cNvSpPr/>
          <p:nvPr/>
        </p:nvSpPr>
        <p:spPr>
          <a:xfrm>
            <a:off x="0" y="609600"/>
            <a:ext cx="9144000" cy="0"/>
          </a:xfrm>
          <a:prstGeom prst="line">
            <a:avLst/>
          </a:prstGeom>
          <a:noFill/>
          <a:ln w="19050">
            <a:solidFill>
              <a:srgbClr val="667EEA"/>
            </a:solidFill>
            <a:prstDash val="solid"/>
          </a:ln>
        </p:spPr>
      </p:sp>
      <p:sp>
        <p:nvSpPr>
          <p:cNvPr id="4" name="Text 2"/>
          <p:cNvSpPr/>
          <p:nvPr/>
        </p:nvSpPr>
        <p:spPr>
          <a:xfrm>
            <a:off x="317450" y="152400"/>
            <a:ext cx="8679281" cy="295275"/>
          </a:xfrm>
          <a:prstGeom prst="rect">
            <a:avLst/>
          </a:prstGeom>
          <a:noFill/>
          <a:ln/>
        </p:spPr>
        <p:txBody>
          <a:bodyPr wrap="square" lIns="0" tIns="0" rIns="0" bIns="0" rtlCol="0" anchor="t"/>
          <a:lstStyle/>
          <a:p>
            <a:pPr algn="l" indent="0" marL="0">
              <a:buNone/>
            </a:pPr>
            <a:r>
              <a:rPr lang="en-US" sz="2000" b="1" dirty="0">
                <a:solidFill>
                  <a:srgbClr val="1A1A2E"/>
                </a:solidFill>
                <a:latin typeface="Arial" pitchFamily="34" charset="0"/>
                <a:ea typeface="Arial" pitchFamily="34" charset="-122"/>
                <a:cs typeface="Arial" pitchFamily="34" charset="-120"/>
              </a:rPr>
              <a:t>Why Python? (15+ Years of Engineering Experience)</a:t>
            </a:r>
            <a:endParaRPr lang="en-US" sz="2000" dirty="0"/>
          </a:p>
        </p:txBody>
      </p:sp>
      <p:sp>
        <p:nvSpPr>
          <p:cNvPr id="5" name="Text 3"/>
          <p:cNvSpPr/>
          <p:nvPr/>
        </p:nvSpPr>
        <p:spPr>
          <a:xfrm>
            <a:off x="317450" y="809625"/>
            <a:ext cx="2734717" cy="1085552"/>
          </a:xfrm>
          <a:prstGeom prst="roundRect">
            <a:avLst>
              <a:gd name="adj" fmla="val 7019"/>
            </a:avLst>
          </a:prstGeom>
          <a:solidFill>
            <a:srgbClr val="FAFBFF"/>
          </a:solidFill>
          <a:ln w="9525">
            <a:solidFill>
              <a:srgbClr val="E0E5F0"/>
            </a:solidFill>
          </a:ln>
        </p:spPr>
        <p:txBody>
          <a:bodyPr wrap="square" rtlCol="0" anchor="ctr"/>
          <a:lstStyle/>
          <a:p>
            <a:pPr indent="0" marL="0">
              <a:buNone/>
            </a:pPr>
            <a:endParaRPr lang="en-US" dirty="0"/>
          </a:p>
        </p:txBody>
      </p:sp>
      <p:sp>
        <p:nvSpPr>
          <p:cNvPr id="6" name="Text 4"/>
          <p:cNvSpPr/>
          <p:nvPr/>
        </p:nvSpPr>
        <p:spPr>
          <a:xfrm>
            <a:off x="479375" y="971550"/>
            <a:ext cx="304800" cy="304800"/>
          </a:xfrm>
          <a:prstGeom prst="roundRect">
            <a:avLst>
              <a:gd name="adj" fmla="val 300000"/>
            </a:avLst>
          </a:prstGeom>
          <a:solidFill>
            <a:srgbClr val="667EEA"/>
          </a:solidFill>
          <a:ln/>
        </p:spPr>
        <p:txBody>
          <a:bodyPr wrap="square" rtlCol="0" anchor="ctr"/>
          <a:lstStyle/>
          <a:p>
            <a:pPr indent="0" marL="0">
              <a:buNone/>
            </a:pPr>
            <a:endParaRPr lang="en-US" dirty="0"/>
          </a:p>
        </p:txBody>
      </p:sp>
      <p:sp>
        <p:nvSpPr>
          <p:cNvPr id="7" name="Text 5"/>
          <p:cNvSpPr/>
          <p:nvPr/>
        </p:nvSpPr>
        <p:spPr>
          <a:xfrm>
            <a:off x="589359" y="1038225"/>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911126" y="1038225"/>
            <a:ext cx="1347115" cy="171450"/>
          </a:xfrm>
          <a:prstGeom prst="rect">
            <a:avLst/>
          </a:prstGeom>
          <a:noFill/>
          <a:ln/>
        </p:spPr>
        <p:txBody>
          <a:bodyPr wrap="square" lIns="0" tIns="0" rIns="0" bIns="0" rtlCol="0" anchor="t"/>
          <a:lstStyle/>
          <a:p>
            <a:pPr algn="l" indent="0" marL="0">
              <a:buNone/>
            </a:pPr>
            <a:r>
              <a:rPr lang="en-US" sz="1200" b="1" dirty="0">
                <a:solidFill>
                  <a:srgbClr val="1A1A2E"/>
                </a:solidFill>
                <a:latin typeface="Arial" pitchFamily="34" charset="0"/>
                <a:ea typeface="Arial" pitchFamily="34" charset="-122"/>
                <a:cs typeface="Arial" pitchFamily="34" charset="-120"/>
              </a:rPr>
              <a:t>Rapid Prototyping</a:t>
            </a:r>
            <a:endParaRPr lang="en-US" sz="1200" dirty="0"/>
          </a:p>
        </p:txBody>
      </p:sp>
      <p:sp>
        <p:nvSpPr>
          <p:cNvPr id="9" name="Text 7"/>
          <p:cNvSpPr/>
          <p:nvPr/>
        </p:nvSpPr>
        <p:spPr>
          <a:xfrm>
            <a:off x="479375" y="1377851"/>
            <a:ext cx="2459084" cy="355402"/>
          </a:xfrm>
          <a:prstGeom prst="rect">
            <a:avLst/>
          </a:prstGeom>
          <a:noFill/>
          <a:ln/>
        </p:spPr>
        <p:txBody>
          <a:bodyPr wrap="square" lIns="0" tIns="0" rIns="0" bIns="0" rtlCol="0" anchor="t"/>
          <a:lstStyle/>
          <a:p>
            <a:pPr algn="l" indent="0" marL="0">
              <a:lnSpc>
                <a:spcPts val="1400"/>
              </a:lnSpc>
              <a:buNone/>
            </a:pPr>
            <a:r>
              <a:rPr lang="en-US" sz="1000" dirty="0">
                <a:solidFill>
                  <a:srgbClr val="666666"/>
                </a:solidFill>
                <a:latin typeface="Arial" pitchFamily="34" charset="0"/>
                <a:ea typeface="Arial" pitchFamily="34" charset="-122"/>
                <a:cs typeface="Arial" pitchFamily="34" charset="-120"/>
              </a:rPr>
              <a:t>Python excels at quick iteration - critical for evolving MCP patterns</a:t>
            </a:r>
            <a:endParaRPr lang="en-US" sz="1000" dirty="0"/>
          </a:p>
        </p:txBody>
      </p:sp>
      <p:sp>
        <p:nvSpPr>
          <p:cNvPr id="10" name="Text 8"/>
          <p:cNvSpPr/>
          <p:nvPr/>
        </p:nvSpPr>
        <p:spPr>
          <a:xfrm>
            <a:off x="3204567" y="809625"/>
            <a:ext cx="2734717" cy="1085552"/>
          </a:xfrm>
          <a:prstGeom prst="roundRect">
            <a:avLst>
              <a:gd name="adj" fmla="val 7019"/>
            </a:avLst>
          </a:prstGeom>
          <a:solidFill>
            <a:srgbClr val="FAFBFF"/>
          </a:solidFill>
          <a:ln w="9525">
            <a:solidFill>
              <a:srgbClr val="E0E5F0"/>
            </a:solidFill>
          </a:ln>
        </p:spPr>
        <p:txBody>
          <a:bodyPr wrap="square" rtlCol="0" anchor="ctr"/>
          <a:lstStyle/>
          <a:p>
            <a:pPr indent="0" marL="0">
              <a:buNone/>
            </a:pPr>
            <a:endParaRPr lang="en-US" dirty="0"/>
          </a:p>
        </p:txBody>
      </p:sp>
      <p:sp>
        <p:nvSpPr>
          <p:cNvPr id="11" name="Text 9"/>
          <p:cNvSpPr/>
          <p:nvPr/>
        </p:nvSpPr>
        <p:spPr>
          <a:xfrm>
            <a:off x="3366492" y="971550"/>
            <a:ext cx="304800" cy="304800"/>
          </a:xfrm>
          <a:prstGeom prst="roundRect">
            <a:avLst>
              <a:gd name="adj" fmla="val 300000"/>
            </a:avLst>
          </a:prstGeom>
          <a:solidFill>
            <a:srgbClr val="667EEA"/>
          </a:solidFill>
          <a:ln/>
        </p:spPr>
        <p:txBody>
          <a:bodyPr wrap="square" rtlCol="0" anchor="ctr"/>
          <a:lstStyle/>
          <a:p>
            <a:pPr indent="0" marL="0">
              <a:buNone/>
            </a:pPr>
            <a:endParaRPr lang="en-US" dirty="0"/>
          </a:p>
        </p:txBody>
      </p:sp>
      <p:sp>
        <p:nvSpPr>
          <p:cNvPr id="12" name="Text 10"/>
          <p:cNvSpPr/>
          <p:nvPr/>
        </p:nvSpPr>
        <p:spPr>
          <a:xfrm>
            <a:off x="3476476" y="1038225"/>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3798243" y="1038225"/>
            <a:ext cx="1831827" cy="171450"/>
          </a:xfrm>
          <a:prstGeom prst="rect">
            <a:avLst/>
          </a:prstGeom>
          <a:noFill/>
          <a:ln/>
        </p:spPr>
        <p:txBody>
          <a:bodyPr wrap="square" lIns="0" tIns="0" rIns="0" bIns="0" rtlCol="0" anchor="t"/>
          <a:lstStyle/>
          <a:p>
            <a:pPr algn="l" indent="0" marL="0">
              <a:buNone/>
            </a:pPr>
            <a:r>
              <a:rPr lang="en-US" sz="1200" b="1" dirty="0">
                <a:solidFill>
                  <a:srgbClr val="1A1A2E"/>
                </a:solidFill>
                <a:latin typeface="Arial" pitchFamily="34" charset="0"/>
                <a:ea typeface="Arial" pitchFamily="34" charset="-122"/>
                <a:cs typeface="Arial" pitchFamily="34" charset="-120"/>
              </a:rPr>
              <a:t>Data Science Ecosystem</a:t>
            </a:r>
            <a:endParaRPr lang="en-US" sz="1200" dirty="0"/>
          </a:p>
        </p:txBody>
      </p:sp>
      <p:sp>
        <p:nvSpPr>
          <p:cNvPr id="14" name="Text 12"/>
          <p:cNvSpPr/>
          <p:nvPr/>
        </p:nvSpPr>
        <p:spPr>
          <a:xfrm>
            <a:off x="3366492" y="1377851"/>
            <a:ext cx="2459084" cy="355402"/>
          </a:xfrm>
          <a:prstGeom prst="rect">
            <a:avLst/>
          </a:prstGeom>
          <a:noFill/>
          <a:ln/>
        </p:spPr>
        <p:txBody>
          <a:bodyPr wrap="square" lIns="0" tIns="0" rIns="0" bIns="0" rtlCol="0" anchor="t"/>
          <a:lstStyle/>
          <a:p>
            <a:pPr algn="l" indent="0" marL="0">
              <a:lnSpc>
                <a:spcPts val="1400"/>
              </a:lnSpc>
              <a:buNone/>
            </a:pPr>
            <a:r>
              <a:rPr lang="en-US" sz="1000" dirty="0">
                <a:solidFill>
                  <a:srgbClr val="666666"/>
                </a:solidFill>
                <a:latin typeface="Arial" pitchFamily="34" charset="0"/>
                <a:ea typeface="Arial" pitchFamily="34" charset="-122"/>
                <a:cs typeface="Arial" pitchFamily="34" charset="-120"/>
              </a:rPr>
              <a:t>NumPy, sentence-transformers for embeddings, ML integration ready</a:t>
            </a:r>
            <a:endParaRPr lang="en-US" sz="1000" dirty="0"/>
          </a:p>
        </p:txBody>
      </p:sp>
      <p:sp>
        <p:nvSpPr>
          <p:cNvPr id="15" name="Text 13"/>
          <p:cNvSpPr/>
          <p:nvPr/>
        </p:nvSpPr>
        <p:spPr>
          <a:xfrm>
            <a:off x="6091684" y="809625"/>
            <a:ext cx="2734717" cy="1085552"/>
          </a:xfrm>
          <a:prstGeom prst="roundRect">
            <a:avLst>
              <a:gd name="adj" fmla="val 7019"/>
            </a:avLst>
          </a:prstGeom>
          <a:solidFill>
            <a:srgbClr val="FAFBFF"/>
          </a:solidFill>
          <a:ln w="9525">
            <a:solidFill>
              <a:srgbClr val="E0E5F0"/>
            </a:solidFill>
          </a:ln>
        </p:spPr>
        <p:txBody>
          <a:bodyPr wrap="square" rtlCol="0" anchor="ctr"/>
          <a:lstStyle/>
          <a:p>
            <a:pPr indent="0" marL="0">
              <a:buNone/>
            </a:pPr>
            <a:endParaRPr lang="en-US" dirty="0"/>
          </a:p>
        </p:txBody>
      </p:sp>
      <p:sp>
        <p:nvSpPr>
          <p:cNvPr id="16" name="Text 14"/>
          <p:cNvSpPr/>
          <p:nvPr/>
        </p:nvSpPr>
        <p:spPr>
          <a:xfrm>
            <a:off x="6253609" y="971550"/>
            <a:ext cx="304800" cy="304800"/>
          </a:xfrm>
          <a:prstGeom prst="roundRect">
            <a:avLst>
              <a:gd name="adj" fmla="val 300000"/>
            </a:avLst>
          </a:prstGeom>
          <a:solidFill>
            <a:srgbClr val="667EEA"/>
          </a:solidFill>
          <a:ln/>
        </p:spPr>
        <p:txBody>
          <a:bodyPr wrap="square" rtlCol="0" anchor="ctr"/>
          <a:lstStyle/>
          <a:p>
            <a:pPr indent="0" marL="0">
              <a:buNone/>
            </a:pPr>
            <a:endParaRPr lang="en-US" dirty="0"/>
          </a:p>
        </p:txBody>
      </p:sp>
      <p:sp>
        <p:nvSpPr>
          <p:cNvPr id="17" name="Text 15"/>
          <p:cNvSpPr/>
          <p:nvPr/>
        </p:nvSpPr>
        <p:spPr>
          <a:xfrm>
            <a:off x="6363593" y="1038225"/>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6"/>
          <p:cNvSpPr/>
          <p:nvPr/>
        </p:nvSpPr>
        <p:spPr>
          <a:xfrm>
            <a:off x="6685359" y="1038225"/>
            <a:ext cx="1608219" cy="171450"/>
          </a:xfrm>
          <a:prstGeom prst="rect">
            <a:avLst/>
          </a:prstGeom>
          <a:noFill/>
          <a:ln/>
        </p:spPr>
        <p:txBody>
          <a:bodyPr wrap="square" lIns="0" tIns="0" rIns="0" bIns="0" rtlCol="0" anchor="t"/>
          <a:lstStyle/>
          <a:p>
            <a:pPr algn="l" indent="0" marL="0">
              <a:buNone/>
            </a:pPr>
            <a:r>
              <a:rPr lang="en-US" sz="1200" b="1" dirty="0">
                <a:solidFill>
                  <a:srgbClr val="1A1A2E"/>
                </a:solidFill>
                <a:latin typeface="Arial" pitchFamily="34" charset="0"/>
                <a:ea typeface="Arial" pitchFamily="34" charset="-122"/>
                <a:cs typeface="Arial" pitchFamily="34" charset="-120"/>
              </a:rPr>
              <a:t>Type Hints + Pydantic</a:t>
            </a:r>
            <a:endParaRPr lang="en-US" sz="1200" dirty="0"/>
          </a:p>
        </p:txBody>
      </p:sp>
      <p:sp>
        <p:nvSpPr>
          <p:cNvPr id="19" name="Text 17"/>
          <p:cNvSpPr/>
          <p:nvPr/>
        </p:nvSpPr>
        <p:spPr>
          <a:xfrm>
            <a:off x="6253609" y="1377851"/>
            <a:ext cx="2459084" cy="355402"/>
          </a:xfrm>
          <a:prstGeom prst="rect">
            <a:avLst/>
          </a:prstGeom>
          <a:noFill/>
          <a:ln/>
        </p:spPr>
        <p:txBody>
          <a:bodyPr wrap="square" lIns="0" tIns="0" rIns="0" bIns="0" rtlCol="0" anchor="t"/>
          <a:lstStyle/>
          <a:p>
            <a:pPr algn="l" indent="0" marL="0">
              <a:lnSpc>
                <a:spcPts val="1400"/>
              </a:lnSpc>
              <a:buNone/>
            </a:pPr>
            <a:r>
              <a:rPr lang="en-US" sz="1000" dirty="0">
                <a:solidFill>
                  <a:srgbClr val="666666"/>
                </a:solidFill>
                <a:latin typeface="Arial" pitchFamily="34" charset="0"/>
                <a:ea typeface="Arial" pitchFamily="34" charset="-122"/>
                <a:cs typeface="Arial" pitchFamily="34" charset="-120"/>
              </a:rPr>
              <a:t>Strong runtime validation with excellent error messages</a:t>
            </a:r>
            <a:endParaRPr lang="en-US" sz="1000" dirty="0"/>
          </a:p>
        </p:txBody>
      </p:sp>
      <p:sp>
        <p:nvSpPr>
          <p:cNvPr id="20" name="Text 18"/>
          <p:cNvSpPr/>
          <p:nvPr/>
        </p:nvSpPr>
        <p:spPr>
          <a:xfrm>
            <a:off x="317450" y="2047577"/>
            <a:ext cx="2741116" cy="1085552"/>
          </a:xfrm>
          <a:prstGeom prst="roundRect">
            <a:avLst>
              <a:gd name="adj" fmla="val 7019"/>
            </a:avLst>
          </a:prstGeom>
          <a:solidFill>
            <a:srgbClr val="FAFBFF"/>
          </a:solidFill>
          <a:ln w="9525">
            <a:solidFill>
              <a:srgbClr val="E0E5F0"/>
            </a:solidFill>
          </a:ln>
        </p:spPr>
        <p:txBody>
          <a:bodyPr wrap="square" rtlCol="0" anchor="ctr"/>
          <a:lstStyle/>
          <a:p>
            <a:pPr indent="0" marL="0">
              <a:buNone/>
            </a:pPr>
            <a:endParaRPr lang="en-US" dirty="0"/>
          </a:p>
        </p:txBody>
      </p:sp>
      <p:sp>
        <p:nvSpPr>
          <p:cNvPr id="21" name="Text 19"/>
          <p:cNvSpPr/>
          <p:nvPr/>
        </p:nvSpPr>
        <p:spPr>
          <a:xfrm>
            <a:off x="479375" y="2209502"/>
            <a:ext cx="304800" cy="304800"/>
          </a:xfrm>
          <a:prstGeom prst="roundRect">
            <a:avLst>
              <a:gd name="adj" fmla="val 300000"/>
            </a:avLst>
          </a:prstGeom>
          <a:solidFill>
            <a:srgbClr val="667EEA"/>
          </a:solidFill>
          <a:ln/>
        </p:spPr>
        <p:txBody>
          <a:bodyPr wrap="square" rtlCol="0" anchor="ctr"/>
          <a:lstStyle/>
          <a:p>
            <a:pPr indent="0" marL="0">
              <a:buNone/>
            </a:pPr>
            <a:endParaRPr lang="en-US" dirty="0"/>
          </a:p>
        </p:txBody>
      </p:sp>
      <p:sp>
        <p:nvSpPr>
          <p:cNvPr id="22" name="Text 20"/>
          <p:cNvSpPr/>
          <p:nvPr/>
        </p:nvSpPr>
        <p:spPr>
          <a:xfrm>
            <a:off x="589359" y="2276177"/>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3" name="Text 21"/>
          <p:cNvSpPr/>
          <p:nvPr/>
        </p:nvSpPr>
        <p:spPr>
          <a:xfrm>
            <a:off x="911126" y="2276177"/>
            <a:ext cx="1425598" cy="171450"/>
          </a:xfrm>
          <a:prstGeom prst="rect">
            <a:avLst/>
          </a:prstGeom>
          <a:noFill/>
          <a:ln/>
        </p:spPr>
        <p:txBody>
          <a:bodyPr wrap="square" lIns="0" tIns="0" rIns="0" bIns="0" rtlCol="0" anchor="t"/>
          <a:lstStyle/>
          <a:p>
            <a:pPr algn="l" indent="0" marL="0">
              <a:buNone/>
            </a:pPr>
            <a:r>
              <a:rPr lang="en-US" sz="1200" b="1" dirty="0">
                <a:solidFill>
                  <a:srgbClr val="1A1A2E"/>
                </a:solidFill>
                <a:latin typeface="Arial" pitchFamily="34" charset="0"/>
                <a:ea typeface="Arial" pitchFamily="34" charset="-122"/>
                <a:cs typeface="Arial" pitchFamily="34" charset="-120"/>
              </a:rPr>
              <a:t>Native Async/Await</a:t>
            </a:r>
            <a:endParaRPr lang="en-US" sz="1200" dirty="0"/>
          </a:p>
        </p:txBody>
      </p:sp>
      <p:sp>
        <p:nvSpPr>
          <p:cNvPr id="24" name="Text 22"/>
          <p:cNvSpPr/>
          <p:nvPr/>
        </p:nvSpPr>
        <p:spPr>
          <a:xfrm>
            <a:off x="479375" y="2615803"/>
            <a:ext cx="2465612" cy="355402"/>
          </a:xfrm>
          <a:prstGeom prst="rect">
            <a:avLst/>
          </a:prstGeom>
          <a:noFill/>
          <a:ln/>
        </p:spPr>
        <p:txBody>
          <a:bodyPr wrap="square" lIns="0" tIns="0" rIns="0" bIns="0" rtlCol="0" anchor="t"/>
          <a:lstStyle/>
          <a:p>
            <a:pPr algn="l" indent="0" marL="0">
              <a:lnSpc>
                <a:spcPts val="1400"/>
              </a:lnSpc>
              <a:buNone/>
            </a:pPr>
            <a:r>
              <a:rPr lang="en-US" sz="1000" dirty="0">
                <a:solidFill>
                  <a:srgbClr val="666666"/>
                </a:solidFill>
                <a:latin typeface="Arial" pitchFamily="34" charset="0"/>
                <a:ea typeface="Arial" pitchFamily="34" charset="-122"/>
                <a:cs typeface="Arial" pitchFamily="34" charset="-120"/>
              </a:rPr>
              <a:t>First-class async support perfect for IO-bound MCP operations</a:t>
            </a:r>
            <a:endParaRPr lang="en-US" sz="1000" dirty="0"/>
          </a:p>
        </p:txBody>
      </p:sp>
      <p:sp>
        <p:nvSpPr>
          <p:cNvPr id="25" name="Text 23"/>
          <p:cNvSpPr/>
          <p:nvPr/>
        </p:nvSpPr>
        <p:spPr>
          <a:xfrm>
            <a:off x="3210967" y="2047577"/>
            <a:ext cx="2741116" cy="1085552"/>
          </a:xfrm>
          <a:prstGeom prst="roundRect">
            <a:avLst>
              <a:gd name="adj" fmla="val 7019"/>
            </a:avLst>
          </a:prstGeom>
          <a:solidFill>
            <a:srgbClr val="FAFBFF"/>
          </a:solidFill>
          <a:ln w="9525">
            <a:solidFill>
              <a:srgbClr val="E0E5F0"/>
            </a:solidFill>
          </a:ln>
        </p:spPr>
        <p:txBody>
          <a:bodyPr wrap="square" rtlCol="0" anchor="ctr"/>
          <a:lstStyle/>
          <a:p>
            <a:pPr indent="0" marL="0">
              <a:buNone/>
            </a:pPr>
            <a:endParaRPr lang="en-US" dirty="0"/>
          </a:p>
        </p:txBody>
      </p:sp>
      <p:sp>
        <p:nvSpPr>
          <p:cNvPr id="26" name="Text 24"/>
          <p:cNvSpPr/>
          <p:nvPr/>
        </p:nvSpPr>
        <p:spPr>
          <a:xfrm>
            <a:off x="3372892" y="2209502"/>
            <a:ext cx="304800" cy="304800"/>
          </a:xfrm>
          <a:prstGeom prst="roundRect">
            <a:avLst>
              <a:gd name="adj" fmla="val 300000"/>
            </a:avLst>
          </a:prstGeom>
          <a:solidFill>
            <a:srgbClr val="667EEA"/>
          </a:solidFill>
          <a:ln/>
        </p:spPr>
        <p:txBody>
          <a:bodyPr wrap="square" rtlCol="0" anchor="ctr"/>
          <a:lstStyle/>
          <a:p>
            <a:pPr indent="0" marL="0">
              <a:buNone/>
            </a:pPr>
            <a:endParaRPr lang="en-US" dirty="0"/>
          </a:p>
        </p:txBody>
      </p:sp>
      <p:sp>
        <p:nvSpPr>
          <p:cNvPr id="27" name="Text 25"/>
          <p:cNvSpPr/>
          <p:nvPr/>
        </p:nvSpPr>
        <p:spPr>
          <a:xfrm>
            <a:off x="3482876" y="2276177"/>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8" name="Text 26"/>
          <p:cNvSpPr/>
          <p:nvPr/>
        </p:nvSpPr>
        <p:spPr>
          <a:xfrm>
            <a:off x="3804642" y="2276177"/>
            <a:ext cx="1382485" cy="171450"/>
          </a:xfrm>
          <a:prstGeom prst="rect">
            <a:avLst/>
          </a:prstGeom>
          <a:noFill/>
          <a:ln/>
        </p:spPr>
        <p:txBody>
          <a:bodyPr wrap="square" lIns="0" tIns="0" rIns="0" bIns="0" rtlCol="0" anchor="t"/>
          <a:lstStyle/>
          <a:p>
            <a:pPr algn="l" indent="0" marL="0">
              <a:buNone/>
            </a:pPr>
            <a:r>
              <a:rPr lang="en-US" sz="1200" b="1" dirty="0">
                <a:solidFill>
                  <a:srgbClr val="1A1A2E"/>
                </a:solidFill>
                <a:latin typeface="Arial" pitchFamily="34" charset="0"/>
                <a:ea typeface="Arial" pitchFamily="34" charset="-122"/>
                <a:cs typeface="Arial" pitchFamily="34" charset="-120"/>
              </a:rPr>
              <a:t>Developer Velocity</a:t>
            </a:r>
            <a:endParaRPr lang="en-US" sz="1200" dirty="0"/>
          </a:p>
        </p:txBody>
      </p:sp>
      <p:sp>
        <p:nvSpPr>
          <p:cNvPr id="29" name="Text 27"/>
          <p:cNvSpPr/>
          <p:nvPr/>
        </p:nvSpPr>
        <p:spPr>
          <a:xfrm>
            <a:off x="3372892" y="2615803"/>
            <a:ext cx="2465612" cy="355402"/>
          </a:xfrm>
          <a:prstGeom prst="rect">
            <a:avLst/>
          </a:prstGeom>
          <a:noFill/>
          <a:ln/>
        </p:spPr>
        <p:txBody>
          <a:bodyPr wrap="square" lIns="0" tIns="0" rIns="0" bIns="0" rtlCol="0" anchor="t"/>
          <a:lstStyle/>
          <a:p>
            <a:pPr algn="l" indent="0" marL="0">
              <a:lnSpc>
                <a:spcPts val="1400"/>
              </a:lnSpc>
              <a:buNone/>
            </a:pPr>
            <a:r>
              <a:rPr lang="en-US" sz="1000" dirty="0">
                <a:solidFill>
                  <a:srgbClr val="666666"/>
                </a:solidFill>
                <a:latin typeface="Arial" pitchFamily="34" charset="0"/>
                <a:ea typeface="Arial" pitchFamily="34" charset="-122"/>
                <a:cs typeface="Arial" pitchFamily="34" charset="-120"/>
              </a:rPr>
              <a:t>Less boilerplate = more focus on solving actual problems</a:t>
            </a:r>
            <a:endParaRPr lang="en-US" sz="1000" dirty="0"/>
          </a:p>
        </p:txBody>
      </p:sp>
      <p:sp>
        <p:nvSpPr>
          <p:cNvPr id="30" name="Text 28"/>
          <p:cNvSpPr/>
          <p:nvPr/>
        </p:nvSpPr>
        <p:spPr>
          <a:xfrm>
            <a:off x="6104483" y="2047577"/>
            <a:ext cx="2722066" cy="1085552"/>
          </a:xfrm>
          <a:prstGeom prst="roundRect">
            <a:avLst>
              <a:gd name="adj" fmla="val 7019"/>
            </a:avLst>
          </a:prstGeom>
          <a:solidFill>
            <a:srgbClr val="667EEA"/>
          </a:solidFill>
          <a:ln/>
        </p:spPr>
        <p:txBody>
          <a:bodyPr wrap="square" rtlCol="0" anchor="ctr"/>
          <a:lstStyle/>
          <a:p>
            <a:pPr indent="0" marL="0">
              <a:buNone/>
            </a:pPr>
            <a:endParaRPr lang="en-US" dirty="0"/>
          </a:p>
        </p:txBody>
      </p:sp>
      <p:sp>
        <p:nvSpPr>
          <p:cNvPr id="31" name="Text 29"/>
          <p:cNvSpPr/>
          <p:nvPr/>
        </p:nvSpPr>
        <p:spPr>
          <a:xfrm>
            <a:off x="6256883" y="2199977"/>
            <a:ext cx="304800" cy="304800"/>
          </a:xfrm>
          <a:prstGeom prst="roundRect">
            <a:avLst>
              <a:gd name="adj" fmla="val 300000"/>
            </a:avLst>
          </a:prstGeom>
          <a:solidFill>
            <a:srgbClr val="FFFFFF"/>
          </a:solidFill>
          <a:ln/>
        </p:spPr>
        <p:txBody>
          <a:bodyPr wrap="square" rtlCol="0" anchor="ctr"/>
          <a:lstStyle/>
          <a:p>
            <a:pPr indent="0" marL="0">
              <a:buNone/>
            </a:pPr>
            <a:endParaRPr lang="en-US" dirty="0"/>
          </a:p>
        </p:txBody>
      </p:sp>
      <p:sp>
        <p:nvSpPr>
          <p:cNvPr id="32" name="Text 30"/>
          <p:cNvSpPr/>
          <p:nvPr/>
        </p:nvSpPr>
        <p:spPr>
          <a:xfrm>
            <a:off x="6366867" y="2266652"/>
            <a:ext cx="86529" cy="171450"/>
          </a:xfrm>
          <a:prstGeom prst="rect">
            <a:avLst/>
          </a:prstGeom>
          <a:noFill/>
          <a:ln/>
        </p:spPr>
        <p:txBody>
          <a:bodyPr wrap="square" lIns="0" tIns="0" rIns="0" bIns="0" rtlCol="0" anchor="t"/>
          <a:lstStyle/>
          <a:p>
            <a:pPr algn="l" indent="0" marL="0">
              <a:buNone/>
            </a:pPr>
            <a:r>
              <a:rPr lang="en-US" sz="1200" b="1" dirty="0">
                <a:solidFill>
                  <a:srgbClr val="667EEA"/>
                </a:solidFill>
                <a:latin typeface="Arial" pitchFamily="34" charset="0"/>
                <a:ea typeface="Arial" pitchFamily="34" charset="-122"/>
                <a:cs typeface="Arial" pitchFamily="34" charset="-120"/>
              </a:rPr>
              <a:t>6</a:t>
            </a:r>
            <a:endParaRPr lang="en-US" sz="1200" dirty="0"/>
          </a:p>
        </p:txBody>
      </p:sp>
      <p:sp>
        <p:nvSpPr>
          <p:cNvPr id="33" name="Text 31"/>
          <p:cNvSpPr/>
          <p:nvPr/>
        </p:nvSpPr>
        <p:spPr>
          <a:xfrm>
            <a:off x="6688634" y="2266652"/>
            <a:ext cx="1534897"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FastMCP Framework</a:t>
            </a:r>
            <a:endParaRPr lang="en-US" sz="1200" dirty="0"/>
          </a:p>
        </p:txBody>
      </p:sp>
      <p:sp>
        <p:nvSpPr>
          <p:cNvPr id="34" name="Text 32"/>
          <p:cNvSpPr/>
          <p:nvPr/>
        </p:nvSpPr>
        <p:spPr>
          <a:xfrm>
            <a:off x="6256883" y="2606278"/>
            <a:ext cx="2465612" cy="355402"/>
          </a:xfrm>
          <a:prstGeom prst="rect">
            <a:avLst/>
          </a:prstGeom>
          <a:noFill/>
          <a:ln/>
        </p:spPr>
        <p:txBody>
          <a:bodyPr wrap="square" lIns="0" tIns="0" rIns="0" bIns="0" rtlCol="0" anchor="t"/>
          <a:lstStyle/>
          <a:p>
            <a:pPr algn="l" indent="0" marL="0">
              <a:lnSpc>
                <a:spcPts val="1400"/>
              </a:lnSpc>
              <a:buNone/>
            </a:pPr>
            <a:r>
              <a:rPr lang="en-US" sz="1000" dirty="0">
                <a:solidFill>
                  <a:srgbClr val="E0E5FF"/>
                </a:solidFill>
                <a:latin typeface="Arial" pitchFamily="34" charset="0"/>
                <a:ea typeface="Arial" pitchFamily="34" charset="-122"/>
                <a:cs typeface="Arial" pitchFamily="34" charset="-120"/>
              </a:rPr>
              <a:t>Decorator-based API: ~50 LOC vs 150+ in TypeScript</a:t>
            </a:r>
            <a:endParaRPr lang="en-US" sz="1000" dirty="0"/>
          </a:p>
        </p:txBody>
      </p:sp>
      <p:sp>
        <p:nvSpPr>
          <p:cNvPr id="35" name="Text 33"/>
          <p:cNvSpPr/>
          <p:nvPr/>
        </p:nvSpPr>
        <p:spPr>
          <a:xfrm>
            <a:off x="0" y="4727674"/>
            <a:ext cx="9144000" cy="415826"/>
          </a:xfrm>
          <a:prstGeom prst="rect">
            <a:avLst/>
          </a:prstGeom>
          <a:solidFill>
            <a:srgbClr val="F8F9FF"/>
          </a:solidFill>
          <a:ln/>
        </p:spPr>
        <p:txBody>
          <a:bodyPr wrap="square" rtlCol="0" anchor="ctr"/>
          <a:lstStyle/>
          <a:p>
            <a:pPr indent="0" marL="0">
              <a:buNone/>
            </a:pPr>
            <a:endParaRPr lang="en-US" dirty="0"/>
          </a:p>
        </p:txBody>
      </p:sp>
      <p:sp>
        <p:nvSpPr>
          <p:cNvPr id="36" name="Shape 34"/>
          <p:cNvSpPr/>
          <p:nvPr/>
        </p:nvSpPr>
        <p:spPr>
          <a:xfrm>
            <a:off x="0" y="4737199"/>
            <a:ext cx="9144000" cy="0"/>
          </a:xfrm>
          <a:prstGeom prst="line">
            <a:avLst/>
          </a:prstGeom>
          <a:noFill/>
          <a:ln w="19050">
            <a:solidFill>
              <a:srgbClr val="667EEA"/>
            </a:solidFill>
            <a:prstDash val="solid"/>
          </a:ln>
        </p:spPr>
      </p:sp>
      <p:sp>
        <p:nvSpPr>
          <p:cNvPr id="37" name="Text 35"/>
          <p:cNvSpPr/>
          <p:nvPr/>
        </p:nvSpPr>
        <p:spPr>
          <a:xfrm>
            <a:off x="317450" y="4873675"/>
            <a:ext cx="8679281" cy="142875"/>
          </a:xfrm>
          <a:prstGeom prst="rect">
            <a:avLst/>
          </a:prstGeom>
          <a:noFill/>
          <a:ln/>
        </p:spPr>
        <p:txBody>
          <a:bodyPr wrap="square" lIns="0" tIns="0" rIns="0" bIns="0" rtlCol="0" anchor="t"/>
          <a:lstStyle/>
          <a:p>
            <a:pPr algn="l" indent="0" marL="0">
              <a:buNone/>
            </a:pPr>
            <a:r>
              <a:rPr lang="en-US" sz="1000" i="1" dirty="0">
                <a:solidFill>
                  <a:srgbClr val="555555"/>
                </a:solidFill>
                <a:latin typeface="Arial" pitchFamily="34" charset="0"/>
                <a:ea typeface="Arial" pitchFamily="34" charset="-122"/>
                <a:cs typeface="Arial" pitchFamily="34" charset="-120"/>
              </a:rPr>
              <a:t>"Keep it simple." - The irony: FastMCP decorators ARE the simple solution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19125"/>
          </a:xfrm>
          <a:prstGeom prst="rect">
            <a:avLst/>
          </a:prstGeom>
          <a:solidFill>
            <a:srgbClr val="F0F4FF"/>
          </a:solidFill>
          <a:ln/>
        </p:spPr>
        <p:txBody>
          <a:bodyPr wrap="square" rtlCol="0" anchor="ctr"/>
          <a:lstStyle/>
          <a:p>
            <a:pPr indent="0" marL="0">
              <a:buNone/>
            </a:pPr>
            <a:endParaRPr lang="en-US" dirty="0"/>
          </a:p>
        </p:txBody>
      </p:sp>
      <p:sp>
        <p:nvSpPr>
          <p:cNvPr id="3" name="Shape 1"/>
          <p:cNvSpPr/>
          <p:nvPr/>
        </p:nvSpPr>
        <p:spPr>
          <a:xfrm>
            <a:off x="0" y="609600"/>
            <a:ext cx="9144000" cy="0"/>
          </a:xfrm>
          <a:prstGeom prst="line">
            <a:avLst/>
          </a:prstGeom>
          <a:noFill/>
          <a:ln w="19050">
            <a:solidFill>
              <a:srgbClr val="667EEA"/>
            </a:solidFill>
            <a:prstDash val="solid"/>
          </a:ln>
        </p:spPr>
      </p:sp>
      <p:sp>
        <p:nvSpPr>
          <p:cNvPr id="4" name="Text 2"/>
          <p:cNvSpPr/>
          <p:nvPr/>
        </p:nvSpPr>
        <p:spPr>
          <a:xfrm>
            <a:off x="317450" y="152400"/>
            <a:ext cx="3521869" cy="295275"/>
          </a:xfrm>
          <a:prstGeom prst="rect">
            <a:avLst/>
          </a:prstGeom>
          <a:noFill/>
          <a:ln/>
        </p:spPr>
        <p:txBody>
          <a:bodyPr wrap="square" lIns="0" tIns="0" rIns="0" bIns="0" rtlCol="0" anchor="t"/>
          <a:lstStyle/>
          <a:p>
            <a:pPr algn="l" indent="0" marL="0">
              <a:buNone/>
            </a:pPr>
            <a:r>
              <a:rPr lang="en-US" sz="2000" b="1" dirty="0">
                <a:solidFill>
                  <a:srgbClr val="1A1A2E"/>
                </a:solidFill>
                <a:latin typeface="Arial" pitchFamily="34" charset="0"/>
                <a:ea typeface="Arial" pitchFamily="34" charset="-122"/>
                <a:cs typeface="Arial" pitchFamily="34" charset="-120"/>
              </a:rPr>
              <a:t>Technical Stack Comparison</a:t>
            </a:r>
            <a:endParaRPr lang="en-US" sz="2000" dirty="0"/>
          </a:p>
        </p:txBody>
      </p:sp>
      <p:sp>
        <p:nvSpPr>
          <p:cNvPr id="5" name="Text 3"/>
          <p:cNvSpPr/>
          <p:nvPr/>
        </p:nvSpPr>
        <p:spPr>
          <a:xfrm>
            <a:off x="7558980" y="233362"/>
            <a:ext cx="1292921" cy="133350"/>
          </a:xfrm>
          <a:prstGeom prst="rect">
            <a:avLst/>
          </a:prstGeom>
          <a:noFill/>
          <a:ln/>
        </p:spPr>
        <p:txBody>
          <a:bodyPr wrap="square" lIns="0" tIns="0" rIns="0" bIns="0" rtlCol="0" anchor="t"/>
          <a:lstStyle/>
          <a:p>
            <a:pPr algn="l" indent="0" marL="0">
              <a:buNone/>
            </a:pPr>
            <a:r>
              <a:rPr lang="en-US" sz="900" dirty="0">
                <a:solidFill>
                  <a:srgbClr val="667EEA"/>
                </a:solidFill>
                <a:latin typeface="Arial" pitchFamily="34" charset="0"/>
                <a:ea typeface="Arial" pitchFamily="34" charset="-122"/>
                <a:cs typeface="Arial" pitchFamily="34" charset="-120"/>
              </a:rPr>
              <a:t>Green = Best in category</a:t>
            </a:r>
            <a:endParaRPr lang="en-US" sz="900" dirty="0"/>
          </a:p>
        </p:txBody>
      </p:sp>
      <p:sp>
        <p:nvSpPr>
          <p:cNvPr id="6" name="Text 4"/>
          <p:cNvSpPr/>
          <p:nvPr/>
        </p:nvSpPr>
        <p:spPr>
          <a:xfrm>
            <a:off x="317450" y="809625"/>
            <a:ext cx="8509099" cy="320576"/>
          </a:xfrm>
          <a:prstGeom prst="roundRect">
            <a:avLst>
              <a:gd name="adj" fmla="val 23770"/>
            </a:avLst>
          </a:prstGeom>
          <a:solidFill>
            <a:srgbClr val="667EEA"/>
          </a:solidFill>
          <a:ln/>
        </p:spPr>
        <p:txBody>
          <a:bodyPr wrap="square" rtlCol="0" anchor="ctr"/>
          <a:lstStyle/>
          <a:p>
            <a:pPr indent="0" marL="0">
              <a:buNone/>
            </a:pPr>
            <a:endParaRPr lang="en-US" dirty="0"/>
          </a:p>
        </p:txBody>
      </p:sp>
      <p:sp>
        <p:nvSpPr>
          <p:cNvPr id="7" name="Shape 5"/>
          <p:cNvSpPr/>
          <p:nvPr/>
        </p:nvSpPr>
        <p:spPr>
          <a:xfrm>
            <a:off x="317450" y="1125438"/>
            <a:ext cx="8509099" cy="0"/>
          </a:xfrm>
          <a:prstGeom prst="line">
            <a:avLst/>
          </a:prstGeom>
          <a:noFill/>
          <a:ln w="9525">
            <a:solidFill>
              <a:srgbClr val="E0E5F0"/>
            </a:solidFill>
            <a:prstDash val="solid"/>
          </a:ln>
        </p:spPr>
      </p:sp>
      <p:sp>
        <p:nvSpPr>
          <p:cNvPr id="8" name="Text 6"/>
          <p:cNvSpPr/>
          <p:nvPr/>
        </p:nvSpPr>
        <p:spPr>
          <a:xfrm>
            <a:off x="317450" y="809625"/>
            <a:ext cx="2532608" cy="311051"/>
          </a:xfrm>
          <a:prstGeom prst="rect">
            <a:avLst/>
          </a:prstGeom>
          <a:solidFill>
            <a:srgbClr val="F0F4FF"/>
          </a:solidFill>
          <a:ln/>
        </p:spPr>
        <p:txBody>
          <a:bodyPr wrap="square" rtlCol="0" anchor="ctr"/>
          <a:lstStyle/>
          <a:p>
            <a:pPr indent="0" marL="0">
              <a:buNone/>
            </a:pPr>
            <a:endParaRPr lang="en-US" dirty="0"/>
          </a:p>
        </p:txBody>
      </p:sp>
      <p:sp>
        <p:nvSpPr>
          <p:cNvPr id="9" name="Shape 7"/>
          <p:cNvSpPr/>
          <p:nvPr/>
        </p:nvSpPr>
        <p:spPr>
          <a:xfrm>
            <a:off x="2840534" y="809625"/>
            <a:ext cx="0" cy="311051"/>
          </a:xfrm>
          <a:prstGeom prst="line">
            <a:avLst/>
          </a:prstGeom>
          <a:noFill/>
          <a:ln w="19050">
            <a:solidFill>
              <a:srgbClr val="667EEA"/>
            </a:solidFill>
            <a:prstDash val="solid"/>
          </a:ln>
        </p:spPr>
      </p:sp>
      <p:sp>
        <p:nvSpPr>
          <p:cNvPr id="10" name="Text 8"/>
          <p:cNvSpPr/>
          <p:nvPr/>
        </p:nvSpPr>
        <p:spPr>
          <a:xfrm>
            <a:off x="444401" y="898475"/>
            <a:ext cx="2304851"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Aspect</a:t>
            </a:r>
            <a:endParaRPr lang="en-US" sz="900" dirty="0"/>
          </a:p>
        </p:txBody>
      </p:sp>
      <p:sp>
        <p:nvSpPr>
          <p:cNvPr id="11" name="Text 9"/>
          <p:cNvSpPr/>
          <p:nvPr/>
        </p:nvSpPr>
        <p:spPr>
          <a:xfrm>
            <a:off x="2977009" y="898475"/>
            <a:ext cx="1773079"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Python FastMCP</a:t>
            </a:r>
            <a:endParaRPr lang="en-US" sz="900" dirty="0"/>
          </a:p>
        </p:txBody>
      </p:sp>
      <p:sp>
        <p:nvSpPr>
          <p:cNvPr id="12" name="Text 10"/>
          <p:cNvSpPr/>
          <p:nvPr/>
        </p:nvSpPr>
        <p:spPr>
          <a:xfrm>
            <a:off x="4969222" y="898475"/>
            <a:ext cx="1773079"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TypeScript SDK</a:t>
            </a:r>
            <a:endParaRPr lang="en-US" sz="900" dirty="0"/>
          </a:p>
        </p:txBody>
      </p:sp>
      <p:sp>
        <p:nvSpPr>
          <p:cNvPr id="13" name="Text 11"/>
          <p:cNvSpPr/>
          <p:nvPr/>
        </p:nvSpPr>
        <p:spPr>
          <a:xfrm>
            <a:off x="6961436" y="898475"/>
            <a:ext cx="1773079"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Go SDK</a:t>
            </a:r>
            <a:endParaRPr lang="en-US" sz="900" dirty="0"/>
          </a:p>
        </p:txBody>
      </p:sp>
      <p:sp>
        <p:nvSpPr>
          <p:cNvPr id="14" name="Shape 12"/>
          <p:cNvSpPr/>
          <p:nvPr/>
        </p:nvSpPr>
        <p:spPr>
          <a:xfrm>
            <a:off x="317450" y="1446014"/>
            <a:ext cx="8509099" cy="0"/>
          </a:xfrm>
          <a:prstGeom prst="line">
            <a:avLst/>
          </a:prstGeom>
          <a:noFill/>
          <a:ln w="9525">
            <a:solidFill>
              <a:srgbClr val="E0E5F0"/>
            </a:solidFill>
            <a:prstDash val="solid"/>
          </a:ln>
        </p:spPr>
      </p:sp>
      <p:sp>
        <p:nvSpPr>
          <p:cNvPr id="15" name="Text 13"/>
          <p:cNvSpPr/>
          <p:nvPr/>
        </p:nvSpPr>
        <p:spPr>
          <a:xfrm>
            <a:off x="317450" y="1130201"/>
            <a:ext cx="2532608" cy="311051"/>
          </a:xfrm>
          <a:prstGeom prst="rect">
            <a:avLst/>
          </a:prstGeom>
          <a:solidFill>
            <a:srgbClr val="F0F4FF"/>
          </a:solidFill>
          <a:ln/>
        </p:spPr>
        <p:txBody>
          <a:bodyPr wrap="square" rtlCol="0" anchor="ctr"/>
          <a:lstStyle/>
          <a:p>
            <a:pPr indent="0" marL="0">
              <a:buNone/>
            </a:pPr>
            <a:endParaRPr lang="en-US" dirty="0"/>
          </a:p>
        </p:txBody>
      </p:sp>
      <p:sp>
        <p:nvSpPr>
          <p:cNvPr id="16" name="Shape 14"/>
          <p:cNvSpPr/>
          <p:nvPr/>
        </p:nvSpPr>
        <p:spPr>
          <a:xfrm>
            <a:off x="2840534" y="1130201"/>
            <a:ext cx="0" cy="311051"/>
          </a:xfrm>
          <a:prstGeom prst="line">
            <a:avLst/>
          </a:prstGeom>
          <a:noFill/>
          <a:ln w="19050">
            <a:solidFill>
              <a:srgbClr val="667EEA"/>
            </a:solidFill>
            <a:prstDash val="solid"/>
          </a:ln>
        </p:spPr>
      </p:sp>
      <p:sp>
        <p:nvSpPr>
          <p:cNvPr id="17" name="Text 15"/>
          <p:cNvSpPr/>
          <p:nvPr/>
        </p:nvSpPr>
        <p:spPr>
          <a:xfrm>
            <a:off x="444401" y="1219051"/>
            <a:ext cx="2304851" cy="133350"/>
          </a:xfrm>
          <a:prstGeom prst="rect">
            <a:avLst/>
          </a:prstGeom>
          <a:noFill/>
          <a:ln/>
        </p:spPr>
        <p:txBody>
          <a:bodyPr wrap="square" lIns="0" tIns="0" rIns="0" bIns="0" rtlCol="0" anchor="t"/>
          <a:lstStyle/>
          <a:p>
            <a:pPr algn="l" indent="0" marL="0">
              <a:buNone/>
            </a:pPr>
            <a:r>
              <a:rPr lang="en-US" sz="900" b="1" dirty="0">
                <a:solidFill>
                  <a:srgbClr val="1A1A2E"/>
                </a:solidFill>
                <a:latin typeface="Arial" pitchFamily="34" charset="0"/>
                <a:ea typeface="Arial" pitchFamily="34" charset="-122"/>
                <a:cs typeface="Arial" pitchFamily="34" charset="-120"/>
              </a:rPr>
              <a:t>Setup Complexity</a:t>
            </a:r>
            <a:endParaRPr lang="en-US" sz="900" dirty="0"/>
          </a:p>
        </p:txBody>
      </p:sp>
      <p:sp>
        <p:nvSpPr>
          <p:cNvPr id="18" name="Text 16"/>
          <p:cNvSpPr/>
          <p:nvPr/>
        </p:nvSpPr>
        <p:spPr>
          <a:xfrm>
            <a:off x="2850059" y="1130201"/>
            <a:ext cx="1992213" cy="311051"/>
          </a:xfrm>
          <a:prstGeom prst="rect">
            <a:avLst/>
          </a:prstGeom>
          <a:solidFill>
            <a:srgbClr val="E8F5E9"/>
          </a:solidFill>
          <a:ln/>
        </p:spPr>
        <p:txBody>
          <a:bodyPr wrap="square" rtlCol="0" anchor="ctr"/>
          <a:lstStyle/>
          <a:p>
            <a:pPr indent="0" marL="0">
              <a:buNone/>
            </a:pPr>
            <a:endParaRPr lang="en-US" dirty="0"/>
          </a:p>
        </p:txBody>
      </p:sp>
      <p:sp>
        <p:nvSpPr>
          <p:cNvPr id="19" name="Text 17"/>
          <p:cNvSpPr/>
          <p:nvPr/>
        </p:nvSpPr>
        <p:spPr>
          <a:xfrm>
            <a:off x="2977009" y="1219051"/>
            <a:ext cx="1773079" cy="133350"/>
          </a:xfrm>
          <a:prstGeom prst="rect">
            <a:avLst/>
          </a:prstGeom>
          <a:noFill/>
          <a:ln/>
        </p:spPr>
        <p:txBody>
          <a:bodyPr wrap="square" lIns="0" tIns="0" rIns="0" bIns="0" rtlCol="0" anchor="t"/>
          <a:lstStyle/>
          <a:p>
            <a:pPr algn="l" indent="0" marL="0">
              <a:buNone/>
            </a:pPr>
            <a:r>
              <a:rPr lang="en-US" sz="900" dirty="0">
                <a:solidFill>
                  <a:srgbClr val="2E7D32"/>
                </a:solidFill>
                <a:latin typeface="Arial" pitchFamily="34" charset="0"/>
                <a:ea typeface="Arial" pitchFamily="34" charset="-122"/>
                <a:cs typeface="Arial" pitchFamily="34" charset="-120"/>
              </a:rPr>
              <a:t>Low (pip install)</a:t>
            </a:r>
            <a:endParaRPr lang="en-US" sz="900" dirty="0"/>
          </a:p>
        </p:txBody>
      </p:sp>
      <p:sp>
        <p:nvSpPr>
          <p:cNvPr id="20" name="Text 18"/>
          <p:cNvSpPr/>
          <p:nvPr/>
        </p:nvSpPr>
        <p:spPr>
          <a:xfrm>
            <a:off x="4969222" y="1219051"/>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Medium (npm + build)</a:t>
            </a:r>
            <a:endParaRPr lang="en-US" sz="900" dirty="0"/>
          </a:p>
        </p:txBody>
      </p:sp>
      <p:sp>
        <p:nvSpPr>
          <p:cNvPr id="21" name="Text 19"/>
          <p:cNvSpPr/>
          <p:nvPr/>
        </p:nvSpPr>
        <p:spPr>
          <a:xfrm>
            <a:off x="6961436" y="1219051"/>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Medium (go mod)</a:t>
            </a:r>
            <a:endParaRPr lang="en-US" sz="900" dirty="0"/>
          </a:p>
        </p:txBody>
      </p:sp>
      <p:sp>
        <p:nvSpPr>
          <p:cNvPr id="22" name="Text 20"/>
          <p:cNvSpPr/>
          <p:nvPr/>
        </p:nvSpPr>
        <p:spPr>
          <a:xfrm>
            <a:off x="317450" y="1450777"/>
            <a:ext cx="8509099" cy="320576"/>
          </a:xfrm>
          <a:prstGeom prst="rect">
            <a:avLst/>
          </a:prstGeom>
          <a:solidFill>
            <a:srgbClr val="FAFBFF"/>
          </a:solidFill>
          <a:ln/>
        </p:spPr>
        <p:txBody>
          <a:bodyPr wrap="square" rtlCol="0" anchor="ctr"/>
          <a:lstStyle/>
          <a:p>
            <a:pPr indent="0" marL="0">
              <a:buNone/>
            </a:pPr>
            <a:endParaRPr lang="en-US" dirty="0"/>
          </a:p>
        </p:txBody>
      </p:sp>
      <p:sp>
        <p:nvSpPr>
          <p:cNvPr id="23" name="Shape 21"/>
          <p:cNvSpPr/>
          <p:nvPr/>
        </p:nvSpPr>
        <p:spPr>
          <a:xfrm>
            <a:off x="317450" y="1766590"/>
            <a:ext cx="8509099" cy="0"/>
          </a:xfrm>
          <a:prstGeom prst="line">
            <a:avLst/>
          </a:prstGeom>
          <a:noFill/>
          <a:ln w="9525">
            <a:solidFill>
              <a:srgbClr val="E0E5F0"/>
            </a:solidFill>
            <a:prstDash val="solid"/>
          </a:ln>
        </p:spPr>
      </p:sp>
      <p:sp>
        <p:nvSpPr>
          <p:cNvPr id="24" name="Text 22"/>
          <p:cNvSpPr/>
          <p:nvPr/>
        </p:nvSpPr>
        <p:spPr>
          <a:xfrm>
            <a:off x="317450" y="1450777"/>
            <a:ext cx="2532608" cy="311051"/>
          </a:xfrm>
          <a:prstGeom prst="rect">
            <a:avLst/>
          </a:prstGeom>
          <a:solidFill>
            <a:srgbClr val="F0F4FF"/>
          </a:solidFill>
          <a:ln/>
        </p:spPr>
        <p:txBody>
          <a:bodyPr wrap="square" rtlCol="0" anchor="ctr"/>
          <a:lstStyle/>
          <a:p>
            <a:pPr indent="0" marL="0">
              <a:buNone/>
            </a:pPr>
            <a:endParaRPr lang="en-US" dirty="0"/>
          </a:p>
        </p:txBody>
      </p:sp>
      <p:sp>
        <p:nvSpPr>
          <p:cNvPr id="25" name="Shape 23"/>
          <p:cNvSpPr/>
          <p:nvPr/>
        </p:nvSpPr>
        <p:spPr>
          <a:xfrm>
            <a:off x="2840534" y="1450777"/>
            <a:ext cx="0" cy="311051"/>
          </a:xfrm>
          <a:prstGeom prst="line">
            <a:avLst/>
          </a:prstGeom>
          <a:noFill/>
          <a:ln w="19050">
            <a:solidFill>
              <a:srgbClr val="667EEA"/>
            </a:solidFill>
            <a:prstDash val="solid"/>
          </a:ln>
        </p:spPr>
      </p:sp>
      <p:sp>
        <p:nvSpPr>
          <p:cNvPr id="26" name="Text 24"/>
          <p:cNvSpPr/>
          <p:nvPr/>
        </p:nvSpPr>
        <p:spPr>
          <a:xfrm>
            <a:off x="444401" y="1539627"/>
            <a:ext cx="2304851" cy="133350"/>
          </a:xfrm>
          <a:prstGeom prst="rect">
            <a:avLst/>
          </a:prstGeom>
          <a:noFill/>
          <a:ln/>
        </p:spPr>
        <p:txBody>
          <a:bodyPr wrap="square" lIns="0" tIns="0" rIns="0" bIns="0" rtlCol="0" anchor="t"/>
          <a:lstStyle/>
          <a:p>
            <a:pPr algn="l" indent="0" marL="0">
              <a:buNone/>
            </a:pPr>
            <a:r>
              <a:rPr lang="en-US" sz="900" b="1" dirty="0">
                <a:solidFill>
                  <a:srgbClr val="1A1A2E"/>
                </a:solidFill>
                <a:latin typeface="Arial" pitchFamily="34" charset="0"/>
                <a:ea typeface="Arial" pitchFamily="34" charset="-122"/>
                <a:cs typeface="Arial" pitchFamily="34" charset="-120"/>
              </a:rPr>
              <a:t>Lines of Code</a:t>
            </a:r>
            <a:endParaRPr lang="en-US" sz="900" dirty="0"/>
          </a:p>
        </p:txBody>
      </p:sp>
      <p:sp>
        <p:nvSpPr>
          <p:cNvPr id="27" name="Text 25"/>
          <p:cNvSpPr/>
          <p:nvPr/>
        </p:nvSpPr>
        <p:spPr>
          <a:xfrm>
            <a:off x="2850059" y="1450777"/>
            <a:ext cx="1992213" cy="311051"/>
          </a:xfrm>
          <a:prstGeom prst="rect">
            <a:avLst/>
          </a:prstGeom>
          <a:solidFill>
            <a:srgbClr val="E8F5E9"/>
          </a:solidFill>
          <a:ln/>
        </p:spPr>
        <p:txBody>
          <a:bodyPr wrap="square" rtlCol="0" anchor="ctr"/>
          <a:lstStyle/>
          <a:p>
            <a:pPr indent="0" marL="0">
              <a:buNone/>
            </a:pPr>
            <a:endParaRPr lang="en-US" dirty="0"/>
          </a:p>
        </p:txBody>
      </p:sp>
      <p:sp>
        <p:nvSpPr>
          <p:cNvPr id="28" name="Text 26"/>
          <p:cNvSpPr/>
          <p:nvPr/>
        </p:nvSpPr>
        <p:spPr>
          <a:xfrm>
            <a:off x="2977009" y="1539627"/>
            <a:ext cx="1773079" cy="133350"/>
          </a:xfrm>
          <a:prstGeom prst="rect">
            <a:avLst/>
          </a:prstGeom>
          <a:noFill/>
          <a:ln/>
        </p:spPr>
        <p:txBody>
          <a:bodyPr wrap="square" lIns="0" tIns="0" rIns="0" bIns="0" rtlCol="0" anchor="t"/>
          <a:lstStyle/>
          <a:p>
            <a:pPr algn="l" indent="0" marL="0">
              <a:buNone/>
            </a:pPr>
            <a:r>
              <a:rPr lang="en-US" sz="900" dirty="0">
                <a:solidFill>
                  <a:srgbClr val="2E7D32"/>
                </a:solidFill>
                <a:latin typeface="Arial" pitchFamily="34" charset="0"/>
                <a:ea typeface="Arial" pitchFamily="34" charset="-122"/>
                <a:cs typeface="Arial" pitchFamily="34" charset="-120"/>
              </a:rPr>
              <a:t>~50 LOC</a:t>
            </a:r>
            <a:endParaRPr lang="en-US" sz="900" dirty="0"/>
          </a:p>
        </p:txBody>
      </p:sp>
      <p:sp>
        <p:nvSpPr>
          <p:cNvPr id="29" name="Text 27"/>
          <p:cNvSpPr/>
          <p:nvPr/>
        </p:nvSpPr>
        <p:spPr>
          <a:xfrm>
            <a:off x="4969222" y="1539627"/>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~100-150 LOC</a:t>
            </a:r>
            <a:endParaRPr lang="en-US" sz="900" dirty="0"/>
          </a:p>
        </p:txBody>
      </p:sp>
      <p:sp>
        <p:nvSpPr>
          <p:cNvPr id="30" name="Text 28"/>
          <p:cNvSpPr/>
          <p:nvPr/>
        </p:nvSpPr>
        <p:spPr>
          <a:xfrm>
            <a:off x="6961436" y="1539627"/>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~200 LOC</a:t>
            </a:r>
            <a:endParaRPr lang="en-US" sz="900" dirty="0"/>
          </a:p>
        </p:txBody>
      </p:sp>
      <p:sp>
        <p:nvSpPr>
          <p:cNvPr id="31" name="Shape 29"/>
          <p:cNvSpPr/>
          <p:nvPr/>
        </p:nvSpPr>
        <p:spPr>
          <a:xfrm>
            <a:off x="317450" y="2087166"/>
            <a:ext cx="8509099" cy="0"/>
          </a:xfrm>
          <a:prstGeom prst="line">
            <a:avLst/>
          </a:prstGeom>
          <a:noFill/>
          <a:ln w="9525">
            <a:solidFill>
              <a:srgbClr val="E0E5F0"/>
            </a:solidFill>
            <a:prstDash val="solid"/>
          </a:ln>
        </p:spPr>
      </p:sp>
      <p:sp>
        <p:nvSpPr>
          <p:cNvPr id="32" name="Text 30"/>
          <p:cNvSpPr/>
          <p:nvPr/>
        </p:nvSpPr>
        <p:spPr>
          <a:xfrm>
            <a:off x="317450" y="1771352"/>
            <a:ext cx="2532608" cy="311051"/>
          </a:xfrm>
          <a:prstGeom prst="rect">
            <a:avLst/>
          </a:prstGeom>
          <a:solidFill>
            <a:srgbClr val="F0F4FF"/>
          </a:solidFill>
          <a:ln/>
        </p:spPr>
        <p:txBody>
          <a:bodyPr wrap="square" rtlCol="0" anchor="ctr"/>
          <a:lstStyle/>
          <a:p>
            <a:pPr indent="0" marL="0">
              <a:buNone/>
            </a:pPr>
            <a:endParaRPr lang="en-US" dirty="0"/>
          </a:p>
        </p:txBody>
      </p:sp>
      <p:sp>
        <p:nvSpPr>
          <p:cNvPr id="33" name="Shape 31"/>
          <p:cNvSpPr/>
          <p:nvPr/>
        </p:nvSpPr>
        <p:spPr>
          <a:xfrm>
            <a:off x="2840534" y="1771352"/>
            <a:ext cx="0" cy="311051"/>
          </a:xfrm>
          <a:prstGeom prst="line">
            <a:avLst/>
          </a:prstGeom>
          <a:noFill/>
          <a:ln w="19050">
            <a:solidFill>
              <a:srgbClr val="667EEA"/>
            </a:solidFill>
            <a:prstDash val="solid"/>
          </a:ln>
        </p:spPr>
      </p:sp>
      <p:sp>
        <p:nvSpPr>
          <p:cNvPr id="34" name="Text 32"/>
          <p:cNvSpPr/>
          <p:nvPr/>
        </p:nvSpPr>
        <p:spPr>
          <a:xfrm>
            <a:off x="444401" y="1860203"/>
            <a:ext cx="2304851" cy="133350"/>
          </a:xfrm>
          <a:prstGeom prst="rect">
            <a:avLst/>
          </a:prstGeom>
          <a:noFill/>
          <a:ln/>
        </p:spPr>
        <p:txBody>
          <a:bodyPr wrap="square" lIns="0" tIns="0" rIns="0" bIns="0" rtlCol="0" anchor="t"/>
          <a:lstStyle/>
          <a:p>
            <a:pPr algn="l" indent="0" marL="0">
              <a:buNone/>
            </a:pPr>
            <a:r>
              <a:rPr lang="en-US" sz="900" b="1" dirty="0">
                <a:solidFill>
                  <a:srgbClr val="1A1A2E"/>
                </a:solidFill>
                <a:latin typeface="Arial" pitchFamily="34" charset="0"/>
                <a:ea typeface="Arial" pitchFamily="34" charset="-122"/>
                <a:cs typeface="Arial" pitchFamily="34" charset="-120"/>
              </a:rPr>
              <a:t>Type Safety</a:t>
            </a:r>
            <a:endParaRPr lang="en-US" sz="900" dirty="0"/>
          </a:p>
        </p:txBody>
      </p:sp>
      <p:sp>
        <p:nvSpPr>
          <p:cNvPr id="35" name="Text 33"/>
          <p:cNvSpPr/>
          <p:nvPr/>
        </p:nvSpPr>
        <p:spPr>
          <a:xfrm>
            <a:off x="2977009" y="1860203"/>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Runtime (Pydantic)</a:t>
            </a:r>
            <a:endParaRPr lang="en-US" sz="900" dirty="0"/>
          </a:p>
        </p:txBody>
      </p:sp>
      <p:sp>
        <p:nvSpPr>
          <p:cNvPr id="36" name="Text 34"/>
          <p:cNvSpPr/>
          <p:nvPr/>
        </p:nvSpPr>
        <p:spPr>
          <a:xfrm>
            <a:off x="4842272" y="1771352"/>
            <a:ext cx="1992213" cy="311051"/>
          </a:xfrm>
          <a:prstGeom prst="rect">
            <a:avLst/>
          </a:prstGeom>
          <a:solidFill>
            <a:srgbClr val="E8F5E9"/>
          </a:solidFill>
          <a:ln/>
        </p:spPr>
        <p:txBody>
          <a:bodyPr wrap="square" rtlCol="0" anchor="ctr"/>
          <a:lstStyle/>
          <a:p>
            <a:pPr indent="0" marL="0">
              <a:buNone/>
            </a:pPr>
            <a:endParaRPr lang="en-US" dirty="0"/>
          </a:p>
        </p:txBody>
      </p:sp>
      <p:sp>
        <p:nvSpPr>
          <p:cNvPr id="37" name="Text 35"/>
          <p:cNvSpPr/>
          <p:nvPr/>
        </p:nvSpPr>
        <p:spPr>
          <a:xfrm>
            <a:off x="4969222" y="1860203"/>
            <a:ext cx="1773079" cy="133350"/>
          </a:xfrm>
          <a:prstGeom prst="rect">
            <a:avLst/>
          </a:prstGeom>
          <a:noFill/>
          <a:ln/>
        </p:spPr>
        <p:txBody>
          <a:bodyPr wrap="square" lIns="0" tIns="0" rIns="0" bIns="0" rtlCol="0" anchor="t"/>
          <a:lstStyle/>
          <a:p>
            <a:pPr algn="l" indent="0" marL="0">
              <a:buNone/>
            </a:pPr>
            <a:r>
              <a:rPr lang="en-US" sz="900" dirty="0">
                <a:solidFill>
                  <a:srgbClr val="2E7D32"/>
                </a:solidFill>
                <a:latin typeface="Arial" pitchFamily="34" charset="0"/>
                <a:ea typeface="Arial" pitchFamily="34" charset="-122"/>
                <a:cs typeface="Arial" pitchFamily="34" charset="-120"/>
              </a:rPr>
              <a:t>Compile-time</a:t>
            </a:r>
            <a:endParaRPr lang="en-US" sz="900" dirty="0"/>
          </a:p>
        </p:txBody>
      </p:sp>
      <p:sp>
        <p:nvSpPr>
          <p:cNvPr id="38" name="Text 36"/>
          <p:cNvSpPr/>
          <p:nvPr/>
        </p:nvSpPr>
        <p:spPr>
          <a:xfrm>
            <a:off x="6834485" y="1771352"/>
            <a:ext cx="1992213" cy="311051"/>
          </a:xfrm>
          <a:prstGeom prst="rect">
            <a:avLst/>
          </a:prstGeom>
          <a:solidFill>
            <a:srgbClr val="E8F5E9"/>
          </a:solidFill>
          <a:ln/>
        </p:spPr>
        <p:txBody>
          <a:bodyPr wrap="square" rtlCol="0" anchor="ctr"/>
          <a:lstStyle/>
          <a:p>
            <a:pPr indent="0" marL="0">
              <a:buNone/>
            </a:pPr>
            <a:endParaRPr lang="en-US" dirty="0"/>
          </a:p>
        </p:txBody>
      </p:sp>
      <p:sp>
        <p:nvSpPr>
          <p:cNvPr id="39" name="Text 37"/>
          <p:cNvSpPr/>
          <p:nvPr/>
        </p:nvSpPr>
        <p:spPr>
          <a:xfrm>
            <a:off x="6961436" y="1860203"/>
            <a:ext cx="1773079" cy="133350"/>
          </a:xfrm>
          <a:prstGeom prst="rect">
            <a:avLst/>
          </a:prstGeom>
          <a:noFill/>
          <a:ln/>
        </p:spPr>
        <p:txBody>
          <a:bodyPr wrap="square" lIns="0" tIns="0" rIns="0" bIns="0" rtlCol="0" anchor="t"/>
          <a:lstStyle/>
          <a:p>
            <a:pPr algn="l" indent="0" marL="0">
              <a:buNone/>
            </a:pPr>
            <a:r>
              <a:rPr lang="en-US" sz="900" dirty="0">
                <a:solidFill>
                  <a:srgbClr val="2E7D32"/>
                </a:solidFill>
                <a:latin typeface="Arial" pitchFamily="34" charset="0"/>
                <a:ea typeface="Arial" pitchFamily="34" charset="-122"/>
                <a:cs typeface="Arial" pitchFamily="34" charset="-120"/>
              </a:rPr>
              <a:t>Compile-time</a:t>
            </a:r>
            <a:endParaRPr lang="en-US" sz="900" dirty="0"/>
          </a:p>
        </p:txBody>
      </p:sp>
      <p:sp>
        <p:nvSpPr>
          <p:cNvPr id="40" name="Text 38"/>
          <p:cNvSpPr/>
          <p:nvPr/>
        </p:nvSpPr>
        <p:spPr>
          <a:xfrm>
            <a:off x="317450" y="2091928"/>
            <a:ext cx="8509099" cy="320576"/>
          </a:xfrm>
          <a:prstGeom prst="rect">
            <a:avLst/>
          </a:prstGeom>
          <a:solidFill>
            <a:srgbClr val="FAFBFF"/>
          </a:solidFill>
          <a:ln/>
        </p:spPr>
        <p:txBody>
          <a:bodyPr wrap="square" rtlCol="0" anchor="ctr"/>
          <a:lstStyle/>
          <a:p>
            <a:pPr indent="0" marL="0">
              <a:buNone/>
            </a:pPr>
            <a:endParaRPr lang="en-US" dirty="0"/>
          </a:p>
        </p:txBody>
      </p:sp>
      <p:sp>
        <p:nvSpPr>
          <p:cNvPr id="41" name="Shape 39"/>
          <p:cNvSpPr/>
          <p:nvPr/>
        </p:nvSpPr>
        <p:spPr>
          <a:xfrm>
            <a:off x="317450" y="2407741"/>
            <a:ext cx="8509099" cy="0"/>
          </a:xfrm>
          <a:prstGeom prst="line">
            <a:avLst/>
          </a:prstGeom>
          <a:noFill/>
          <a:ln w="9525">
            <a:solidFill>
              <a:srgbClr val="E0E5F0"/>
            </a:solidFill>
            <a:prstDash val="solid"/>
          </a:ln>
        </p:spPr>
      </p:sp>
      <p:sp>
        <p:nvSpPr>
          <p:cNvPr id="42" name="Text 40"/>
          <p:cNvSpPr/>
          <p:nvPr/>
        </p:nvSpPr>
        <p:spPr>
          <a:xfrm>
            <a:off x="317450" y="2091928"/>
            <a:ext cx="2532608" cy="311051"/>
          </a:xfrm>
          <a:prstGeom prst="rect">
            <a:avLst/>
          </a:prstGeom>
          <a:solidFill>
            <a:srgbClr val="F0F4FF"/>
          </a:solidFill>
          <a:ln/>
        </p:spPr>
        <p:txBody>
          <a:bodyPr wrap="square" rtlCol="0" anchor="ctr"/>
          <a:lstStyle/>
          <a:p>
            <a:pPr indent="0" marL="0">
              <a:buNone/>
            </a:pPr>
            <a:endParaRPr lang="en-US" dirty="0"/>
          </a:p>
        </p:txBody>
      </p:sp>
      <p:sp>
        <p:nvSpPr>
          <p:cNvPr id="43" name="Shape 41"/>
          <p:cNvSpPr/>
          <p:nvPr/>
        </p:nvSpPr>
        <p:spPr>
          <a:xfrm>
            <a:off x="2840534" y="2091928"/>
            <a:ext cx="0" cy="311051"/>
          </a:xfrm>
          <a:prstGeom prst="line">
            <a:avLst/>
          </a:prstGeom>
          <a:noFill/>
          <a:ln w="19050">
            <a:solidFill>
              <a:srgbClr val="667EEA"/>
            </a:solidFill>
            <a:prstDash val="solid"/>
          </a:ln>
        </p:spPr>
      </p:sp>
      <p:sp>
        <p:nvSpPr>
          <p:cNvPr id="44" name="Text 42"/>
          <p:cNvSpPr/>
          <p:nvPr/>
        </p:nvSpPr>
        <p:spPr>
          <a:xfrm>
            <a:off x="444401" y="2180779"/>
            <a:ext cx="2304851" cy="133350"/>
          </a:xfrm>
          <a:prstGeom prst="rect">
            <a:avLst/>
          </a:prstGeom>
          <a:noFill/>
          <a:ln/>
        </p:spPr>
        <p:txBody>
          <a:bodyPr wrap="square" lIns="0" tIns="0" rIns="0" bIns="0" rtlCol="0" anchor="t"/>
          <a:lstStyle/>
          <a:p>
            <a:pPr algn="l" indent="0" marL="0">
              <a:buNone/>
            </a:pPr>
            <a:r>
              <a:rPr lang="en-US" sz="900" b="1" dirty="0">
                <a:solidFill>
                  <a:srgbClr val="1A1A2E"/>
                </a:solidFill>
                <a:latin typeface="Arial" pitchFamily="34" charset="0"/>
                <a:ea typeface="Arial" pitchFamily="34" charset="-122"/>
                <a:cs typeface="Arial" pitchFamily="34" charset="-120"/>
              </a:rPr>
              <a:t>Cold Start</a:t>
            </a:r>
            <a:endParaRPr lang="en-US" sz="900" dirty="0"/>
          </a:p>
        </p:txBody>
      </p:sp>
      <p:sp>
        <p:nvSpPr>
          <p:cNvPr id="45" name="Text 43"/>
          <p:cNvSpPr/>
          <p:nvPr/>
        </p:nvSpPr>
        <p:spPr>
          <a:xfrm>
            <a:off x="2977009" y="2180779"/>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~200ms</a:t>
            </a:r>
            <a:endParaRPr lang="en-US" sz="900" dirty="0"/>
          </a:p>
        </p:txBody>
      </p:sp>
      <p:sp>
        <p:nvSpPr>
          <p:cNvPr id="46" name="Text 44"/>
          <p:cNvSpPr/>
          <p:nvPr/>
        </p:nvSpPr>
        <p:spPr>
          <a:xfrm>
            <a:off x="4969222" y="2180779"/>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~150ms</a:t>
            </a:r>
            <a:endParaRPr lang="en-US" sz="900" dirty="0"/>
          </a:p>
        </p:txBody>
      </p:sp>
      <p:sp>
        <p:nvSpPr>
          <p:cNvPr id="47" name="Text 45"/>
          <p:cNvSpPr/>
          <p:nvPr/>
        </p:nvSpPr>
        <p:spPr>
          <a:xfrm>
            <a:off x="6834485" y="2091928"/>
            <a:ext cx="1992213" cy="311051"/>
          </a:xfrm>
          <a:prstGeom prst="rect">
            <a:avLst/>
          </a:prstGeom>
          <a:solidFill>
            <a:srgbClr val="E8F5E9"/>
          </a:solidFill>
          <a:ln/>
        </p:spPr>
        <p:txBody>
          <a:bodyPr wrap="square" rtlCol="0" anchor="ctr"/>
          <a:lstStyle/>
          <a:p>
            <a:pPr indent="0" marL="0">
              <a:buNone/>
            </a:pPr>
            <a:endParaRPr lang="en-US" dirty="0"/>
          </a:p>
        </p:txBody>
      </p:sp>
      <p:sp>
        <p:nvSpPr>
          <p:cNvPr id="48" name="Text 46"/>
          <p:cNvSpPr/>
          <p:nvPr/>
        </p:nvSpPr>
        <p:spPr>
          <a:xfrm>
            <a:off x="6961436" y="2180779"/>
            <a:ext cx="1773079" cy="133350"/>
          </a:xfrm>
          <a:prstGeom prst="rect">
            <a:avLst/>
          </a:prstGeom>
          <a:noFill/>
          <a:ln/>
        </p:spPr>
        <p:txBody>
          <a:bodyPr wrap="square" lIns="0" tIns="0" rIns="0" bIns="0" rtlCol="0" anchor="t"/>
          <a:lstStyle/>
          <a:p>
            <a:pPr algn="l" indent="0" marL="0">
              <a:buNone/>
            </a:pPr>
            <a:r>
              <a:rPr lang="en-US" sz="900" dirty="0">
                <a:solidFill>
                  <a:srgbClr val="2E7D32"/>
                </a:solidFill>
                <a:latin typeface="Arial" pitchFamily="34" charset="0"/>
                <a:ea typeface="Arial" pitchFamily="34" charset="-122"/>
                <a:cs typeface="Arial" pitchFamily="34" charset="-120"/>
              </a:rPr>
              <a:t>~50ms</a:t>
            </a:r>
            <a:endParaRPr lang="en-US" sz="900" dirty="0"/>
          </a:p>
        </p:txBody>
      </p:sp>
      <p:sp>
        <p:nvSpPr>
          <p:cNvPr id="49" name="Shape 47"/>
          <p:cNvSpPr/>
          <p:nvPr/>
        </p:nvSpPr>
        <p:spPr>
          <a:xfrm>
            <a:off x="317450" y="2728317"/>
            <a:ext cx="8509099" cy="0"/>
          </a:xfrm>
          <a:prstGeom prst="line">
            <a:avLst/>
          </a:prstGeom>
          <a:noFill/>
          <a:ln w="9525">
            <a:solidFill>
              <a:srgbClr val="E0E5F0"/>
            </a:solidFill>
            <a:prstDash val="solid"/>
          </a:ln>
        </p:spPr>
      </p:sp>
      <p:sp>
        <p:nvSpPr>
          <p:cNvPr id="50" name="Text 48"/>
          <p:cNvSpPr/>
          <p:nvPr/>
        </p:nvSpPr>
        <p:spPr>
          <a:xfrm>
            <a:off x="317450" y="2412504"/>
            <a:ext cx="2532608" cy="311051"/>
          </a:xfrm>
          <a:prstGeom prst="rect">
            <a:avLst/>
          </a:prstGeom>
          <a:solidFill>
            <a:srgbClr val="F0F4FF"/>
          </a:solidFill>
          <a:ln/>
        </p:spPr>
        <p:txBody>
          <a:bodyPr wrap="square" rtlCol="0" anchor="ctr"/>
          <a:lstStyle/>
          <a:p>
            <a:pPr indent="0" marL="0">
              <a:buNone/>
            </a:pPr>
            <a:endParaRPr lang="en-US" dirty="0"/>
          </a:p>
        </p:txBody>
      </p:sp>
      <p:sp>
        <p:nvSpPr>
          <p:cNvPr id="51" name="Shape 49"/>
          <p:cNvSpPr/>
          <p:nvPr/>
        </p:nvSpPr>
        <p:spPr>
          <a:xfrm>
            <a:off x="2840534" y="2412504"/>
            <a:ext cx="0" cy="311051"/>
          </a:xfrm>
          <a:prstGeom prst="line">
            <a:avLst/>
          </a:prstGeom>
          <a:noFill/>
          <a:ln w="19050">
            <a:solidFill>
              <a:srgbClr val="667EEA"/>
            </a:solidFill>
            <a:prstDash val="solid"/>
          </a:ln>
        </p:spPr>
      </p:sp>
      <p:sp>
        <p:nvSpPr>
          <p:cNvPr id="52" name="Text 50"/>
          <p:cNvSpPr/>
          <p:nvPr/>
        </p:nvSpPr>
        <p:spPr>
          <a:xfrm>
            <a:off x="444401" y="2501354"/>
            <a:ext cx="2304851" cy="133350"/>
          </a:xfrm>
          <a:prstGeom prst="rect">
            <a:avLst/>
          </a:prstGeom>
          <a:noFill/>
          <a:ln/>
        </p:spPr>
        <p:txBody>
          <a:bodyPr wrap="square" lIns="0" tIns="0" rIns="0" bIns="0" rtlCol="0" anchor="t"/>
          <a:lstStyle/>
          <a:p>
            <a:pPr algn="l" indent="0" marL="0">
              <a:buNone/>
            </a:pPr>
            <a:r>
              <a:rPr lang="en-US" sz="900" b="1" dirty="0">
                <a:solidFill>
                  <a:srgbClr val="1A1A2E"/>
                </a:solidFill>
                <a:latin typeface="Arial" pitchFamily="34" charset="0"/>
                <a:ea typeface="Arial" pitchFamily="34" charset="-122"/>
                <a:cs typeface="Arial" pitchFamily="34" charset="-120"/>
              </a:rPr>
              <a:t>Dev Velocity</a:t>
            </a:r>
            <a:endParaRPr lang="en-US" sz="900" dirty="0"/>
          </a:p>
        </p:txBody>
      </p:sp>
      <p:sp>
        <p:nvSpPr>
          <p:cNvPr id="53" name="Text 51"/>
          <p:cNvSpPr/>
          <p:nvPr/>
        </p:nvSpPr>
        <p:spPr>
          <a:xfrm>
            <a:off x="2850059" y="2412504"/>
            <a:ext cx="1992213" cy="311051"/>
          </a:xfrm>
          <a:prstGeom prst="rect">
            <a:avLst/>
          </a:prstGeom>
          <a:solidFill>
            <a:srgbClr val="E8F5E9"/>
          </a:solidFill>
          <a:ln/>
        </p:spPr>
        <p:txBody>
          <a:bodyPr wrap="square" rtlCol="0" anchor="ctr"/>
          <a:lstStyle/>
          <a:p>
            <a:pPr indent="0" marL="0">
              <a:buNone/>
            </a:pPr>
            <a:endParaRPr lang="en-US" dirty="0"/>
          </a:p>
        </p:txBody>
      </p:sp>
      <p:sp>
        <p:nvSpPr>
          <p:cNvPr id="54" name="Text 52"/>
          <p:cNvSpPr/>
          <p:nvPr/>
        </p:nvSpPr>
        <p:spPr>
          <a:xfrm>
            <a:off x="2977009" y="2501354"/>
            <a:ext cx="1773079" cy="133350"/>
          </a:xfrm>
          <a:prstGeom prst="rect">
            <a:avLst/>
          </a:prstGeom>
          <a:noFill/>
          <a:ln/>
        </p:spPr>
        <p:txBody>
          <a:bodyPr wrap="square" lIns="0" tIns="0" rIns="0" bIns="0" rtlCol="0" anchor="t"/>
          <a:lstStyle/>
          <a:p>
            <a:pPr algn="l" indent="0" marL="0">
              <a:buNone/>
            </a:pPr>
            <a:r>
              <a:rPr lang="en-US" sz="900" dirty="0">
                <a:solidFill>
                  <a:srgbClr val="2E7D32"/>
                </a:solidFill>
                <a:latin typeface="Arial" pitchFamily="34" charset="0"/>
                <a:ea typeface="Arial" pitchFamily="34" charset="-122"/>
                <a:cs typeface="Arial" pitchFamily="34" charset="-120"/>
              </a:rPr>
              <a:t>Fastest</a:t>
            </a:r>
            <a:endParaRPr lang="en-US" sz="900" dirty="0"/>
          </a:p>
        </p:txBody>
      </p:sp>
      <p:sp>
        <p:nvSpPr>
          <p:cNvPr id="55" name="Text 53"/>
          <p:cNvSpPr/>
          <p:nvPr/>
        </p:nvSpPr>
        <p:spPr>
          <a:xfrm>
            <a:off x="4969222" y="2501354"/>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Medium</a:t>
            </a:r>
            <a:endParaRPr lang="en-US" sz="900" dirty="0"/>
          </a:p>
        </p:txBody>
      </p:sp>
      <p:sp>
        <p:nvSpPr>
          <p:cNvPr id="56" name="Text 54"/>
          <p:cNvSpPr/>
          <p:nvPr/>
        </p:nvSpPr>
        <p:spPr>
          <a:xfrm>
            <a:off x="6961436" y="2501354"/>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Slower</a:t>
            </a:r>
            <a:endParaRPr lang="en-US" sz="900" dirty="0"/>
          </a:p>
        </p:txBody>
      </p:sp>
      <p:sp>
        <p:nvSpPr>
          <p:cNvPr id="57" name="Text 55"/>
          <p:cNvSpPr/>
          <p:nvPr/>
        </p:nvSpPr>
        <p:spPr>
          <a:xfrm>
            <a:off x="317450" y="2733080"/>
            <a:ext cx="8509099" cy="320576"/>
          </a:xfrm>
          <a:prstGeom prst="rect">
            <a:avLst/>
          </a:prstGeom>
          <a:solidFill>
            <a:srgbClr val="FAFBFF"/>
          </a:solidFill>
          <a:ln/>
        </p:spPr>
        <p:txBody>
          <a:bodyPr wrap="square" rtlCol="0" anchor="ctr"/>
          <a:lstStyle/>
          <a:p>
            <a:pPr indent="0" marL="0">
              <a:buNone/>
            </a:pPr>
            <a:endParaRPr lang="en-US" dirty="0"/>
          </a:p>
        </p:txBody>
      </p:sp>
      <p:sp>
        <p:nvSpPr>
          <p:cNvPr id="58" name="Shape 56"/>
          <p:cNvSpPr/>
          <p:nvPr/>
        </p:nvSpPr>
        <p:spPr>
          <a:xfrm>
            <a:off x="317450" y="3048893"/>
            <a:ext cx="8509099" cy="0"/>
          </a:xfrm>
          <a:prstGeom prst="line">
            <a:avLst/>
          </a:prstGeom>
          <a:noFill/>
          <a:ln w="9525">
            <a:solidFill>
              <a:srgbClr val="E0E5F0"/>
            </a:solidFill>
            <a:prstDash val="solid"/>
          </a:ln>
        </p:spPr>
      </p:sp>
      <p:sp>
        <p:nvSpPr>
          <p:cNvPr id="59" name="Text 57"/>
          <p:cNvSpPr/>
          <p:nvPr/>
        </p:nvSpPr>
        <p:spPr>
          <a:xfrm>
            <a:off x="317450" y="2733080"/>
            <a:ext cx="2532608" cy="311051"/>
          </a:xfrm>
          <a:prstGeom prst="rect">
            <a:avLst/>
          </a:prstGeom>
          <a:solidFill>
            <a:srgbClr val="F0F4FF"/>
          </a:solidFill>
          <a:ln/>
        </p:spPr>
        <p:txBody>
          <a:bodyPr wrap="square" rtlCol="0" anchor="ctr"/>
          <a:lstStyle/>
          <a:p>
            <a:pPr indent="0" marL="0">
              <a:buNone/>
            </a:pPr>
            <a:endParaRPr lang="en-US" dirty="0"/>
          </a:p>
        </p:txBody>
      </p:sp>
      <p:sp>
        <p:nvSpPr>
          <p:cNvPr id="60" name="Shape 58"/>
          <p:cNvSpPr/>
          <p:nvPr/>
        </p:nvSpPr>
        <p:spPr>
          <a:xfrm>
            <a:off x="2840534" y="2733080"/>
            <a:ext cx="0" cy="311051"/>
          </a:xfrm>
          <a:prstGeom prst="line">
            <a:avLst/>
          </a:prstGeom>
          <a:noFill/>
          <a:ln w="19050">
            <a:solidFill>
              <a:srgbClr val="667EEA"/>
            </a:solidFill>
            <a:prstDash val="solid"/>
          </a:ln>
        </p:spPr>
      </p:sp>
      <p:sp>
        <p:nvSpPr>
          <p:cNvPr id="61" name="Text 59"/>
          <p:cNvSpPr/>
          <p:nvPr/>
        </p:nvSpPr>
        <p:spPr>
          <a:xfrm>
            <a:off x="444401" y="2821930"/>
            <a:ext cx="2304851" cy="133350"/>
          </a:xfrm>
          <a:prstGeom prst="rect">
            <a:avLst/>
          </a:prstGeom>
          <a:noFill/>
          <a:ln/>
        </p:spPr>
        <p:txBody>
          <a:bodyPr wrap="square" lIns="0" tIns="0" rIns="0" bIns="0" rtlCol="0" anchor="t"/>
          <a:lstStyle/>
          <a:p>
            <a:pPr algn="l" indent="0" marL="0">
              <a:buNone/>
            </a:pPr>
            <a:r>
              <a:rPr lang="en-US" sz="900" b="1" dirty="0">
                <a:solidFill>
                  <a:srgbClr val="1A1A2E"/>
                </a:solidFill>
                <a:latin typeface="Arial" pitchFamily="34" charset="0"/>
                <a:ea typeface="Arial" pitchFamily="34" charset="-122"/>
                <a:cs typeface="Arial" pitchFamily="34" charset="-120"/>
              </a:rPr>
              <a:t>Memory Usage</a:t>
            </a:r>
            <a:endParaRPr lang="en-US" sz="900" dirty="0"/>
          </a:p>
        </p:txBody>
      </p:sp>
      <p:sp>
        <p:nvSpPr>
          <p:cNvPr id="62" name="Text 60"/>
          <p:cNvSpPr/>
          <p:nvPr/>
        </p:nvSpPr>
        <p:spPr>
          <a:xfrm>
            <a:off x="2977009" y="2821930"/>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Higher (~50MB)</a:t>
            </a:r>
            <a:endParaRPr lang="en-US" sz="900" dirty="0"/>
          </a:p>
        </p:txBody>
      </p:sp>
      <p:sp>
        <p:nvSpPr>
          <p:cNvPr id="63" name="Text 61"/>
          <p:cNvSpPr/>
          <p:nvPr/>
        </p:nvSpPr>
        <p:spPr>
          <a:xfrm>
            <a:off x="4969222" y="2821930"/>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Medium (~30MB)</a:t>
            </a:r>
            <a:endParaRPr lang="en-US" sz="900" dirty="0"/>
          </a:p>
        </p:txBody>
      </p:sp>
      <p:sp>
        <p:nvSpPr>
          <p:cNvPr id="64" name="Text 62"/>
          <p:cNvSpPr/>
          <p:nvPr/>
        </p:nvSpPr>
        <p:spPr>
          <a:xfrm>
            <a:off x="6834485" y="2733080"/>
            <a:ext cx="1992213" cy="311051"/>
          </a:xfrm>
          <a:prstGeom prst="rect">
            <a:avLst/>
          </a:prstGeom>
          <a:solidFill>
            <a:srgbClr val="E8F5E9"/>
          </a:solidFill>
          <a:ln/>
        </p:spPr>
        <p:txBody>
          <a:bodyPr wrap="square" rtlCol="0" anchor="ctr"/>
          <a:lstStyle/>
          <a:p>
            <a:pPr indent="0" marL="0">
              <a:buNone/>
            </a:pPr>
            <a:endParaRPr lang="en-US" dirty="0"/>
          </a:p>
        </p:txBody>
      </p:sp>
      <p:sp>
        <p:nvSpPr>
          <p:cNvPr id="65" name="Text 63"/>
          <p:cNvSpPr/>
          <p:nvPr/>
        </p:nvSpPr>
        <p:spPr>
          <a:xfrm>
            <a:off x="6961436" y="2821930"/>
            <a:ext cx="1773079" cy="133350"/>
          </a:xfrm>
          <a:prstGeom prst="rect">
            <a:avLst/>
          </a:prstGeom>
          <a:noFill/>
          <a:ln/>
        </p:spPr>
        <p:txBody>
          <a:bodyPr wrap="square" lIns="0" tIns="0" rIns="0" bIns="0" rtlCol="0" anchor="t"/>
          <a:lstStyle/>
          <a:p>
            <a:pPr algn="l" indent="0" marL="0">
              <a:buNone/>
            </a:pPr>
            <a:r>
              <a:rPr lang="en-US" sz="900" dirty="0">
                <a:solidFill>
                  <a:srgbClr val="2E7D32"/>
                </a:solidFill>
                <a:latin typeface="Arial" pitchFamily="34" charset="0"/>
                <a:ea typeface="Arial" pitchFamily="34" charset="-122"/>
                <a:cs typeface="Arial" pitchFamily="34" charset="-120"/>
              </a:rPr>
              <a:t>Lowest (~10MB)</a:t>
            </a:r>
            <a:endParaRPr lang="en-US" sz="900" dirty="0"/>
          </a:p>
        </p:txBody>
      </p:sp>
      <p:sp>
        <p:nvSpPr>
          <p:cNvPr id="66" name="Shape 64"/>
          <p:cNvSpPr/>
          <p:nvPr/>
        </p:nvSpPr>
        <p:spPr>
          <a:xfrm>
            <a:off x="317450" y="3369469"/>
            <a:ext cx="8509099" cy="0"/>
          </a:xfrm>
          <a:prstGeom prst="line">
            <a:avLst/>
          </a:prstGeom>
          <a:noFill/>
          <a:ln w="9525">
            <a:solidFill>
              <a:srgbClr val="E0E5F0"/>
            </a:solidFill>
            <a:prstDash val="solid"/>
          </a:ln>
        </p:spPr>
      </p:sp>
      <p:sp>
        <p:nvSpPr>
          <p:cNvPr id="67" name="Text 65"/>
          <p:cNvSpPr/>
          <p:nvPr/>
        </p:nvSpPr>
        <p:spPr>
          <a:xfrm>
            <a:off x="317450" y="3053655"/>
            <a:ext cx="2532608" cy="311051"/>
          </a:xfrm>
          <a:prstGeom prst="rect">
            <a:avLst/>
          </a:prstGeom>
          <a:solidFill>
            <a:srgbClr val="F0F4FF"/>
          </a:solidFill>
          <a:ln/>
        </p:spPr>
        <p:txBody>
          <a:bodyPr wrap="square" rtlCol="0" anchor="ctr"/>
          <a:lstStyle/>
          <a:p>
            <a:pPr indent="0" marL="0">
              <a:buNone/>
            </a:pPr>
            <a:endParaRPr lang="en-US" dirty="0"/>
          </a:p>
        </p:txBody>
      </p:sp>
      <p:sp>
        <p:nvSpPr>
          <p:cNvPr id="68" name="Shape 66"/>
          <p:cNvSpPr/>
          <p:nvPr/>
        </p:nvSpPr>
        <p:spPr>
          <a:xfrm>
            <a:off x="2840534" y="3053655"/>
            <a:ext cx="0" cy="311051"/>
          </a:xfrm>
          <a:prstGeom prst="line">
            <a:avLst/>
          </a:prstGeom>
          <a:noFill/>
          <a:ln w="19050">
            <a:solidFill>
              <a:srgbClr val="667EEA"/>
            </a:solidFill>
            <a:prstDash val="solid"/>
          </a:ln>
        </p:spPr>
      </p:sp>
      <p:sp>
        <p:nvSpPr>
          <p:cNvPr id="69" name="Text 67"/>
          <p:cNvSpPr/>
          <p:nvPr/>
        </p:nvSpPr>
        <p:spPr>
          <a:xfrm>
            <a:off x="444401" y="3142506"/>
            <a:ext cx="2304851" cy="133350"/>
          </a:xfrm>
          <a:prstGeom prst="rect">
            <a:avLst/>
          </a:prstGeom>
          <a:noFill/>
          <a:ln/>
        </p:spPr>
        <p:txBody>
          <a:bodyPr wrap="square" lIns="0" tIns="0" rIns="0" bIns="0" rtlCol="0" anchor="t"/>
          <a:lstStyle/>
          <a:p>
            <a:pPr algn="l" indent="0" marL="0">
              <a:buNone/>
            </a:pPr>
            <a:r>
              <a:rPr lang="en-US" sz="900" b="1" dirty="0">
                <a:solidFill>
                  <a:srgbClr val="1A1A2E"/>
                </a:solidFill>
                <a:latin typeface="Arial" pitchFamily="34" charset="0"/>
                <a:ea typeface="Arial" pitchFamily="34" charset="-122"/>
                <a:cs typeface="Arial" pitchFamily="34" charset="-120"/>
              </a:rPr>
              <a:t>Error Messages</a:t>
            </a:r>
            <a:endParaRPr lang="en-US" sz="900" dirty="0"/>
          </a:p>
        </p:txBody>
      </p:sp>
      <p:sp>
        <p:nvSpPr>
          <p:cNvPr id="70" name="Text 68"/>
          <p:cNvSpPr/>
          <p:nvPr/>
        </p:nvSpPr>
        <p:spPr>
          <a:xfrm>
            <a:off x="2850059" y="3053655"/>
            <a:ext cx="1992213" cy="311051"/>
          </a:xfrm>
          <a:prstGeom prst="rect">
            <a:avLst/>
          </a:prstGeom>
          <a:solidFill>
            <a:srgbClr val="E8F5E9"/>
          </a:solidFill>
          <a:ln/>
        </p:spPr>
        <p:txBody>
          <a:bodyPr wrap="square" rtlCol="0" anchor="ctr"/>
          <a:lstStyle/>
          <a:p>
            <a:pPr indent="0" marL="0">
              <a:buNone/>
            </a:pPr>
            <a:endParaRPr lang="en-US" dirty="0"/>
          </a:p>
        </p:txBody>
      </p:sp>
      <p:sp>
        <p:nvSpPr>
          <p:cNvPr id="71" name="Text 69"/>
          <p:cNvSpPr/>
          <p:nvPr/>
        </p:nvSpPr>
        <p:spPr>
          <a:xfrm>
            <a:off x="2977009" y="3142506"/>
            <a:ext cx="1773079" cy="133350"/>
          </a:xfrm>
          <a:prstGeom prst="rect">
            <a:avLst/>
          </a:prstGeom>
          <a:noFill/>
          <a:ln/>
        </p:spPr>
        <p:txBody>
          <a:bodyPr wrap="square" lIns="0" tIns="0" rIns="0" bIns="0" rtlCol="0" anchor="t"/>
          <a:lstStyle/>
          <a:p>
            <a:pPr algn="l" indent="0" marL="0">
              <a:buNone/>
            </a:pPr>
            <a:r>
              <a:rPr lang="en-US" sz="900" dirty="0">
                <a:solidFill>
                  <a:srgbClr val="2E7D32"/>
                </a:solidFill>
                <a:latin typeface="Arial" pitchFamily="34" charset="0"/>
                <a:ea typeface="Arial" pitchFamily="34" charset="-122"/>
                <a:cs typeface="Arial" pitchFamily="34" charset="-120"/>
              </a:rPr>
              <a:t>Excellent</a:t>
            </a:r>
            <a:endParaRPr lang="en-US" sz="900" dirty="0"/>
          </a:p>
        </p:txBody>
      </p:sp>
      <p:sp>
        <p:nvSpPr>
          <p:cNvPr id="72" name="Text 70"/>
          <p:cNvSpPr/>
          <p:nvPr/>
        </p:nvSpPr>
        <p:spPr>
          <a:xfrm>
            <a:off x="4969222" y="3142506"/>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Good</a:t>
            </a:r>
            <a:endParaRPr lang="en-US" sz="900" dirty="0"/>
          </a:p>
        </p:txBody>
      </p:sp>
      <p:sp>
        <p:nvSpPr>
          <p:cNvPr id="73" name="Text 71"/>
          <p:cNvSpPr/>
          <p:nvPr/>
        </p:nvSpPr>
        <p:spPr>
          <a:xfrm>
            <a:off x="6961436" y="3142506"/>
            <a:ext cx="1773079" cy="133350"/>
          </a:xfrm>
          <a:prstGeom prst="rect">
            <a:avLst/>
          </a:prstGeom>
          <a:noFill/>
          <a:ln/>
        </p:spPr>
        <p:txBody>
          <a:bodyPr wrap="square" lIns="0" tIns="0" rIns="0" bIns="0" rtlCol="0" anchor="t"/>
          <a:lstStyle/>
          <a:p>
            <a:pPr algn="l" indent="0" marL="0">
              <a:buNone/>
            </a:pPr>
            <a:r>
              <a:rPr lang="en-US" sz="900" dirty="0">
                <a:solidFill>
                  <a:srgbClr val="333333"/>
                </a:solidFill>
                <a:latin typeface="Arial" pitchFamily="34" charset="0"/>
                <a:ea typeface="Arial" pitchFamily="34" charset="-122"/>
                <a:cs typeface="Arial" pitchFamily="34" charset="-120"/>
              </a:rPr>
              <a:t>Basic</a:t>
            </a:r>
            <a:endParaRPr lang="en-US" sz="900" dirty="0"/>
          </a:p>
        </p:txBody>
      </p:sp>
      <p:sp>
        <p:nvSpPr>
          <p:cNvPr id="74" name="Text 72"/>
          <p:cNvSpPr/>
          <p:nvPr/>
        </p:nvSpPr>
        <p:spPr>
          <a:xfrm>
            <a:off x="317450" y="3501182"/>
            <a:ext cx="8509099" cy="336352"/>
          </a:xfrm>
          <a:prstGeom prst="rect">
            <a:avLst/>
          </a:prstGeom>
          <a:solidFill>
            <a:srgbClr val="FFF9E6"/>
          </a:solidFill>
          <a:ln/>
        </p:spPr>
        <p:txBody>
          <a:bodyPr wrap="square" rtlCol="0" anchor="ctr"/>
          <a:lstStyle/>
          <a:p>
            <a:pPr indent="0" marL="0">
              <a:buNone/>
            </a:pPr>
            <a:endParaRPr lang="en-US" dirty="0"/>
          </a:p>
        </p:txBody>
      </p:sp>
      <p:sp>
        <p:nvSpPr>
          <p:cNvPr id="75" name="Shape 73"/>
          <p:cNvSpPr/>
          <p:nvPr/>
        </p:nvSpPr>
        <p:spPr>
          <a:xfrm>
            <a:off x="336500" y="3501182"/>
            <a:ext cx="0" cy="336352"/>
          </a:xfrm>
          <a:prstGeom prst="line">
            <a:avLst/>
          </a:prstGeom>
          <a:noFill/>
          <a:ln w="38100">
            <a:solidFill>
              <a:srgbClr val="F0A500"/>
            </a:solidFill>
            <a:prstDash val="solid"/>
          </a:ln>
        </p:spPr>
      </p:sp>
      <p:sp>
        <p:nvSpPr>
          <p:cNvPr id="76" name="Text 74"/>
          <p:cNvSpPr/>
          <p:nvPr/>
        </p:nvSpPr>
        <p:spPr>
          <a:xfrm>
            <a:off x="507950" y="3602682"/>
            <a:ext cx="8329523" cy="133350"/>
          </a:xfrm>
          <a:prstGeom prst="rect">
            <a:avLst/>
          </a:prstGeom>
          <a:noFill/>
          <a:ln/>
        </p:spPr>
        <p:txBody>
          <a:bodyPr wrap="square" lIns="0" tIns="0" rIns="0" bIns="0" rtlCol="0" anchor="t"/>
          <a:lstStyle/>
          <a:p>
            <a:pPr algn="l" indent="0" marL="0">
              <a:buNone/>
            </a:pPr>
            <a:r>
              <a:rPr lang="en-US" sz="900" dirty="0">
                <a:solidFill>
                  <a:srgbClr val="666666"/>
                </a:solidFill>
                <a:latin typeface="Arial" pitchFamily="34" charset="0"/>
                <a:ea typeface="Arial" pitchFamily="34" charset="-122"/>
                <a:cs typeface="Arial" pitchFamily="34" charset="-120"/>
              </a:rPr>
              <a:t>Honest assessment: Go wins on raw performance. TypeScript wins on compile-time safety. Python wins on developer experience.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19125"/>
          </a:xfrm>
          <a:prstGeom prst="rect">
            <a:avLst/>
          </a:prstGeom>
          <a:solidFill>
            <a:srgbClr val="F0F4FF"/>
          </a:solidFill>
          <a:ln/>
        </p:spPr>
        <p:txBody>
          <a:bodyPr wrap="square" rtlCol="0" anchor="ctr"/>
          <a:lstStyle/>
          <a:p>
            <a:pPr indent="0" marL="0">
              <a:buNone/>
            </a:pPr>
            <a:endParaRPr lang="en-US" dirty="0"/>
          </a:p>
        </p:txBody>
      </p:sp>
      <p:sp>
        <p:nvSpPr>
          <p:cNvPr id="3" name="Shape 1"/>
          <p:cNvSpPr/>
          <p:nvPr/>
        </p:nvSpPr>
        <p:spPr>
          <a:xfrm>
            <a:off x="0" y="609600"/>
            <a:ext cx="9144000" cy="0"/>
          </a:xfrm>
          <a:prstGeom prst="line">
            <a:avLst/>
          </a:prstGeom>
          <a:noFill/>
          <a:ln w="19050">
            <a:solidFill>
              <a:srgbClr val="667EEA"/>
            </a:solidFill>
            <a:prstDash val="solid"/>
          </a:ln>
        </p:spPr>
      </p:sp>
      <p:sp>
        <p:nvSpPr>
          <p:cNvPr id="4" name="Text 2"/>
          <p:cNvSpPr/>
          <p:nvPr/>
        </p:nvSpPr>
        <p:spPr>
          <a:xfrm>
            <a:off x="317450" y="152400"/>
            <a:ext cx="8679281" cy="295275"/>
          </a:xfrm>
          <a:prstGeom prst="rect">
            <a:avLst/>
          </a:prstGeom>
          <a:noFill/>
          <a:ln/>
        </p:spPr>
        <p:txBody>
          <a:bodyPr wrap="square" lIns="0" tIns="0" rIns="0" bIns="0" rtlCol="0" anchor="t"/>
          <a:lstStyle/>
          <a:p>
            <a:pPr algn="l" indent="0" marL="0">
              <a:buNone/>
            </a:pPr>
            <a:r>
              <a:rPr lang="en-US" sz="2000" b="1" dirty="0">
                <a:solidFill>
                  <a:srgbClr val="1A1A2E"/>
                </a:solidFill>
                <a:latin typeface="Arial" pitchFamily="34" charset="0"/>
                <a:ea typeface="Arial" pitchFamily="34" charset="-122"/>
                <a:cs typeface="Arial" pitchFamily="34" charset="-120"/>
              </a:rPr>
              <a:t>Efficiency Metrics Breakdown (Weighted Score)</a:t>
            </a:r>
            <a:endParaRPr lang="en-US" sz="2000" dirty="0"/>
          </a:p>
        </p:txBody>
      </p:sp>
      <p:sp>
        <p:nvSpPr>
          <p:cNvPr id="5" name="Text 3"/>
          <p:cNvSpPr/>
          <p:nvPr/>
        </p:nvSpPr>
        <p:spPr>
          <a:xfrm>
            <a:off x="317450" y="809625"/>
            <a:ext cx="2709416" cy="4143375"/>
          </a:xfrm>
          <a:prstGeom prst="roundRect">
            <a:avLst>
              <a:gd name="adj" fmla="val 3750"/>
            </a:avLst>
          </a:prstGeom>
          <a:solidFill>
            <a:srgbClr val="FAFBFF"/>
          </a:solidFill>
          <a:ln w="9525">
            <a:solidFill>
              <a:srgbClr val="E0E5F0"/>
            </a:solidFill>
          </a:ln>
        </p:spPr>
        <p:txBody>
          <a:bodyPr wrap="square" rtlCol="0" anchor="ctr"/>
          <a:lstStyle/>
          <a:p>
            <a:pPr indent="0" marL="0">
              <a:buNone/>
            </a:pPr>
            <a:endParaRPr lang="en-US" dirty="0"/>
          </a:p>
        </p:txBody>
      </p:sp>
      <p:sp>
        <p:nvSpPr>
          <p:cNvPr id="6" name="Shape 4"/>
          <p:cNvSpPr/>
          <p:nvPr/>
        </p:nvSpPr>
        <p:spPr>
          <a:xfrm>
            <a:off x="517475" y="1539627"/>
            <a:ext cx="2309366" cy="0"/>
          </a:xfrm>
          <a:prstGeom prst="line">
            <a:avLst/>
          </a:prstGeom>
          <a:noFill/>
          <a:ln w="19050">
            <a:solidFill>
              <a:srgbClr val="667EEA"/>
            </a:solidFill>
            <a:prstDash val="solid"/>
          </a:ln>
        </p:spPr>
      </p:sp>
      <p:sp>
        <p:nvSpPr>
          <p:cNvPr id="7" name="Text 5"/>
          <p:cNvSpPr/>
          <p:nvPr/>
        </p:nvSpPr>
        <p:spPr>
          <a:xfrm>
            <a:off x="517475" y="1101626"/>
            <a:ext cx="1440475" cy="209550"/>
          </a:xfrm>
          <a:prstGeom prst="rect">
            <a:avLst/>
          </a:prstGeom>
          <a:noFill/>
          <a:ln/>
        </p:spPr>
        <p:txBody>
          <a:bodyPr wrap="square" lIns="0" tIns="0" rIns="0" bIns="0" rtlCol="0" anchor="t"/>
          <a:lstStyle/>
          <a:p>
            <a:pPr algn="l" indent="0" marL="0">
              <a:buNone/>
            </a:pPr>
            <a:r>
              <a:rPr lang="en-US" sz="1400" b="1" dirty="0">
                <a:solidFill>
                  <a:srgbClr val="667EEA"/>
                </a:solidFill>
                <a:latin typeface="Arial" pitchFamily="34" charset="0"/>
                <a:ea typeface="Arial" pitchFamily="34" charset="-122"/>
                <a:cs typeface="Arial" pitchFamily="34" charset="-120"/>
              </a:rPr>
              <a:t>Python FastMCP</a:t>
            </a:r>
            <a:endParaRPr lang="en-US" sz="1400" dirty="0"/>
          </a:p>
        </p:txBody>
      </p:sp>
      <p:sp>
        <p:nvSpPr>
          <p:cNvPr id="8" name="Text 6"/>
          <p:cNvSpPr/>
          <p:nvPr/>
        </p:nvSpPr>
        <p:spPr>
          <a:xfrm>
            <a:off x="2064395" y="1009650"/>
            <a:ext cx="762446" cy="393502"/>
          </a:xfrm>
          <a:prstGeom prst="roundRect">
            <a:avLst>
              <a:gd name="adj" fmla="val 64549"/>
            </a:avLst>
          </a:prstGeom>
          <a:solidFill>
            <a:srgbClr val="667EEA"/>
          </a:solidFill>
          <a:ln/>
        </p:spPr>
        <p:txBody>
          <a:bodyPr wrap="square" rtlCol="0" anchor="ctr"/>
          <a:lstStyle/>
          <a:p>
            <a:pPr indent="0" marL="0">
              <a:buNone/>
            </a:pPr>
            <a:endParaRPr lang="en-US" dirty="0"/>
          </a:p>
        </p:txBody>
      </p:sp>
      <p:sp>
        <p:nvSpPr>
          <p:cNvPr id="9" name="Text 7"/>
          <p:cNvSpPr/>
          <p:nvPr/>
        </p:nvSpPr>
        <p:spPr>
          <a:xfrm>
            <a:off x="2216795" y="1073051"/>
            <a:ext cx="466799"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82%</a:t>
            </a:r>
            <a:endParaRPr lang="en-US" sz="1800" dirty="0"/>
          </a:p>
        </p:txBody>
      </p:sp>
      <p:sp>
        <p:nvSpPr>
          <p:cNvPr id="10" name="Text 8"/>
          <p:cNvSpPr/>
          <p:nvPr/>
        </p:nvSpPr>
        <p:spPr>
          <a:xfrm>
            <a:off x="517475" y="1701552"/>
            <a:ext cx="634088" cy="285750"/>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Dev Velocity</a:t>
            </a:r>
            <a:endParaRPr lang="en-US" sz="1000" dirty="0"/>
          </a:p>
        </p:txBody>
      </p:sp>
      <p:sp>
        <p:nvSpPr>
          <p:cNvPr id="11" name="Text 9"/>
          <p:cNvSpPr/>
          <p:nvPr/>
        </p:nvSpPr>
        <p:spPr>
          <a:xfrm>
            <a:off x="1139130" y="1768227"/>
            <a:ext cx="1243310"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12" name="Text 10"/>
          <p:cNvSpPr/>
          <p:nvPr/>
        </p:nvSpPr>
        <p:spPr>
          <a:xfrm>
            <a:off x="1139130" y="1768227"/>
            <a:ext cx="1181100" cy="152400"/>
          </a:xfrm>
          <a:prstGeom prst="roundRect">
            <a:avLst>
              <a:gd name="adj" fmla="val 50000"/>
            </a:avLst>
          </a:prstGeom>
          <a:solidFill>
            <a:srgbClr val="667EEA"/>
          </a:solidFill>
          <a:ln/>
        </p:spPr>
        <p:txBody>
          <a:bodyPr wrap="square" rtlCol="0" anchor="ctr"/>
          <a:lstStyle/>
          <a:p>
            <a:pPr indent="0" marL="0">
              <a:buNone/>
            </a:pPr>
            <a:endParaRPr lang="en-US" dirty="0"/>
          </a:p>
        </p:txBody>
      </p:sp>
      <p:sp>
        <p:nvSpPr>
          <p:cNvPr id="13" name="Text 11"/>
          <p:cNvSpPr/>
          <p:nvPr/>
        </p:nvSpPr>
        <p:spPr>
          <a:xfrm>
            <a:off x="2373553" y="1772989"/>
            <a:ext cx="453289" cy="142875"/>
          </a:xfrm>
          <a:prstGeom prst="rect">
            <a:avLst/>
          </a:prstGeom>
          <a:noFill/>
          <a:ln/>
        </p:spPr>
        <p:txBody>
          <a:bodyPr wrap="square" lIns="0" tIns="0" rIns="0" bIns="0" rtlCol="0" anchor="t"/>
          <a:lstStyle/>
          <a:p>
            <a:pPr algn="r" indent="0" marL="0">
              <a:buNone/>
            </a:pPr>
            <a:r>
              <a:rPr lang="en-US" sz="1000" b="1" dirty="0">
                <a:solidFill>
                  <a:srgbClr val="333333"/>
                </a:solidFill>
                <a:latin typeface="Arial" pitchFamily="34" charset="0"/>
                <a:ea typeface="Arial" pitchFamily="34" charset="-122"/>
                <a:cs typeface="Arial" pitchFamily="34" charset="-120"/>
              </a:rPr>
              <a:t>95%</a:t>
            </a:r>
            <a:endParaRPr lang="en-US" sz="1000" dirty="0"/>
          </a:p>
        </p:txBody>
      </p:sp>
      <p:sp>
        <p:nvSpPr>
          <p:cNvPr id="14" name="Text 12"/>
          <p:cNvSpPr/>
          <p:nvPr/>
        </p:nvSpPr>
        <p:spPr>
          <a:xfrm>
            <a:off x="517475" y="2093565"/>
            <a:ext cx="634088"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Ecosystem</a:t>
            </a:r>
            <a:endParaRPr lang="en-US" sz="1000" dirty="0"/>
          </a:p>
        </p:txBody>
      </p:sp>
      <p:sp>
        <p:nvSpPr>
          <p:cNvPr id="15" name="Text 13"/>
          <p:cNvSpPr/>
          <p:nvPr/>
        </p:nvSpPr>
        <p:spPr>
          <a:xfrm>
            <a:off x="1139130" y="2088803"/>
            <a:ext cx="1243310"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16" name="Text 14"/>
          <p:cNvSpPr/>
          <p:nvPr/>
        </p:nvSpPr>
        <p:spPr>
          <a:xfrm>
            <a:off x="1139130" y="2088803"/>
            <a:ext cx="1118890" cy="152400"/>
          </a:xfrm>
          <a:prstGeom prst="roundRect">
            <a:avLst>
              <a:gd name="adj" fmla="val 50000"/>
            </a:avLst>
          </a:prstGeom>
          <a:solidFill>
            <a:srgbClr val="667EEA"/>
          </a:solidFill>
          <a:ln/>
        </p:spPr>
        <p:txBody>
          <a:bodyPr wrap="square" rtlCol="0" anchor="ctr"/>
          <a:lstStyle/>
          <a:p>
            <a:pPr indent="0" marL="0">
              <a:buNone/>
            </a:pPr>
            <a:endParaRPr lang="en-US" dirty="0"/>
          </a:p>
        </p:txBody>
      </p:sp>
      <p:sp>
        <p:nvSpPr>
          <p:cNvPr id="17" name="Text 15"/>
          <p:cNvSpPr/>
          <p:nvPr/>
        </p:nvSpPr>
        <p:spPr>
          <a:xfrm>
            <a:off x="2373553" y="2093565"/>
            <a:ext cx="453289" cy="142875"/>
          </a:xfrm>
          <a:prstGeom prst="rect">
            <a:avLst/>
          </a:prstGeom>
          <a:noFill/>
          <a:ln/>
        </p:spPr>
        <p:txBody>
          <a:bodyPr wrap="square" lIns="0" tIns="0" rIns="0" bIns="0" rtlCol="0" anchor="t"/>
          <a:lstStyle/>
          <a:p>
            <a:pPr algn="r" indent="0" marL="0">
              <a:buNone/>
            </a:pPr>
            <a:r>
              <a:rPr lang="en-US" sz="1000" b="1" dirty="0">
                <a:solidFill>
                  <a:srgbClr val="333333"/>
                </a:solidFill>
                <a:latin typeface="Arial" pitchFamily="34" charset="0"/>
                <a:ea typeface="Arial" pitchFamily="34" charset="-122"/>
                <a:cs typeface="Arial" pitchFamily="34" charset="-120"/>
              </a:rPr>
              <a:t>90%</a:t>
            </a:r>
            <a:endParaRPr lang="en-US" sz="1000" dirty="0"/>
          </a:p>
        </p:txBody>
      </p:sp>
      <p:sp>
        <p:nvSpPr>
          <p:cNvPr id="18" name="Text 16"/>
          <p:cNvSpPr/>
          <p:nvPr/>
        </p:nvSpPr>
        <p:spPr>
          <a:xfrm>
            <a:off x="517475" y="2347466"/>
            <a:ext cx="741414"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Performance</a:t>
            </a:r>
            <a:endParaRPr lang="en-US" sz="1000" dirty="0"/>
          </a:p>
        </p:txBody>
      </p:sp>
      <p:sp>
        <p:nvSpPr>
          <p:cNvPr id="19" name="Text 17"/>
          <p:cNvSpPr/>
          <p:nvPr/>
        </p:nvSpPr>
        <p:spPr>
          <a:xfrm>
            <a:off x="1244352" y="2342704"/>
            <a:ext cx="1138089"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20" name="Text 18"/>
          <p:cNvSpPr/>
          <p:nvPr/>
        </p:nvSpPr>
        <p:spPr>
          <a:xfrm>
            <a:off x="1244352" y="2342704"/>
            <a:ext cx="796528" cy="152400"/>
          </a:xfrm>
          <a:prstGeom prst="roundRect">
            <a:avLst>
              <a:gd name="adj" fmla="val 50000"/>
            </a:avLst>
          </a:prstGeom>
          <a:solidFill>
            <a:srgbClr val="667EEA"/>
          </a:solidFill>
          <a:ln/>
        </p:spPr>
        <p:txBody>
          <a:bodyPr wrap="square" rtlCol="0" anchor="ctr"/>
          <a:lstStyle/>
          <a:p>
            <a:pPr indent="0" marL="0">
              <a:buNone/>
            </a:pPr>
            <a:endParaRPr lang="en-US" dirty="0"/>
          </a:p>
        </p:txBody>
      </p:sp>
      <p:sp>
        <p:nvSpPr>
          <p:cNvPr id="21" name="Text 19"/>
          <p:cNvSpPr/>
          <p:nvPr/>
        </p:nvSpPr>
        <p:spPr>
          <a:xfrm>
            <a:off x="2373553" y="2347466"/>
            <a:ext cx="453289" cy="142875"/>
          </a:xfrm>
          <a:prstGeom prst="rect">
            <a:avLst/>
          </a:prstGeom>
          <a:noFill/>
          <a:ln/>
        </p:spPr>
        <p:txBody>
          <a:bodyPr wrap="square" lIns="0" tIns="0" rIns="0" bIns="0" rtlCol="0" anchor="t"/>
          <a:lstStyle/>
          <a:p>
            <a:pPr algn="r" indent="0" marL="0">
              <a:buNone/>
            </a:pPr>
            <a:r>
              <a:rPr lang="en-US" sz="1000" b="1" dirty="0">
                <a:solidFill>
                  <a:srgbClr val="333333"/>
                </a:solidFill>
                <a:latin typeface="Arial" pitchFamily="34" charset="0"/>
                <a:ea typeface="Arial" pitchFamily="34" charset="-122"/>
                <a:cs typeface="Arial" pitchFamily="34" charset="-120"/>
              </a:rPr>
              <a:t>70%</a:t>
            </a:r>
            <a:endParaRPr lang="en-US" sz="1000" dirty="0"/>
          </a:p>
        </p:txBody>
      </p:sp>
      <p:sp>
        <p:nvSpPr>
          <p:cNvPr id="22" name="Text 20"/>
          <p:cNvSpPr/>
          <p:nvPr/>
        </p:nvSpPr>
        <p:spPr>
          <a:xfrm>
            <a:off x="517475" y="2601367"/>
            <a:ext cx="634088"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Memory</a:t>
            </a:r>
            <a:endParaRPr lang="en-US" sz="1000" dirty="0"/>
          </a:p>
        </p:txBody>
      </p:sp>
      <p:sp>
        <p:nvSpPr>
          <p:cNvPr id="23" name="Text 21"/>
          <p:cNvSpPr/>
          <p:nvPr/>
        </p:nvSpPr>
        <p:spPr>
          <a:xfrm>
            <a:off x="1139130" y="2596604"/>
            <a:ext cx="1243310"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24" name="Text 22"/>
          <p:cNvSpPr/>
          <p:nvPr/>
        </p:nvSpPr>
        <p:spPr>
          <a:xfrm>
            <a:off x="1139130" y="2596604"/>
            <a:ext cx="808137" cy="152400"/>
          </a:xfrm>
          <a:prstGeom prst="roundRect">
            <a:avLst>
              <a:gd name="adj" fmla="val 50000"/>
            </a:avLst>
          </a:prstGeom>
          <a:solidFill>
            <a:srgbClr val="667EEA"/>
          </a:solidFill>
          <a:ln/>
        </p:spPr>
        <p:txBody>
          <a:bodyPr wrap="square" rtlCol="0" anchor="ctr"/>
          <a:lstStyle/>
          <a:p>
            <a:pPr indent="0" marL="0">
              <a:buNone/>
            </a:pPr>
            <a:endParaRPr lang="en-US" dirty="0"/>
          </a:p>
        </p:txBody>
      </p:sp>
      <p:sp>
        <p:nvSpPr>
          <p:cNvPr id="25" name="Text 23"/>
          <p:cNvSpPr/>
          <p:nvPr/>
        </p:nvSpPr>
        <p:spPr>
          <a:xfrm>
            <a:off x="2373553" y="2601367"/>
            <a:ext cx="453289" cy="142875"/>
          </a:xfrm>
          <a:prstGeom prst="rect">
            <a:avLst/>
          </a:prstGeom>
          <a:noFill/>
          <a:ln/>
        </p:spPr>
        <p:txBody>
          <a:bodyPr wrap="square" lIns="0" tIns="0" rIns="0" bIns="0" rtlCol="0" anchor="t"/>
          <a:lstStyle/>
          <a:p>
            <a:pPr algn="r" indent="0" marL="0">
              <a:buNone/>
            </a:pPr>
            <a:r>
              <a:rPr lang="en-US" sz="1000" b="1" dirty="0">
                <a:solidFill>
                  <a:srgbClr val="333333"/>
                </a:solidFill>
                <a:latin typeface="Arial" pitchFamily="34" charset="0"/>
                <a:ea typeface="Arial" pitchFamily="34" charset="-122"/>
                <a:cs typeface="Arial" pitchFamily="34" charset="-120"/>
              </a:rPr>
              <a:t>65%</a:t>
            </a:r>
            <a:endParaRPr lang="en-US" sz="1000" dirty="0"/>
          </a:p>
        </p:txBody>
      </p:sp>
      <p:sp>
        <p:nvSpPr>
          <p:cNvPr id="26" name="Shape 24"/>
          <p:cNvSpPr/>
          <p:nvPr/>
        </p:nvSpPr>
        <p:spPr>
          <a:xfrm>
            <a:off x="517475" y="4487912"/>
            <a:ext cx="2309366" cy="0"/>
          </a:xfrm>
          <a:prstGeom prst="line">
            <a:avLst/>
          </a:prstGeom>
          <a:noFill/>
          <a:ln w="9525">
            <a:solidFill>
              <a:srgbClr val="E0E5F0"/>
            </a:solidFill>
            <a:prstDash val="solid"/>
          </a:ln>
        </p:spPr>
      </p:sp>
      <p:sp>
        <p:nvSpPr>
          <p:cNvPr id="27" name="Text 25"/>
          <p:cNvSpPr/>
          <p:nvPr/>
        </p:nvSpPr>
        <p:spPr>
          <a:xfrm>
            <a:off x="517475" y="4619625"/>
            <a:ext cx="2355553" cy="133350"/>
          </a:xfrm>
          <a:prstGeom prst="rect">
            <a:avLst/>
          </a:prstGeom>
          <a:noFill/>
          <a:ln/>
        </p:spPr>
        <p:txBody>
          <a:bodyPr wrap="square" lIns="0" tIns="0" rIns="0" bIns="0" rtlCol="0" anchor="t"/>
          <a:lstStyle/>
          <a:p>
            <a:pPr algn="l" indent="0" marL="0">
              <a:buNone/>
            </a:pPr>
            <a:r>
              <a:rPr lang="en-US" sz="900" i="1" dirty="0">
                <a:solidFill>
                  <a:srgbClr val="667EEA"/>
                </a:solidFill>
                <a:latin typeface="Arial" pitchFamily="34" charset="0"/>
                <a:ea typeface="Arial" pitchFamily="34" charset="-122"/>
                <a:cs typeface="Arial" pitchFamily="34" charset="-120"/>
              </a:rPr>
              <a:t>Best for: Rapid prototyping, ML integration</a:t>
            </a:r>
            <a:endParaRPr lang="en-US" sz="900" dirty="0"/>
          </a:p>
        </p:txBody>
      </p:sp>
      <p:sp>
        <p:nvSpPr>
          <p:cNvPr id="28" name="Text 26"/>
          <p:cNvSpPr/>
          <p:nvPr/>
        </p:nvSpPr>
        <p:spPr>
          <a:xfrm>
            <a:off x="3217366" y="809625"/>
            <a:ext cx="2709416" cy="4143375"/>
          </a:xfrm>
          <a:prstGeom prst="roundRect">
            <a:avLst>
              <a:gd name="adj" fmla="val 3750"/>
            </a:avLst>
          </a:prstGeom>
          <a:solidFill>
            <a:srgbClr val="FAFBFF"/>
          </a:solidFill>
          <a:ln w="9525">
            <a:solidFill>
              <a:srgbClr val="E0E5F0"/>
            </a:solidFill>
          </a:ln>
        </p:spPr>
        <p:txBody>
          <a:bodyPr wrap="square" rtlCol="0" anchor="ctr"/>
          <a:lstStyle/>
          <a:p>
            <a:pPr indent="0" marL="0">
              <a:buNone/>
            </a:pPr>
            <a:endParaRPr lang="en-US" dirty="0"/>
          </a:p>
        </p:txBody>
      </p:sp>
      <p:sp>
        <p:nvSpPr>
          <p:cNvPr id="29" name="Shape 27"/>
          <p:cNvSpPr/>
          <p:nvPr/>
        </p:nvSpPr>
        <p:spPr>
          <a:xfrm>
            <a:off x="3417391" y="1539627"/>
            <a:ext cx="2309366" cy="0"/>
          </a:xfrm>
          <a:prstGeom prst="line">
            <a:avLst/>
          </a:prstGeom>
          <a:noFill/>
          <a:ln w="19050">
            <a:solidFill>
              <a:srgbClr val="667EEA"/>
            </a:solidFill>
            <a:prstDash val="solid"/>
          </a:ln>
        </p:spPr>
      </p:sp>
      <p:sp>
        <p:nvSpPr>
          <p:cNvPr id="30" name="Text 28"/>
          <p:cNvSpPr/>
          <p:nvPr/>
        </p:nvSpPr>
        <p:spPr>
          <a:xfrm>
            <a:off x="3417391" y="1101626"/>
            <a:ext cx="1356678" cy="209550"/>
          </a:xfrm>
          <a:prstGeom prst="rect">
            <a:avLst/>
          </a:prstGeom>
          <a:noFill/>
          <a:ln/>
        </p:spPr>
        <p:txBody>
          <a:bodyPr wrap="square" lIns="0" tIns="0" rIns="0" bIns="0" rtlCol="0" anchor="t"/>
          <a:lstStyle/>
          <a:p>
            <a:pPr algn="l" indent="0" marL="0">
              <a:buNone/>
            </a:pPr>
            <a:r>
              <a:rPr lang="en-US" sz="1400" b="1" dirty="0">
                <a:solidFill>
                  <a:srgbClr val="F0A500"/>
                </a:solidFill>
                <a:latin typeface="Arial" pitchFamily="34" charset="0"/>
                <a:ea typeface="Arial" pitchFamily="34" charset="-122"/>
                <a:cs typeface="Arial" pitchFamily="34" charset="-120"/>
              </a:rPr>
              <a:t>TypeScript SDK</a:t>
            </a:r>
            <a:endParaRPr lang="en-US" sz="1400" dirty="0"/>
          </a:p>
        </p:txBody>
      </p:sp>
      <p:sp>
        <p:nvSpPr>
          <p:cNvPr id="31" name="Text 29"/>
          <p:cNvSpPr/>
          <p:nvPr/>
        </p:nvSpPr>
        <p:spPr>
          <a:xfrm>
            <a:off x="4964311" y="1009650"/>
            <a:ext cx="762446" cy="393502"/>
          </a:xfrm>
          <a:prstGeom prst="roundRect">
            <a:avLst>
              <a:gd name="adj" fmla="val 64549"/>
            </a:avLst>
          </a:prstGeom>
          <a:solidFill>
            <a:srgbClr val="F0A500"/>
          </a:solidFill>
          <a:ln/>
        </p:spPr>
        <p:txBody>
          <a:bodyPr wrap="square" rtlCol="0" anchor="ctr"/>
          <a:lstStyle/>
          <a:p>
            <a:pPr indent="0" marL="0">
              <a:buNone/>
            </a:pPr>
            <a:endParaRPr lang="en-US" dirty="0"/>
          </a:p>
        </p:txBody>
      </p:sp>
      <p:sp>
        <p:nvSpPr>
          <p:cNvPr id="32" name="Text 30"/>
          <p:cNvSpPr/>
          <p:nvPr/>
        </p:nvSpPr>
        <p:spPr>
          <a:xfrm>
            <a:off x="5116711" y="1073051"/>
            <a:ext cx="466799"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76%</a:t>
            </a:r>
            <a:endParaRPr lang="en-US" sz="1800" dirty="0"/>
          </a:p>
        </p:txBody>
      </p:sp>
      <p:sp>
        <p:nvSpPr>
          <p:cNvPr id="33" name="Text 31"/>
          <p:cNvSpPr/>
          <p:nvPr/>
        </p:nvSpPr>
        <p:spPr>
          <a:xfrm>
            <a:off x="3417391" y="1701552"/>
            <a:ext cx="634088" cy="285750"/>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Dev Velocity</a:t>
            </a:r>
            <a:endParaRPr lang="en-US" sz="1000" dirty="0"/>
          </a:p>
        </p:txBody>
      </p:sp>
      <p:sp>
        <p:nvSpPr>
          <p:cNvPr id="34" name="Text 32"/>
          <p:cNvSpPr/>
          <p:nvPr/>
        </p:nvSpPr>
        <p:spPr>
          <a:xfrm>
            <a:off x="4039046" y="1768227"/>
            <a:ext cx="1243310"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35" name="Text 33"/>
          <p:cNvSpPr/>
          <p:nvPr/>
        </p:nvSpPr>
        <p:spPr>
          <a:xfrm>
            <a:off x="4039046" y="1768227"/>
            <a:ext cx="932408" cy="152400"/>
          </a:xfrm>
          <a:prstGeom prst="roundRect">
            <a:avLst>
              <a:gd name="adj" fmla="val 50000"/>
            </a:avLst>
          </a:prstGeom>
          <a:solidFill>
            <a:srgbClr val="F0A500"/>
          </a:solidFill>
          <a:ln/>
        </p:spPr>
        <p:txBody>
          <a:bodyPr wrap="square" rtlCol="0" anchor="ctr"/>
          <a:lstStyle/>
          <a:p>
            <a:pPr indent="0" marL="0">
              <a:buNone/>
            </a:pPr>
            <a:endParaRPr lang="en-US" dirty="0"/>
          </a:p>
        </p:txBody>
      </p:sp>
      <p:sp>
        <p:nvSpPr>
          <p:cNvPr id="36" name="Text 34"/>
          <p:cNvSpPr/>
          <p:nvPr/>
        </p:nvSpPr>
        <p:spPr>
          <a:xfrm>
            <a:off x="5273469" y="1772989"/>
            <a:ext cx="453289" cy="142875"/>
          </a:xfrm>
          <a:prstGeom prst="rect">
            <a:avLst/>
          </a:prstGeom>
          <a:noFill/>
          <a:ln/>
        </p:spPr>
        <p:txBody>
          <a:bodyPr wrap="square" lIns="0" tIns="0" rIns="0" bIns="0" rtlCol="0" anchor="t"/>
          <a:lstStyle/>
          <a:p>
            <a:pPr algn="r" indent="0" marL="0">
              <a:buNone/>
            </a:pPr>
            <a:r>
              <a:rPr lang="en-US" sz="1000" b="1" dirty="0">
                <a:solidFill>
                  <a:srgbClr val="333333"/>
                </a:solidFill>
                <a:latin typeface="Arial" pitchFamily="34" charset="0"/>
                <a:ea typeface="Arial" pitchFamily="34" charset="-122"/>
                <a:cs typeface="Arial" pitchFamily="34" charset="-120"/>
              </a:rPr>
              <a:t>75%</a:t>
            </a:r>
            <a:endParaRPr lang="en-US" sz="1000" dirty="0"/>
          </a:p>
        </p:txBody>
      </p:sp>
      <p:sp>
        <p:nvSpPr>
          <p:cNvPr id="37" name="Text 35"/>
          <p:cNvSpPr/>
          <p:nvPr/>
        </p:nvSpPr>
        <p:spPr>
          <a:xfrm>
            <a:off x="3417391" y="2093565"/>
            <a:ext cx="634088"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Ecosystem</a:t>
            </a:r>
            <a:endParaRPr lang="en-US" sz="1000" dirty="0"/>
          </a:p>
        </p:txBody>
      </p:sp>
      <p:sp>
        <p:nvSpPr>
          <p:cNvPr id="38" name="Text 36"/>
          <p:cNvSpPr/>
          <p:nvPr/>
        </p:nvSpPr>
        <p:spPr>
          <a:xfrm>
            <a:off x="4039046" y="2088803"/>
            <a:ext cx="1243310"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39" name="Text 37"/>
          <p:cNvSpPr/>
          <p:nvPr/>
        </p:nvSpPr>
        <p:spPr>
          <a:xfrm>
            <a:off x="4039046" y="2088803"/>
            <a:ext cx="1056680" cy="152400"/>
          </a:xfrm>
          <a:prstGeom prst="roundRect">
            <a:avLst>
              <a:gd name="adj" fmla="val 50000"/>
            </a:avLst>
          </a:prstGeom>
          <a:solidFill>
            <a:srgbClr val="F0A500"/>
          </a:solidFill>
          <a:ln/>
        </p:spPr>
        <p:txBody>
          <a:bodyPr wrap="square" rtlCol="0" anchor="ctr"/>
          <a:lstStyle/>
          <a:p>
            <a:pPr indent="0" marL="0">
              <a:buNone/>
            </a:pPr>
            <a:endParaRPr lang="en-US" dirty="0"/>
          </a:p>
        </p:txBody>
      </p:sp>
      <p:sp>
        <p:nvSpPr>
          <p:cNvPr id="40" name="Text 38"/>
          <p:cNvSpPr/>
          <p:nvPr/>
        </p:nvSpPr>
        <p:spPr>
          <a:xfrm>
            <a:off x="5273469" y="2093565"/>
            <a:ext cx="453289" cy="142875"/>
          </a:xfrm>
          <a:prstGeom prst="rect">
            <a:avLst/>
          </a:prstGeom>
          <a:noFill/>
          <a:ln/>
        </p:spPr>
        <p:txBody>
          <a:bodyPr wrap="square" lIns="0" tIns="0" rIns="0" bIns="0" rtlCol="0" anchor="t"/>
          <a:lstStyle/>
          <a:p>
            <a:pPr algn="r" indent="0" marL="0">
              <a:buNone/>
            </a:pPr>
            <a:r>
              <a:rPr lang="en-US" sz="1000" b="1" dirty="0">
                <a:solidFill>
                  <a:srgbClr val="333333"/>
                </a:solidFill>
                <a:latin typeface="Arial" pitchFamily="34" charset="0"/>
                <a:ea typeface="Arial" pitchFamily="34" charset="-122"/>
                <a:cs typeface="Arial" pitchFamily="34" charset="-120"/>
              </a:rPr>
              <a:t>85%</a:t>
            </a:r>
            <a:endParaRPr lang="en-US" sz="1000" dirty="0"/>
          </a:p>
        </p:txBody>
      </p:sp>
      <p:sp>
        <p:nvSpPr>
          <p:cNvPr id="41" name="Text 39"/>
          <p:cNvSpPr/>
          <p:nvPr/>
        </p:nvSpPr>
        <p:spPr>
          <a:xfrm>
            <a:off x="3417391" y="2347466"/>
            <a:ext cx="741414"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Performance</a:t>
            </a:r>
            <a:endParaRPr lang="en-US" sz="1000" dirty="0"/>
          </a:p>
        </p:txBody>
      </p:sp>
      <p:sp>
        <p:nvSpPr>
          <p:cNvPr id="42" name="Text 40"/>
          <p:cNvSpPr/>
          <p:nvPr/>
        </p:nvSpPr>
        <p:spPr>
          <a:xfrm>
            <a:off x="4144268" y="2342704"/>
            <a:ext cx="1138089"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43" name="Text 41"/>
          <p:cNvSpPr/>
          <p:nvPr/>
        </p:nvSpPr>
        <p:spPr>
          <a:xfrm>
            <a:off x="4144268" y="2342704"/>
            <a:ext cx="853529" cy="152400"/>
          </a:xfrm>
          <a:prstGeom prst="roundRect">
            <a:avLst>
              <a:gd name="adj" fmla="val 50000"/>
            </a:avLst>
          </a:prstGeom>
          <a:solidFill>
            <a:srgbClr val="F0A500"/>
          </a:solidFill>
          <a:ln/>
        </p:spPr>
        <p:txBody>
          <a:bodyPr wrap="square" rtlCol="0" anchor="ctr"/>
          <a:lstStyle/>
          <a:p>
            <a:pPr indent="0" marL="0">
              <a:buNone/>
            </a:pPr>
            <a:endParaRPr lang="en-US" dirty="0"/>
          </a:p>
        </p:txBody>
      </p:sp>
      <p:sp>
        <p:nvSpPr>
          <p:cNvPr id="44" name="Text 42"/>
          <p:cNvSpPr/>
          <p:nvPr/>
        </p:nvSpPr>
        <p:spPr>
          <a:xfrm>
            <a:off x="5273469" y="2347466"/>
            <a:ext cx="453289" cy="142875"/>
          </a:xfrm>
          <a:prstGeom prst="rect">
            <a:avLst/>
          </a:prstGeom>
          <a:noFill/>
          <a:ln/>
        </p:spPr>
        <p:txBody>
          <a:bodyPr wrap="square" lIns="0" tIns="0" rIns="0" bIns="0" rtlCol="0" anchor="t"/>
          <a:lstStyle/>
          <a:p>
            <a:pPr algn="r" indent="0" marL="0">
              <a:buNone/>
            </a:pPr>
            <a:r>
              <a:rPr lang="en-US" sz="1000" b="1" dirty="0">
                <a:solidFill>
                  <a:srgbClr val="333333"/>
                </a:solidFill>
                <a:latin typeface="Arial" pitchFamily="34" charset="0"/>
                <a:ea typeface="Arial" pitchFamily="34" charset="-122"/>
                <a:cs typeface="Arial" pitchFamily="34" charset="-120"/>
              </a:rPr>
              <a:t>75%</a:t>
            </a:r>
            <a:endParaRPr lang="en-US" sz="1000" dirty="0"/>
          </a:p>
        </p:txBody>
      </p:sp>
      <p:sp>
        <p:nvSpPr>
          <p:cNvPr id="45" name="Text 43"/>
          <p:cNvSpPr/>
          <p:nvPr/>
        </p:nvSpPr>
        <p:spPr>
          <a:xfrm>
            <a:off x="3417391" y="2601367"/>
            <a:ext cx="634088"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Memory</a:t>
            </a:r>
            <a:endParaRPr lang="en-US" sz="1000" dirty="0"/>
          </a:p>
        </p:txBody>
      </p:sp>
      <p:sp>
        <p:nvSpPr>
          <p:cNvPr id="46" name="Text 44"/>
          <p:cNvSpPr/>
          <p:nvPr/>
        </p:nvSpPr>
        <p:spPr>
          <a:xfrm>
            <a:off x="4039046" y="2596604"/>
            <a:ext cx="1243310"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47" name="Text 45"/>
          <p:cNvSpPr/>
          <p:nvPr/>
        </p:nvSpPr>
        <p:spPr>
          <a:xfrm>
            <a:off x="4039046" y="2596604"/>
            <a:ext cx="870198" cy="152400"/>
          </a:xfrm>
          <a:prstGeom prst="roundRect">
            <a:avLst>
              <a:gd name="adj" fmla="val 50000"/>
            </a:avLst>
          </a:prstGeom>
          <a:solidFill>
            <a:srgbClr val="F0A500"/>
          </a:solidFill>
          <a:ln/>
        </p:spPr>
        <p:txBody>
          <a:bodyPr wrap="square" rtlCol="0" anchor="ctr"/>
          <a:lstStyle/>
          <a:p>
            <a:pPr indent="0" marL="0">
              <a:buNone/>
            </a:pPr>
            <a:endParaRPr lang="en-US" dirty="0"/>
          </a:p>
        </p:txBody>
      </p:sp>
      <p:sp>
        <p:nvSpPr>
          <p:cNvPr id="48" name="Text 46"/>
          <p:cNvSpPr/>
          <p:nvPr/>
        </p:nvSpPr>
        <p:spPr>
          <a:xfrm>
            <a:off x="5273469" y="2601367"/>
            <a:ext cx="453289" cy="142875"/>
          </a:xfrm>
          <a:prstGeom prst="rect">
            <a:avLst/>
          </a:prstGeom>
          <a:noFill/>
          <a:ln/>
        </p:spPr>
        <p:txBody>
          <a:bodyPr wrap="square" lIns="0" tIns="0" rIns="0" bIns="0" rtlCol="0" anchor="t"/>
          <a:lstStyle/>
          <a:p>
            <a:pPr algn="r" indent="0" marL="0">
              <a:buNone/>
            </a:pPr>
            <a:r>
              <a:rPr lang="en-US" sz="1000" b="1" dirty="0">
                <a:solidFill>
                  <a:srgbClr val="333333"/>
                </a:solidFill>
                <a:latin typeface="Arial" pitchFamily="34" charset="0"/>
                <a:ea typeface="Arial" pitchFamily="34" charset="-122"/>
                <a:cs typeface="Arial" pitchFamily="34" charset="-120"/>
              </a:rPr>
              <a:t>70%</a:t>
            </a:r>
            <a:endParaRPr lang="en-US" sz="1000" dirty="0"/>
          </a:p>
        </p:txBody>
      </p:sp>
      <p:sp>
        <p:nvSpPr>
          <p:cNvPr id="49" name="Shape 47"/>
          <p:cNvSpPr/>
          <p:nvPr/>
        </p:nvSpPr>
        <p:spPr>
          <a:xfrm>
            <a:off x="3417391" y="4487912"/>
            <a:ext cx="2309366" cy="0"/>
          </a:xfrm>
          <a:prstGeom prst="line">
            <a:avLst/>
          </a:prstGeom>
          <a:noFill/>
          <a:ln w="9525">
            <a:solidFill>
              <a:srgbClr val="E0E5F0"/>
            </a:solidFill>
            <a:prstDash val="solid"/>
          </a:ln>
        </p:spPr>
      </p:sp>
      <p:sp>
        <p:nvSpPr>
          <p:cNvPr id="50" name="Text 48"/>
          <p:cNvSpPr/>
          <p:nvPr/>
        </p:nvSpPr>
        <p:spPr>
          <a:xfrm>
            <a:off x="3417391" y="4619625"/>
            <a:ext cx="2355553" cy="133350"/>
          </a:xfrm>
          <a:prstGeom prst="rect">
            <a:avLst/>
          </a:prstGeom>
          <a:noFill/>
          <a:ln/>
        </p:spPr>
        <p:txBody>
          <a:bodyPr wrap="square" lIns="0" tIns="0" rIns="0" bIns="0" rtlCol="0" anchor="t"/>
          <a:lstStyle/>
          <a:p>
            <a:pPr algn="l" indent="0" marL="0">
              <a:buNone/>
            </a:pPr>
            <a:r>
              <a:rPr lang="en-US" sz="900" i="1" dirty="0">
                <a:solidFill>
                  <a:srgbClr val="F0A500"/>
                </a:solidFill>
                <a:latin typeface="Arial" pitchFamily="34" charset="0"/>
                <a:ea typeface="Arial" pitchFamily="34" charset="-122"/>
                <a:cs typeface="Arial" pitchFamily="34" charset="-120"/>
              </a:rPr>
              <a:t>Best for: Full-stack teams, type safety focus</a:t>
            </a:r>
            <a:endParaRPr lang="en-US" sz="900" dirty="0"/>
          </a:p>
        </p:txBody>
      </p:sp>
      <p:sp>
        <p:nvSpPr>
          <p:cNvPr id="51" name="Text 49"/>
          <p:cNvSpPr/>
          <p:nvPr/>
        </p:nvSpPr>
        <p:spPr>
          <a:xfrm>
            <a:off x="6117282" y="809625"/>
            <a:ext cx="2709416" cy="4143375"/>
          </a:xfrm>
          <a:prstGeom prst="roundRect">
            <a:avLst>
              <a:gd name="adj" fmla="val 3750"/>
            </a:avLst>
          </a:prstGeom>
          <a:solidFill>
            <a:srgbClr val="FAFBFF"/>
          </a:solidFill>
          <a:ln w="9525">
            <a:solidFill>
              <a:srgbClr val="E0E5F0"/>
            </a:solidFill>
          </a:ln>
        </p:spPr>
        <p:txBody>
          <a:bodyPr wrap="square" rtlCol="0" anchor="ctr"/>
          <a:lstStyle/>
          <a:p>
            <a:pPr indent="0" marL="0">
              <a:buNone/>
            </a:pPr>
            <a:endParaRPr lang="en-US" dirty="0"/>
          </a:p>
        </p:txBody>
      </p:sp>
      <p:sp>
        <p:nvSpPr>
          <p:cNvPr id="52" name="Shape 50"/>
          <p:cNvSpPr/>
          <p:nvPr/>
        </p:nvSpPr>
        <p:spPr>
          <a:xfrm>
            <a:off x="6317307" y="1539627"/>
            <a:ext cx="2309366" cy="0"/>
          </a:xfrm>
          <a:prstGeom prst="line">
            <a:avLst/>
          </a:prstGeom>
          <a:noFill/>
          <a:ln w="19050">
            <a:solidFill>
              <a:srgbClr val="667EEA"/>
            </a:solidFill>
            <a:prstDash val="solid"/>
          </a:ln>
        </p:spPr>
      </p:sp>
      <p:sp>
        <p:nvSpPr>
          <p:cNvPr id="53" name="Text 51"/>
          <p:cNvSpPr/>
          <p:nvPr/>
        </p:nvSpPr>
        <p:spPr>
          <a:xfrm>
            <a:off x="6317307" y="1101626"/>
            <a:ext cx="684943" cy="209550"/>
          </a:xfrm>
          <a:prstGeom prst="rect">
            <a:avLst/>
          </a:prstGeom>
          <a:noFill/>
          <a:ln/>
        </p:spPr>
        <p:txBody>
          <a:bodyPr wrap="square" lIns="0" tIns="0" rIns="0" bIns="0" rtlCol="0" anchor="t"/>
          <a:lstStyle/>
          <a:p>
            <a:pPr algn="l" indent="0" marL="0">
              <a:buNone/>
            </a:pPr>
            <a:r>
              <a:rPr lang="en-US" sz="1400" b="1" dirty="0">
                <a:solidFill>
                  <a:srgbClr val="00B894"/>
                </a:solidFill>
                <a:latin typeface="Arial" pitchFamily="34" charset="0"/>
                <a:ea typeface="Arial" pitchFamily="34" charset="-122"/>
                <a:cs typeface="Arial" pitchFamily="34" charset="-120"/>
              </a:rPr>
              <a:t>Go SDK</a:t>
            </a:r>
            <a:endParaRPr lang="en-US" sz="1400" dirty="0"/>
          </a:p>
        </p:txBody>
      </p:sp>
      <p:sp>
        <p:nvSpPr>
          <p:cNvPr id="54" name="Text 52"/>
          <p:cNvSpPr/>
          <p:nvPr/>
        </p:nvSpPr>
        <p:spPr>
          <a:xfrm>
            <a:off x="7864227" y="1009650"/>
            <a:ext cx="762446" cy="393502"/>
          </a:xfrm>
          <a:prstGeom prst="roundRect">
            <a:avLst>
              <a:gd name="adj" fmla="val 64549"/>
            </a:avLst>
          </a:prstGeom>
          <a:solidFill>
            <a:srgbClr val="00B894"/>
          </a:solidFill>
          <a:ln/>
        </p:spPr>
        <p:txBody>
          <a:bodyPr wrap="square" rtlCol="0" anchor="ctr"/>
          <a:lstStyle/>
          <a:p>
            <a:pPr indent="0" marL="0">
              <a:buNone/>
            </a:pPr>
            <a:endParaRPr lang="en-US" dirty="0"/>
          </a:p>
        </p:txBody>
      </p:sp>
      <p:sp>
        <p:nvSpPr>
          <p:cNvPr id="55" name="Text 53"/>
          <p:cNvSpPr/>
          <p:nvPr/>
        </p:nvSpPr>
        <p:spPr>
          <a:xfrm>
            <a:off x="8016627" y="1073051"/>
            <a:ext cx="466799"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79%</a:t>
            </a:r>
            <a:endParaRPr lang="en-US" sz="1800" dirty="0"/>
          </a:p>
        </p:txBody>
      </p:sp>
      <p:sp>
        <p:nvSpPr>
          <p:cNvPr id="56" name="Text 54"/>
          <p:cNvSpPr/>
          <p:nvPr/>
        </p:nvSpPr>
        <p:spPr>
          <a:xfrm>
            <a:off x="6317307" y="1701552"/>
            <a:ext cx="634088" cy="285750"/>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Dev Velocity</a:t>
            </a:r>
            <a:endParaRPr lang="en-US" sz="1000" dirty="0"/>
          </a:p>
        </p:txBody>
      </p:sp>
      <p:sp>
        <p:nvSpPr>
          <p:cNvPr id="57" name="Text 55"/>
          <p:cNvSpPr/>
          <p:nvPr/>
        </p:nvSpPr>
        <p:spPr>
          <a:xfrm>
            <a:off x="6938963" y="1768227"/>
            <a:ext cx="1243310"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58" name="Text 56"/>
          <p:cNvSpPr/>
          <p:nvPr/>
        </p:nvSpPr>
        <p:spPr>
          <a:xfrm>
            <a:off x="6938963" y="1768227"/>
            <a:ext cx="745927" cy="152400"/>
          </a:xfrm>
          <a:prstGeom prst="roundRect">
            <a:avLst>
              <a:gd name="adj" fmla="val 50000"/>
            </a:avLst>
          </a:prstGeom>
          <a:solidFill>
            <a:srgbClr val="00B894"/>
          </a:solidFill>
          <a:ln/>
        </p:spPr>
        <p:txBody>
          <a:bodyPr wrap="square" rtlCol="0" anchor="ctr"/>
          <a:lstStyle/>
          <a:p>
            <a:pPr indent="0" marL="0">
              <a:buNone/>
            </a:pPr>
            <a:endParaRPr lang="en-US" dirty="0"/>
          </a:p>
        </p:txBody>
      </p:sp>
      <p:sp>
        <p:nvSpPr>
          <p:cNvPr id="59" name="Text 57"/>
          <p:cNvSpPr/>
          <p:nvPr/>
        </p:nvSpPr>
        <p:spPr>
          <a:xfrm>
            <a:off x="8173385" y="1772989"/>
            <a:ext cx="453289" cy="142875"/>
          </a:xfrm>
          <a:prstGeom prst="rect">
            <a:avLst/>
          </a:prstGeom>
          <a:noFill/>
          <a:ln/>
        </p:spPr>
        <p:txBody>
          <a:bodyPr wrap="square" lIns="0" tIns="0" rIns="0" bIns="0" rtlCol="0" anchor="t"/>
          <a:lstStyle/>
          <a:p>
            <a:pPr algn="r" indent="0" marL="0">
              <a:buNone/>
            </a:pPr>
            <a:r>
              <a:rPr lang="en-US" sz="1000" b="1" dirty="0">
                <a:solidFill>
                  <a:srgbClr val="333333"/>
                </a:solidFill>
                <a:latin typeface="Arial" pitchFamily="34" charset="0"/>
                <a:ea typeface="Arial" pitchFamily="34" charset="-122"/>
                <a:cs typeface="Arial" pitchFamily="34" charset="-120"/>
              </a:rPr>
              <a:t>60%</a:t>
            </a:r>
            <a:endParaRPr lang="en-US" sz="1000" dirty="0"/>
          </a:p>
        </p:txBody>
      </p:sp>
      <p:sp>
        <p:nvSpPr>
          <p:cNvPr id="60" name="Text 58"/>
          <p:cNvSpPr/>
          <p:nvPr/>
        </p:nvSpPr>
        <p:spPr>
          <a:xfrm>
            <a:off x="6317307" y="2093565"/>
            <a:ext cx="634088"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Ecosystem</a:t>
            </a:r>
            <a:endParaRPr lang="en-US" sz="1000" dirty="0"/>
          </a:p>
        </p:txBody>
      </p:sp>
      <p:sp>
        <p:nvSpPr>
          <p:cNvPr id="61" name="Text 59"/>
          <p:cNvSpPr/>
          <p:nvPr/>
        </p:nvSpPr>
        <p:spPr>
          <a:xfrm>
            <a:off x="6938963" y="2088803"/>
            <a:ext cx="1243310"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62" name="Text 60"/>
          <p:cNvSpPr/>
          <p:nvPr/>
        </p:nvSpPr>
        <p:spPr>
          <a:xfrm>
            <a:off x="6938963" y="2088803"/>
            <a:ext cx="808137" cy="152400"/>
          </a:xfrm>
          <a:prstGeom prst="roundRect">
            <a:avLst>
              <a:gd name="adj" fmla="val 50000"/>
            </a:avLst>
          </a:prstGeom>
          <a:solidFill>
            <a:srgbClr val="00B894"/>
          </a:solidFill>
          <a:ln/>
        </p:spPr>
        <p:txBody>
          <a:bodyPr wrap="square" rtlCol="0" anchor="ctr"/>
          <a:lstStyle/>
          <a:p>
            <a:pPr indent="0" marL="0">
              <a:buNone/>
            </a:pPr>
            <a:endParaRPr lang="en-US" dirty="0"/>
          </a:p>
        </p:txBody>
      </p:sp>
      <p:sp>
        <p:nvSpPr>
          <p:cNvPr id="63" name="Text 61"/>
          <p:cNvSpPr/>
          <p:nvPr/>
        </p:nvSpPr>
        <p:spPr>
          <a:xfrm>
            <a:off x="8173385" y="2093565"/>
            <a:ext cx="453289" cy="142875"/>
          </a:xfrm>
          <a:prstGeom prst="rect">
            <a:avLst/>
          </a:prstGeom>
          <a:noFill/>
          <a:ln/>
        </p:spPr>
        <p:txBody>
          <a:bodyPr wrap="square" lIns="0" tIns="0" rIns="0" bIns="0" rtlCol="0" anchor="t"/>
          <a:lstStyle/>
          <a:p>
            <a:pPr algn="r" indent="0" marL="0">
              <a:buNone/>
            </a:pPr>
            <a:r>
              <a:rPr lang="en-US" sz="1000" b="1" dirty="0">
                <a:solidFill>
                  <a:srgbClr val="333333"/>
                </a:solidFill>
                <a:latin typeface="Arial" pitchFamily="34" charset="0"/>
                <a:ea typeface="Arial" pitchFamily="34" charset="-122"/>
                <a:cs typeface="Arial" pitchFamily="34" charset="-120"/>
              </a:rPr>
              <a:t>65%</a:t>
            </a:r>
            <a:endParaRPr lang="en-US" sz="1000" dirty="0"/>
          </a:p>
        </p:txBody>
      </p:sp>
      <p:sp>
        <p:nvSpPr>
          <p:cNvPr id="64" name="Text 62"/>
          <p:cNvSpPr/>
          <p:nvPr/>
        </p:nvSpPr>
        <p:spPr>
          <a:xfrm>
            <a:off x="6317307" y="2347466"/>
            <a:ext cx="741414"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Performance</a:t>
            </a:r>
            <a:endParaRPr lang="en-US" sz="1000" dirty="0"/>
          </a:p>
        </p:txBody>
      </p:sp>
      <p:sp>
        <p:nvSpPr>
          <p:cNvPr id="65" name="Text 63"/>
          <p:cNvSpPr/>
          <p:nvPr/>
        </p:nvSpPr>
        <p:spPr>
          <a:xfrm>
            <a:off x="7044184" y="2342704"/>
            <a:ext cx="1138089"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66" name="Text 64"/>
          <p:cNvSpPr/>
          <p:nvPr/>
        </p:nvSpPr>
        <p:spPr>
          <a:xfrm>
            <a:off x="7044184" y="2342704"/>
            <a:ext cx="1081088" cy="152400"/>
          </a:xfrm>
          <a:prstGeom prst="roundRect">
            <a:avLst>
              <a:gd name="adj" fmla="val 50000"/>
            </a:avLst>
          </a:prstGeom>
          <a:solidFill>
            <a:srgbClr val="00B894"/>
          </a:solidFill>
          <a:ln/>
        </p:spPr>
        <p:txBody>
          <a:bodyPr wrap="square" rtlCol="0" anchor="ctr"/>
          <a:lstStyle/>
          <a:p>
            <a:pPr indent="0" marL="0">
              <a:buNone/>
            </a:pPr>
            <a:endParaRPr lang="en-US" dirty="0"/>
          </a:p>
        </p:txBody>
      </p:sp>
      <p:sp>
        <p:nvSpPr>
          <p:cNvPr id="67" name="Text 65"/>
          <p:cNvSpPr/>
          <p:nvPr/>
        </p:nvSpPr>
        <p:spPr>
          <a:xfrm>
            <a:off x="8173385" y="2347466"/>
            <a:ext cx="453289" cy="142875"/>
          </a:xfrm>
          <a:prstGeom prst="rect">
            <a:avLst/>
          </a:prstGeom>
          <a:noFill/>
          <a:ln/>
        </p:spPr>
        <p:txBody>
          <a:bodyPr wrap="square" lIns="0" tIns="0" rIns="0" bIns="0" rtlCol="0" anchor="t"/>
          <a:lstStyle/>
          <a:p>
            <a:pPr algn="r" indent="0" marL="0">
              <a:buNone/>
            </a:pPr>
            <a:r>
              <a:rPr lang="en-US" sz="1000" b="1" dirty="0">
                <a:solidFill>
                  <a:srgbClr val="333333"/>
                </a:solidFill>
                <a:latin typeface="Arial" pitchFamily="34" charset="0"/>
                <a:ea typeface="Arial" pitchFamily="34" charset="-122"/>
                <a:cs typeface="Arial" pitchFamily="34" charset="-120"/>
              </a:rPr>
              <a:t>95%</a:t>
            </a:r>
            <a:endParaRPr lang="en-US" sz="1000" dirty="0"/>
          </a:p>
        </p:txBody>
      </p:sp>
      <p:sp>
        <p:nvSpPr>
          <p:cNvPr id="68" name="Text 66"/>
          <p:cNvSpPr/>
          <p:nvPr/>
        </p:nvSpPr>
        <p:spPr>
          <a:xfrm>
            <a:off x="6317307" y="2601367"/>
            <a:ext cx="634088"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Memory</a:t>
            </a:r>
            <a:endParaRPr lang="en-US" sz="1000" dirty="0"/>
          </a:p>
        </p:txBody>
      </p:sp>
      <p:sp>
        <p:nvSpPr>
          <p:cNvPr id="69" name="Text 67"/>
          <p:cNvSpPr/>
          <p:nvPr/>
        </p:nvSpPr>
        <p:spPr>
          <a:xfrm>
            <a:off x="6938963" y="2596604"/>
            <a:ext cx="1243310"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70" name="Text 68"/>
          <p:cNvSpPr/>
          <p:nvPr/>
        </p:nvSpPr>
        <p:spPr>
          <a:xfrm>
            <a:off x="6938963" y="2596604"/>
            <a:ext cx="1181100" cy="152400"/>
          </a:xfrm>
          <a:prstGeom prst="roundRect">
            <a:avLst>
              <a:gd name="adj" fmla="val 50000"/>
            </a:avLst>
          </a:prstGeom>
          <a:solidFill>
            <a:srgbClr val="00B894"/>
          </a:solidFill>
          <a:ln/>
        </p:spPr>
        <p:txBody>
          <a:bodyPr wrap="square" rtlCol="0" anchor="ctr"/>
          <a:lstStyle/>
          <a:p>
            <a:pPr indent="0" marL="0">
              <a:buNone/>
            </a:pPr>
            <a:endParaRPr lang="en-US" dirty="0"/>
          </a:p>
        </p:txBody>
      </p:sp>
      <p:sp>
        <p:nvSpPr>
          <p:cNvPr id="71" name="Text 69"/>
          <p:cNvSpPr/>
          <p:nvPr/>
        </p:nvSpPr>
        <p:spPr>
          <a:xfrm>
            <a:off x="8173385" y="2601367"/>
            <a:ext cx="453289" cy="142875"/>
          </a:xfrm>
          <a:prstGeom prst="rect">
            <a:avLst/>
          </a:prstGeom>
          <a:noFill/>
          <a:ln/>
        </p:spPr>
        <p:txBody>
          <a:bodyPr wrap="square" lIns="0" tIns="0" rIns="0" bIns="0" rtlCol="0" anchor="t"/>
          <a:lstStyle/>
          <a:p>
            <a:pPr algn="r" indent="0" marL="0">
              <a:buNone/>
            </a:pPr>
            <a:r>
              <a:rPr lang="en-US" sz="1000" b="1" dirty="0">
                <a:solidFill>
                  <a:srgbClr val="333333"/>
                </a:solidFill>
                <a:latin typeface="Arial" pitchFamily="34" charset="0"/>
                <a:ea typeface="Arial" pitchFamily="34" charset="-122"/>
                <a:cs typeface="Arial" pitchFamily="34" charset="-120"/>
              </a:rPr>
              <a:t>95%</a:t>
            </a:r>
            <a:endParaRPr lang="en-US" sz="1000" dirty="0"/>
          </a:p>
        </p:txBody>
      </p:sp>
      <p:sp>
        <p:nvSpPr>
          <p:cNvPr id="72" name="Shape 70"/>
          <p:cNvSpPr/>
          <p:nvPr/>
        </p:nvSpPr>
        <p:spPr>
          <a:xfrm>
            <a:off x="6317307" y="4487912"/>
            <a:ext cx="2309366" cy="0"/>
          </a:xfrm>
          <a:prstGeom prst="line">
            <a:avLst/>
          </a:prstGeom>
          <a:noFill/>
          <a:ln w="9525">
            <a:solidFill>
              <a:srgbClr val="E0E5F0"/>
            </a:solidFill>
            <a:prstDash val="solid"/>
          </a:ln>
        </p:spPr>
      </p:sp>
      <p:sp>
        <p:nvSpPr>
          <p:cNvPr id="73" name="Text 71"/>
          <p:cNvSpPr/>
          <p:nvPr/>
        </p:nvSpPr>
        <p:spPr>
          <a:xfrm>
            <a:off x="6317307" y="4619625"/>
            <a:ext cx="2355553" cy="133350"/>
          </a:xfrm>
          <a:prstGeom prst="rect">
            <a:avLst/>
          </a:prstGeom>
          <a:noFill/>
          <a:ln/>
        </p:spPr>
        <p:txBody>
          <a:bodyPr wrap="square" lIns="0" tIns="0" rIns="0" bIns="0" rtlCol="0" anchor="t"/>
          <a:lstStyle/>
          <a:p>
            <a:pPr algn="l" indent="0" marL="0">
              <a:buNone/>
            </a:pPr>
            <a:r>
              <a:rPr lang="en-US" sz="900" i="1" dirty="0">
                <a:solidFill>
                  <a:srgbClr val="00B894"/>
                </a:solidFill>
                <a:latin typeface="Arial" pitchFamily="34" charset="0"/>
                <a:ea typeface="Arial" pitchFamily="34" charset="-122"/>
                <a:cs typeface="Arial" pitchFamily="34" charset="-120"/>
              </a:rPr>
              <a:t>Best for: High-scale, resource-constrained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19125"/>
          </a:xfrm>
          <a:prstGeom prst="rect">
            <a:avLst/>
          </a:prstGeom>
          <a:solidFill>
            <a:srgbClr val="F0F4FF"/>
          </a:solidFill>
          <a:ln/>
        </p:spPr>
        <p:txBody>
          <a:bodyPr wrap="square" rtlCol="0" anchor="ctr"/>
          <a:lstStyle/>
          <a:p>
            <a:pPr indent="0" marL="0">
              <a:buNone/>
            </a:pPr>
            <a:endParaRPr lang="en-US" dirty="0"/>
          </a:p>
        </p:txBody>
      </p:sp>
      <p:sp>
        <p:nvSpPr>
          <p:cNvPr id="3" name="Shape 1"/>
          <p:cNvSpPr/>
          <p:nvPr/>
        </p:nvSpPr>
        <p:spPr>
          <a:xfrm>
            <a:off x="0" y="609600"/>
            <a:ext cx="9144000" cy="0"/>
          </a:xfrm>
          <a:prstGeom prst="line">
            <a:avLst/>
          </a:prstGeom>
          <a:noFill/>
          <a:ln w="19050">
            <a:solidFill>
              <a:srgbClr val="667EEA"/>
            </a:solidFill>
            <a:prstDash val="solid"/>
          </a:ln>
        </p:spPr>
      </p:sp>
      <p:sp>
        <p:nvSpPr>
          <p:cNvPr id="4" name="Text 2"/>
          <p:cNvSpPr/>
          <p:nvPr/>
        </p:nvSpPr>
        <p:spPr>
          <a:xfrm>
            <a:off x="317450" y="152400"/>
            <a:ext cx="3156778" cy="295275"/>
          </a:xfrm>
          <a:prstGeom prst="rect">
            <a:avLst/>
          </a:prstGeom>
          <a:noFill/>
          <a:ln/>
        </p:spPr>
        <p:txBody>
          <a:bodyPr wrap="square" lIns="0" tIns="0" rIns="0" bIns="0" rtlCol="0" anchor="t"/>
          <a:lstStyle/>
          <a:p>
            <a:pPr algn="l" indent="0" marL="0">
              <a:buNone/>
            </a:pPr>
            <a:r>
              <a:rPr lang="en-US" sz="2000" b="1" dirty="0">
                <a:solidFill>
                  <a:srgbClr val="1A1A2E"/>
                </a:solidFill>
                <a:latin typeface="Arial" pitchFamily="34" charset="0"/>
                <a:ea typeface="Arial" pitchFamily="34" charset="-122"/>
                <a:cs typeface="Arial" pitchFamily="34" charset="-120"/>
              </a:rPr>
              <a:t>Omni-Cortex Architecture</a:t>
            </a:r>
            <a:endParaRPr lang="en-US" sz="2000" dirty="0"/>
          </a:p>
        </p:txBody>
      </p:sp>
      <p:sp>
        <p:nvSpPr>
          <p:cNvPr id="5" name="Text 3"/>
          <p:cNvSpPr/>
          <p:nvPr/>
        </p:nvSpPr>
        <p:spPr>
          <a:xfrm>
            <a:off x="7573417" y="182612"/>
            <a:ext cx="1253133" cy="234851"/>
          </a:xfrm>
          <a:prstGeom prst="roundRect">
            <a:avLst>
              <a:gd name="adj" fmla="val 81115"/>
            </a:avLst>
          </a:prstGeom>
          <a:solidFill>
            <a:srgbClr val="667EEA"/>
          </a:solidFill>
          <a:ln/>
        </p:spPr>
        <p:txBody>
          <a:bodyPr wrap="square" rtlCol="0" anchor="ctr"/>
          <a:lstStyle/>
          <a:p>
            <a:pPr indent="0" marL="0">
              <a:buNone/>
            </a:pPr>
            <a:endParaRPr lang="en-US" dirty="0"/>
          </a:p>
        </p:txBody>
      </p:sp>
      <p:sp>
        <p:nvSpPr>
          <p:cNvPr id="6" name="Text 4"/>
          <p:cNvSpPr/>
          <p:nvPr/>
        </p:nvSpPr>
        <p:spPr>
          <a:xfrm>
            <a:off x="7700367" y="233362"/>
            <a:ext cx="1019217" cy="133350"/>
          </a:xfrm>
          <a:prstGeom prst="rect">
            <a:avLst/>
          </a:prstGeom>
          <a:noFill/>
          <a:ln/>
        </p:spPr>
        <p:txBody>
          <a:bodyPr wrap="square" lIns="0" tIns="0" rIns="0" bIns="0" rtlCol="0" anchor="t"/>
          <a:lstStyle/>
          <a:p>
            <a:pPr algn="l" indent="0" marL="0">
              <a:buNone/>
            </a:pPr>
            <a:r>
              <a:rPr lang="en-US" sz="900" dirty="0">
                <a:solidFill>
                  <a:srgbClr val="FFFFFF"/>
                </a:solidFill>
                <a:latin typeface="Arial" pitchFamily="34" charset="0"/>
                <a:ea typeface="Arial" pitchFamily="34" charset="-122"/>
                <a:cs typeface="Arial" pitchFamily="34" charset="-120"/>
              </a:rPr>
              <a:t>IMPLEMENTATION</a:t>
            </a:r>
            <a:endParaRPr lang="en-US" sz="900" dirty="0"/>
          </a:p>
        </p:txBody>
      </p:sp>
      <p:sp>
        <p:nvSpPr>
          <p:cNvPr id="7" name="Text 5"/>
          <p:cNvSpPr/>
          <p:nvPr/>
        </p:nvSpPr>
        <p:spPr>
          <a:xfrm>
            <a:off x="317450" y="746075"/>
            <a:ext cx="4178350" cy="495300"/>
          </a:xfrm>
          <a:prstGeom prst="roundRect">
            <a:avLst>
              <a:gd name="adj" fmla="val 15385"/>
            </a:avLst>
          </a:prstGeom>
          <a:solidFill>
            <a:srgbClr val="FAFBFF"/>
          </a:solidFill>
          <a:ln/>
        </p:spPr>
        <p:txBody>
          <a:bodyPr wrap="square" rtlCol="0" anchor="ctr"/>
          <a:lstStyle/>
          <a:p>
            <a:pPr indent="0" marL="0">
              <a:buNone/>
            </a:pPr>
            <a:endParaRPr lang="en-US" dirty="0"/>
          </a:p>
        </p:txBody>
      </p:sp>
      <p:sp>
        <p:nvSpPr>
          <p:cNvPr id="8" name="Shape 6"/>
          <p:cNvSpPr/>
          <p:nvPr/>
        </p:nvSpPr>
        <p:spPr>
          <a:xfrm>
            <a:off x="317450" y="750838"/>
            <a:ext cx="4178350" cy="0"/>
          </a:xfrm>
          <a:prstGeom prst="line">
            <a:avLst/>
          </a:prstGeom>
          <a:noFill/>
          <a:ln w="9525">
            <a:solidFill>
              <a:srgbClr val="E0E5F0"/>
            </a:solidFill>
            <a:prstDash val="solid"/>
          </a:ln>
        </p:spPr>
      </p:sp>
      <p:sp>
        <p:nvSpPr>
          <p:cNvPr id="9" name="Shape 7"/>
          <p:cNvSpPr/>
          <p:nvPr/>
        </p:nvSpPr>
        <p:spPr>
          <a:xfrm>
            <a:off x="4491038" y="746075"/>
            <a:ext cx="0" cy="495300"/>
          </a:xfrm>
          <a:prstGeom prst="line">
            <a:avLst/>
          </a:prstGeom>
          <a:noFill/>
          <a:ln w="9525">
            <a:solidFill>
              <a:srgbClr val="E0E5F0"/>
            </a:solidFill>
            <a:prstDash val="solid"/>
          </a:ln>
        </p:spPr>
      </p:sp>
      <p:sp>
        <p:nvSpPr>
          <p:cNvPr id="10" name="Shape 8"/>
          <p:cNvSpPr/>
          <p:nvPr/>
        </p:nvSpPr>
        <p:spPr>
          <a:xfrm>
            <a:off x="317450" y="1236613"/>
            <a:ext cx="4178350" cy="0"/>
          </a:xfrm>
          <a:prstGeom prst="line">
            <a:avLst/>
          </a:prstGeom>
          <a:noFill/>
          <a:ln w="9525">
            <a:solidFill>
              <a:srgbClr val="E0E5F0"/>
            </a:solidFill>
            <a:prstDash val="solid"/>
          </a:ln>
        </p:spPr>
      </p:sp>
      <p:sp>
        <p:nvSpPr>
          <p:cNvPr id="11" name="Shape 9"/>
          <p:cNvSpPr/>
          <p:nvPr/>
        </p:nvSpPr>
        <p:spPr>
          <a:xfrm>
            <a:off x="336500" y="746075"/>
            <a:ext cx="0" cy="495300"/>
          </a:xfrm>
          <a:prstGeom prst="line">
            <a:avLst/>
          </a:prstGeom>
          <a:noFill/>
          <a:ln w="38100">
            <a:solidFill>
              <a:srgbClr val="667EEA"/>
            </a:solidFill>
            <a:prstDash val="solid"/>
          </a:ln>
        </p:spPr>
      </p:sp>
      <p:sp>
        <p:nvSpPr>
          <p:cNvPr id="12" name="Text 10"/>
          <p:cNvSpPr/>
          <p:nvPr/>
        </p:nvSpPr>
        <p:spPr>
          <a:xfrm>
            <a:off x="482501" y="831800"/>
            <a:ext cx="3954360" cy="152400"/>
          </a:xfrm>
          <a:prstGeom prst="rect">
            <a:avLst/>
          </a:prstGeom>
          <a:noFill/>
          <a:ln/>
        </p:spPr>
        <p:txBody>
          <a:bodyPr wrap="square" lIns="0" tIns="0" rIns="0" bIns="0" rtlCol="0" anchor="t"/>
          <a:lstStyle/>
          <a:p>
            <a:pPr algn="l" indent="0" marL="0">
              <a:spcAft>
                <a:spcPts val="300"/>
              </a:spcAft>
              <a:buNone/>
            </a:pPr>
            <a:r>
              <a:rPr lang="en-US" sz="1100" b="1" dirty="0">
                <a:solidFill>
                  <a:srgbClr val="1A1A2E"/>
                </a:solidFill>
                <a:latin typeface="Arial" pitchFamily="34" charset="0"/>
                <a:ea typeface="Arial" pitchFamily="34" charset="-122"/>
                <a:cs typeface="Arial" pitchFamily="34" charset="-120"/>
              </a:rPr>
              <a:t>FastMCP Decorators</a:t>
            </a:r>
            <a:endParaRPr lang="en-US" sz="1100" dirty="0"/>
          </a:p>
        </p:txBody>
      </p:sp>
      <p:sp>
        <p:nvSpPr>
          <p:cNvPr id="13" name="Text 11"/>
          <p:cNvSpPr/>
          <p:nvPr/>
        </p:nvSpPr>
        <p:spPr>
          <a:xfrm>
            <a:off x="482501" y="1022300"/>
            <a:ext cx="3954360" cy="133350"/>
          </a:xfrm>
          <a:prstGeom prst="rect">
            <a:avLst/>
          </a:prstGeom>
          <a:noFill/>
          <a:ln/>
        </p:spPr>
        <p:txBody>
          <a:bodyPr wrap="square" lIns="0" tIns="0" rIns="0" bIns="0" rtlCol="0" anchor="t"/>
          <a:lstStyle/>
          <a:p>
            <a:pPr algn="l" indent="0" marL="0">
              <a:buNone/>
            </a:pPr>
            <a:r>
              <a:rPr lang="en-US" sz="900" dirty="0">
                <a:solidFill>
                  <a:srgbClr val="666666"/>
                </a:solidFill>
                <a:latin typeface="Arial" pitchFamily="34" charset="0"/>
                <a:ea typeface="Arial" pitchFamily="34" charset="-122"/>
                <a:cs typeface="Arial" pitchFamily="34" charset="-120"/>
              </a:rPr>
              <a:t>Clean tool registration with @mcp.tool() pattern</a:t>
            </a:r>
            <a:endParaRPr lang="en-US" sz="900" dirty="0"/>
          </a:p>
        </p:txBody>
      </p:sp>
      <p:sp>
        <p:nvSpPr>
          <p:cNvPr id="14" name="Text 12"/>
          <p:cNvSpPr/>
          <p:nvPr/>
        </p:nvSpPr>
        <p:spPr>
          <a:xfrm>
            <a:off x="317450" y="1304776"/>
            <a:ext cx="4178350" cy="495300"/>
          </a:xfrm>
          <a:prstGeom prst="roundRect">
            <a:avLst>
              <a:gd name="adj" fmla="val 15385"/>
            </a:avLst>
          </a:prstGeom>
          <a:solidFill>
            <a:srgbClr val="FAFBFF"/>
          </a:solidFill>
          <a:ln/>
        </p:spPr>
        <p:txBody>
          <a:bodyPr wrap="square" rtlCol="0" anchor="ctr"/>
          <a:lstStyle/>
          <a:p>
            <a:pPr indent="0" marL="0">
              <a:buNone/>
            </a:pPr>
            <a:endParaRPr lang="en-US" dirty="0"/>
          </a:p>
        </p:txBody>
      </p:sp>
      <p:sp>
        <p:nvSpPr>
          <p:cNvPr id="15" name="Shape 13"/>
          <p:cNvSpPr/>
          <p:nvPr/>
        </p:nvSpPr>
        <p:spPr>
          <a:xfrm>
            <a:off x="317450" y="1309539"/>
            <a:ext cx="4178350" cy="0"/>
          </a:xfrm>
          <a:prstGeom prst="line">
            <a:avLst/>
          </a:prstGeom>
          <a:noFill/>
          <a:ln w="9525">
            <a:solidFill>
              <a:srgbClr val="E0E5F0"/>
            </a:solidFill>
            <a:prstDash val="solid"/>
          </a:ln>
        </p:spPr>
      </p:sp>
      <p:sp>
        <p:nvSpPr>
          <p:cNvPr id="16" name="Shape 14"/>
          <p:cNvSpPr/>
          <p:nvPr/>
        </p:nvSpPr>
        <p:spPr>
          <a:xfrm>
            <a:off x="4491038" y="1304776"/>
            <a:ext cx="0" cy="495300"/>
          </a:xfrm>
          <a:prstGeom prst="line">
            <a:avLst/>
          </a:prstGeom>
          <a:noFill/>
          <a:ln w="9525">
            <a:solidFill>
              <a:srgbClr val="E0E5F0"/>
            </a:solidFill>
            <a:prstDash val="solid"/>
          </a:ln>
        </p:spPr>
      </p:sp>
      <p:sp>
        <p:nvSpPr>
          <p:cNvPr id="17" name="Shape 15"/>
          <p:cNvSpPr/>
          <p:nvPr/>
        </p:nvSpPr>
        <p:spPr>
          <a:xfrm>
            <a:off x="317450" y="1795314"/>
            <a:ext cx="4178350" cy="0"/>
          </a:xfrm>
          <a:prstGeom prst="line">
            <a:avLst/>
          </a:prstGeom>
          <a:noFill/>
          <a:ln w="9525">
            <a:solidFill>
              <a:srgbClr val="E0E5F0"/>
            </a:solidFill>
            <a:prstDash val="solid"/>
          </a:ln>
        </p:spPr>
      </p:sp>
      <p:sp>
        <p:nvSpPr>
          <p:cNvPr id="18" name="Shape 16"/>
          <p:cNvSpPr/>
          <p:nvPr/>
        </p:nvSpPr>
        <p:spPr>
          <a:xfrm>
            <a:off x="336500" y="1304776"/>
            <a:ext cx="0" cy="495300"/>
          </a:xfrm>
          <a:prstGeom prst="line">
            <a:avLst/>
          </a:prstGeom>
          <a:noFill/>
          <a:ln w="38100">
            <a:solidFill>
              <a:srgbClr val="667EEA"/>
            </a:solidFill>
            <a:prstDash val="solid"/>
          </a:ln>
        </p:spPr>
      </p:sp>
      <p:sp>
        <p:nvSpPr>
          <p:cNvPr id="19" name="Text 17"/>
          <p:cNvSpPr/>
          <p:nvPr/>
        </p:nvSpPr>
        <p:spPr>
          <a:xfrm>
            <a:off x="482501" y="1390501"/>
            <a:ext cx="3954360" cy="152400"/>
          </a:xfrm>
          <a:prstGeom prst="rect">
            <a:avLst/>
          </a:prstGeom>
          <a:noFill/>
          <a:ln/>
        </p:spPr>
        <p:txBody>
          <a:bodyPr wrap="square" lIns="0" tIns="0" rIns="0" bIns="0" rtlCol="0" anchor="t"/>
          <a:lstStyle/>
          <a:p>
            <a:pPr algn="l" indent="0" marL="0">
              <a:spcAft>
                <a:spcPts val="300"/>
              </a:spcAft>
              <a:buNone/>
            </a:pPr>
            <a:r>
              <a:rPr lang="en-US" sz="1100" b="1" dirty="0">
                <a:solidFill>
                  <a:srgbClr val="1A1A2E"/>
                </a:solidFill>
                <a:latin typeface="Arial" pitchFamily="34" charset="0"/>
                <a:ea typeface="Arial" pitchFamily="34" charset="-122"/>
                <a:cs typeface="Arial" pitchFamily="34" charset="-120"/>
              </a:rPr>
              <a:t>SQLite + FTS5</a:t>
            </a:r>
            <a:endParaRPr lang="en-US" sz="1100" dirty="0"/>
          </a:p>
        </p:txBody>
      </p:sp>
      <p:sp>
        <p:nvSpPr>
          <p:cNvPr id="20" name="Text 18"/>
          <p:cNvSpPr/>
          <p:nvPr/>
        </p:nvSpPr>
        <p:spPr>
          <a:xfrm>
            <a:off x="482501" y="1581001"/>
            <a:ext cx="3954360" cy="133350"/>
          </a:xfrm>
          <a:prstGeom prst="rect">
            <a:avLst/>
          </a:prstGeom>
          <a:noFill/>
          <a:ln/>
        </p:spPr>
        <p:txBody>
          <a:bodyPr wrap="square" lIns="0" tIns="0" rIns="0" bIns="0" rtlCol="0" anchor="t"/>
          <a:lstStyle/>
          <a:p>
            <a:pPr algn="l" indent="0" marL="0">
              <a:buNone/>
            </a:pPr>
            <a:r>
              <a:rPr lang="en-US" sz="900" dirty="0">
                <a:solidFill>
                  <a:srgbClr val="666666"/>
                </a:solidFill>
                <a:latin typeface="Arial" pitchFamily="34" charset="0"/>
                <a:ea typeface="Arial" pitchFamily="34" charset="-122"/>
                <a:cs typeface="Arial" pitchFamily="34" charset="-120"/>
              </a:rPr>
              <a:t>Zero external dependencies, full-text search built-in</a:t>
            </a:r>
            <a:endParaRPr lang="en-US" sz="900" dirty="0"/>
          </a:p>
        </p:txBody>
      </p:sp>
      <p:sp>
        <p:nvSpPr>
          <p:cNvPr id="21" name="Text 19"/>
          <p:cNvSpPr/>
          <p:nvPr/>
        </p:nvSpPr>
        <p:spPr>
          <a:xfrm>
            <a:off x="317450" y="1863477"/>
            <a:ext cx="4178350" cy="495300"/>
          </a:xfrm>
          <a:prstGeom prst="roundRect">
            <a:avLst>
              <a:gd name="adj" fmla="val 15385"/>
            </a:avLst>
          </a:prstGeom>
          <a:solidFill>
            <a:srgbClr val="FAFBFF"/>
          </a:solidFill>
          <a:ln/>
        </p:spPr>
        <p:txBody>
          <a:bodyPr wrap="square" rtlCol="0" anchor="ctr"/>
          <a:lstStyle/>
          <a:p>
            <a:pPr indent="0" marL="0">
              <a:buNone/>
            </a:pPr>
            <a:endParaRPr lang="en-US" dirty="0"/>
          </a:p>
        </p:txBody>
      </p:sp>
      <p:sp>
        <p:nvSpPr>
          <p:cNvPr id="22" name="Shape 20"/>
          <p:cNvSpPr/>
          <p:nvPr/>
        </p:nvSpPr>
        <p:spPr>
          <a:xfrm>
            <a:off x="317450" y="1868239"/>
            <a:ext cx="4178350" cy="0"/>
          </a:xfrm>
          <a:prstGeom prst="line">
            <a:avLst/>
          </a:prstGeom>
          <a:noFill/>
          <a:ln w="9525">
            <a:solidFill>
              <a:srgbClr val="E0E5F0"/>
            </a:solidFill>
            <a:prstDash val="solid"/>
          </a:ln>
        </p:spPr>
      </p:sp>
      <p:sp>
        <p:nvSpPr>
          <p:cNvPr id="23" name="Shape 21"/>
          <p:cNvSpPr/>
          <p:nvPr/>
        </p:nvSpPr>
        <p:spPr>
          <a:xfrm>
            <a:off x="4491038" y="1863477"/>
            <a:ext cx="0" cy="495300"/>
          </a:xfrm>
          <a:prstGeom prst="line">
            <a:avLst/>
          </a:prstGeom>
          <a:noFill/>
          <a:ln w="9525">
            <a:solidFill>
              <a:srgbClr val="E0E5F0"/>
            </a:solidFill>
            <a:prstDash val="solid"/>
          </a:ln>
        </p:spPr>
      </p:sp>
      <p:sp>
        <p:nvSpPr>
          <p:cNvPr id="24" name="Shape 22"/>
          <p:cNvSpPr/>
          <p:nvPr/>
        </p:nvSpPr>
        <p:spPr>
          <a:xfrm>
            <a:off x="317450" y="2354014"/>
            <a:ext cx="4178350" cy="0"/>
          </a:xfrm>
          <a:prstGeom prst="line">
            <a:avLst/>
          </a:prstGeom>
          <a:noFill/>
          <a:ln w="9525">
            <a:solidFill>
              <a:srgbClr val="E0E5F0"/>
            </a:solidFill>
            <a:prstDash val="solid"/>
          </a:ln>
        </p:spPr>
      </p:sp>
      <p:sp>
        <p:nvSpPr>
          <p:cNvPr id="25" name="Shape 23"/>
          <p:cNvSpPr/>
          <p:nvPr/>
        </p:nvSpPr>
        <p:spPr>
          <a:xfrm>
            <a:off x="336500" y="1863477"/>
            <a:ext cx="0" cy="495300"/>
          </a:xfrm>
          <a:prstGeom prst="line">
            <a:avLst/>
          </a:prstGeom>
          <a:noFill/>
          <a:ln w="38100">
            <a:solidFill>
              <a:srgbClr val="667EEA"/>
            </a:solidFill>
            <a:prstDash val="solid"/>
          </a:ln>
        </p:spPr>
      </p:sp>
      <p:sp>
        <p:nvSpPr>
          <p:cNvPr id="26" name="Text 24"/>
          <p:cNvSpPr/>
          <p:nvPr/>
        </p:nvSpPr>
        <p:spPr>
          <a:xfrm>
            <a:off x="482501" y="1949202"/>
            <a:ext cx="3954360" cy="152400"/>
          </a:xfrm>
          <a:prstGeom prst="rect">
            <a:avLst/>
          </a:prstGeom>
          <a:noFill/>
          <a:ln/>
        </p:spPr>
        <p:txBody>
          <a:bodyPr wrap="square" lIns="0" tIns="0" rIns="0" bIns="0" rtlCol="0" anchor="t"/>
          <a:lstStyle/>
          <a:p>
            <a:pPr algn="l" indent="0" marL="0">
              <a:spcAft>
                <a:spcPts val="300"/>
              </a:spcAft>
              <a:buNone/>
            </a:pPr>
            <a:r>
              <a:rPr lang="en-US" sz="1100" b="1" dirty="0">
                <a:solidFill>
                  <a:srgbClr val="1A1A2E"/>
                </a:solidFill>
                <a:latin typeface="Arial" pitchFamily="34" charset="0"/>
                <a:ea typeface="Arial" pitchFamily="34" charset="-122"/>
                <a:cs typeface="Arial" pitchFamily="34" charset="-120"/>
              </a:rPr>
              <a:t>BM25 Ranking</a:t>
            </a:r>
            <a:endParaRPr lang="en-US" sz="1100" dirty="0"/>
          </a:p>
        </p:txBody>
      </p:sp>
      <p:sp>
        <p:nvSpPr>
          <p:cNvPr id="27" name="Text 25"/>
          <p:cNvSpPr/>
          <p:nvPr/>
        </p:nvSpPr>
        <p:spPr>
          <a:xfrm>
            <a:off x="482501" y="2139702"/>
            <a:ext cx="3954360" cy="133350"/>
          </a:xfrm>
          <a:prstGeom prst="rect">
            <a:avLst/>
          </a:prstGeom>
          <a:noFill/>
          <a:ln/>
        </p:spPr>
        <p:txBody>
          <a:bodyPr wrap="square" lIns="0" tIns="0" rIns="0" bIns="0" rtlCol="0" anchor="t"/>
          <a:lstStyle/>
          <a:p>
            <a:pPr algn="l" indent="0" marL="0">
              <a:buNone/>
            </a:pPr>
            <a:r>
              <a:rPr lang="en-US" sz="900" dirty="0">
                <a:solidFill>
                  <a:srgbClr val="666666"/>
                </a:solidFill>
                <a:latin typeface="Arial" pitchFamily="34" charset="0"/>
                <a:ea typeface="Arial" pitchFamily="34" charset="-122"/>
                <a:cs typeface="Arial" pitchFamily="34" charset="-120"/>
              </a:rPr>
              <a:t>Industry-standard relevance scoring algorithm</a:t>
            </a:r>
            <a:endParaRPr lang="en-US" sz="900" dirty="0"/>
          </a:p>
        </p:txBody>
      </p:sp>
      <p:sp>
        <p:nvSpPr>
          <p:cNvPr id="28" name="Text 26"/>
          <p:cNvSpPr/>
          <p:nvPr/>
        </p:nvSpPr>
        <p:spPr>
          <a:xfrm>
            <a:off x="317450" y="2422178"/>
            <a:ext cx="4178350" cy="495300"/>
          </a:xfrm>
          <a:prstGeom prst="roundRect">
            <a:avLst>
              <a:gd name="adj" fmla="val 15385"/>
            </a:avLst>
          </a:prstGeom>
          <a:solidFill>
            <a:srgbClr val="FAFBFF"/>
          </a:solidFill>
          <a:ln/>
        </p:spPr>
        <p:txBody>
          <a:bodyPr wrap="square" rtlCol="0" anchor="ctr"/>
          <a:lstStyle/>
          <a:p>
            <a:pPr indent="0" marL="0">
              <a:buNone/>
            </a:pPr>
            <a:endParaRPr lang="en-US" dirty="0"/>
          </a:p>
        </p:txBody>
      </p:sp>
      <p:sp>
        <p:nvSpPr>
          <p:cNvPr id="29" name="Shape 27"/>
          <p:cNvSpPr/>
          <p:nvPr/>
        </p:nvSpPr>
        <p:spPr>
          <a:xfrm>
            <a:off x="317450" y="2426940"/>
            <a:ext cx="4178350" cy="0"/>
          </a:xfrm>
          <a:prstGeom prst="line">
            <a:avLst/>
          </a:prstGeom>
          <a:noFill/>
          <a:ln w="9525">
            <a:solidFill>
              <a:srgbClr val="E0E5F0"/>
            </a:solidFill>
            <a:prstDash val="solid"/>
          </a:ln>
        </p:spPr>
      </p:sp>
      <p:sp>
        <p:nvSpPr>
          <p:cNvPr id="30" name="Shape 28"/>
          <p:cNvSpPr/>
          <p:nvPr/>
        </p:nvSpPr>
        <p:spPr>
          <a:xfrm>
            <a:off x="4491038" y="2422178"/>
            <a:ext cx="0" cy="495300"/>
          </a:xfrm>
          <a:prstGeom prst="line">
            <a:avLst/>
          </a:prstGeom>
          <a:noFill/>
          <a:ln w="9525">
            <a:solidFill>
              <a:srgbClr val="E0E5F0"/>
            </a:solidFill>
            <a:prstDash val="solid"/>
          </a:ln>
        </p:spPr>
      </p:sp>
      <p:sp>
        <p:nvSpPr>
          <p:cNvPr id="31" name="Shape 29"/>
          <p:cNvSpPr/>
          <p:nvPr/>
        </p:nvSpPr>
        <p:spPr>
          <a:xfrm>
            <a:off x="317450" y="2912715"/>
            <a:ext cx="4178350" cy="0"/>
          </a:xfrm>
          <a:prstGeom prst="line">
            <a:avLst/>
          </a:prstGeom>
          <a:noFill/>
          <a:ln w="9525">
            <a:solidFill>
              <a:srgbClr val="E0E5F0"/>
            </a:solidFill>
            <a:prstDash val="solid"/>
          </a:ln>
        </p:spPr>
      </p:sp>
      <p:sp>
        <p:nvSpPr>
          <p:cNvPr id="32" name="Shape 30"/>
          <p:cNvSpPr/>
          <p:nvPr/>
        </p:nvSpPr>
        <p:spPr>
          <a:xfrm>
            <a:off x="336500" y="2422178"/>
            <a:ext cx="0" cy="495300"/>
          </a:xfrm>
          <a:prstGeom prst="line">
            <a:avLst/>
          </a:prstGeom>
          <a:noFill/>
          <a:ln w="38100">
            <a:solidFill>
              <a:srgbClr val="667EEA"/>
            </a:solidFill>
            <a:prstDash val="solid"/>
          </a:ln>
        </p:spPr>
      </p:sp>
      <p:sp>
        <p:nvSpPr>
          <p:cNvPr id="33" name="Text 31"/>
          <p:cNvSpPr/>
          <p:nvPr/>
        </p:nvSpPr>
        <p:spPr>
          <a:xfrm>
            <a:off x="482501" y="2507903"/>
            <a:ext cx="3954360" cy="152400"/>
          </a:xfrm>
          <a:prstGeom prst="rect">
            <a:avLst/>
          </a:prstGeom>
          <a:noFill/>
          <a:ln/>
        </p:spPr>
        <p:txBody>
          <a:bodyPr wrap="square" lIns="0" tIns="0" rIns="0" bIns="0" rtlCol="0" anchor="t"/>
          <a:lstStyle/>
          <a:p>
            <a:pPr algn="l" indent="0" marL="0">
              <a:spcAft>
                <a:spcPts val="300"/>
              </a:spcAft>
              <a:buNone/>
            </a:pPr>
            <a:r>
              <a:rPr lang="en-US" sz="1100" b="1" dirty="0">
                <a:solidFill>
                  <a:srgbClr val="1A1A2E"/>
                </a:solidFill>
                <a:latin typeface="Arial" pitchFamily="34" charset="0"/>
                <a:ea typeface="Arial" pitchFamily="34" charset="-122"/>
                <a:cs typeface="Arial" pitchFamily="34" charset="-120"/>
              </a:rPr>
              <a:t>Optional Embeddings</a:t>
            </a:r>
            <a:endParaRPr lang="en-US" sz="1100" dirty="0"/>
          </a:p>
        </p:txBody>
      </p:sp>
      <p:sp>
        <p:nvSpPr>
          <p:cNvPr id="34" name="Text 32"/>
          <p:cNvSpPr/>
          <p:nvPr/>
        </p:nvSpPr>
        <p:spPr>
          <a:xfrm>
            <a:off x="482501" y="2698403"/>
            <a:ext cx="3954360" cy="133350"/>
          </a:xfrm>
          <a:prstGeom prst="rect">
            <a:avLst/>
          </a:prstGeom>
          <a:noFill/>
          <a:ln/>
        </p:spPr>
        <p:txBody>
          <a:bodyPr wrap="square" lIns="0" tIns="0" rIns="0" bIns="0" rtlCol="0" anchor="t"/>
          <a:lstStyle/>
          <a:p>
            <a:pPr algn="l" indent="0" marL="0">
              <a:buNone/>
            </a:pPr>
            <a:r>
              <a:rPr lang="en-US" sz="900" dirty="0">
                <a:solidFill>
                  <a:srgbClr val="666666"/>
                </a:solidFill>
                <a:latin typeface="Arial" pitchFamily="34" charset="0"/>
                <a:ea typeface="Arial" pitchFamily="34" charset="-122"/>
                <a:cs typeface="Arial" pitchFamily="34" charset="-120"/>
              </a:rPr>
              <a:t>Semantic search via sentence-transformers when needed</a:t>
            </a:r>
            <a:endParaRPr lang="en-US" sz="900" dirty="0"/>
          </a:p>
        </p:txBody>
      </p:sp>
      <p:sp>
        <p:nvSpPr>
          <p:cNvPr id="35" name="Text 33"/>
          <p:cNvSpPr/>
          <p:nvPr/>
        </p:nvSpPr>
        <p:spPr>
          <a:xfrm>
            <a:off x="317450" y="2980879"/>
            <a:ext cx="4178350" cy="495300"/>
          </a:xfrm>
          <a:prstGeom prst="roundRect">
            <a:avLst>
              <a:gd name="adj" fmla="val 15385"/>
            </a:avLst>
          </a:prstGeom>
          <a:solidFill>
            <a:srgbClr val="FAFBFF"/>
          </a:solidFill>
          <a:ln/>
        </p:spPr>
        <p:txBody>
          <a:bodyPr wrap="square" rtlCol="0" anchor="ctr"/>
          <a:lstStyle/>
          <a:p>
            <a:pPr indent="0" marL="0">
              <a:buNone/>
            </a:pPr>
            <a:endParaRPr lang="en-US" dirty="0"/>
          </a:p>
        </p:txBody>
      </p:sp>
      <p:sp>
        <p:nvSpPr>
          <p:cNvPr id="36" name="Shape 34"/>
          <p:cNvSpPr/>
          <p:nvPr/>
        </p:nvSpPr>
        <p:spPr>
          <a:xfrm>
            <a:off x="317450" y="2985641"/>
            <a:ext cx="4178350" cy="0"/>
          </a:xfrm>
          <a:prstGeom prst="line">
            <a:avLst/>
          </a:prstGeom>
          <a:noFill/>
          <a:ln w="9525">
            <a:solidFill>
              <a:srgbClr val="E0E5F0"/>
            </a:solidFill>
            <a:prstDash val="solid"/>
          </a:ln>
        </p:spPr>
      </p:sp>
      <p:sp>
        <p:nvSpPr>
          <p:cNvPr id="37" name="Shape 35"/>
          <p:cNvSpPr/>
          <p:nvPr/>
        </p:nvSpPr>
        <p:spPr>
          <a:xfrm>
            <a:off x="4491038" y="2980879"/>
            <a:ext cx="0" cy="495300"/>
          </a:xfrm>
          <a:prstGeom prst="line">
            <a:avLst/>
          </a:prstGeom>
          <a:noFill/>
          <a:ln w="9525">
            <a:solidFill>
              <a:srgbClr val="E0E5F0"/>
            </a:solidFill>
            <a:prstDash val="solid"/>
          </a:ln>
        </p:spPr>
      </p:sp>
      <p:sp>
        <p:nvSpPr>
          <p:cNvPr id="38" name="Shape 36"/>
          <p:cNvSpPr/>
          <p:nvPr/>
        </p:nvSpPr>
        <p:spPr>
          <a:xfrm>
            <a:off x="317450" y="3471416"/>
            <a:ext cx="4178350" cy="0"/>
          </a:xfrm>
          <a:prstGeom prst="line">
            <a:avLst/>
          </a:prstGeom>
          <a:noFill/>
          <a:ln w="9525">
            <a:solidFill>
              <a:srgbClr val="E0E5F0"/>
            </a:solidFill>
            <a:prstDash val="solid"/>
          </a:ln>
        </p:spPr>
      </p:sp>
      <p:sp>
        <p:nvSpPr>
          <p:cNvPr id="39" name="Shape 37"/>
          <p:cNvSpPr/>
          <p:nvPr/>
        </p:nvSpPr>
        <p:spPr>
          <a:xfrm>
            <a:off x="336500" y="2980879"/>
            <a:ext cx="0" cy="495300"/>
          </a:xfrm>
          <a:prstGeom prst="line">
            <a:avLst/>
          </a:prstGeom>
          <a:noFill/>
          <a:ln w="38100">
            <a:solidFill>
              <a:srgbClr val="667EEA"/>
            </a:solidFill>
            <a:prstDash val="solid"/>
          </a:ln>
        </p:spPr>
      </p:sp>
      <p:sp>
        <p:nvSpPr>
          <p:cNvPr id="40" name="Text 38"/>
          <p:cNvSpPr/>
          <p:nvPr/>
        </p:nvSpPr>
        <p:spPr>
          <a:xfrm>
            <a:off x="482501" y="3066604"/>
            <a:ext cx="3954360" cy="152400"/>
          </a:xfrm>
          <a:prstGeom prst="rect">
            <a:avLst/>
          </a:prstGeom>
          <a:noFill/>
          <a:ln/>
        </p:spPr>
        <p:txBody>
          <a:bodyPr wrap="square" lIns="0" tIns="0" rIns="0" bIns="0" rtlCol="0" anchor="t"/>
          <a:lstStyle/>
          <a:p>
            <a:pPr algn="l" indent="0" marL="0">
              <a:spcAft>
                <a:spcPts val="300"/>
              </a:spcAft>
              <a:buNone/>
            </a:pPr>
            <a:r>
              <a:rPr lang="en-US" sz="1100" b="1" dirty="0">
                <a:solidFill>
                  <a:srgbClr val="1A1A2E"/>
                </a:solidFill>
                <a:latin typeface="Arial" pitchFamily="34" charset="0"/>
                <a:ea typeface="Arial" pitchFamily="34" charset="-122"/>
                <a:cs typeface="Arial" pitchFamily="34" charset="-120"/>
              </a:rPr>
              <a:t>Pydantic Models</a:t>
            </a:r>
            <a:endParaRPr lang="en-US" sz="1100" dirty="0"/>
          </a:p>
        </p:txBody>
      </p:sp>
      <p:sp>
        <p:nvSpPr>
          <p:cNvPr id="41" name="Text 39"/>
          <p:cNvSpPr/>
          <p:nvPr/>
        </p:nvSpPr>
        <p:spPr>
          <a:xfrm>
            <a:off x="482501" y="3257104"/>
            <a:ext cx="3954360" cy="133350"/>
          </a:xfrm>
          <a:prstGeom prst="rect">
            <a:avLst/>
          </a:prstGeom>
          <a:noFill/>
          <a:ln/>
        </p:spPr>
        <p:txBody>
          <a:bodyPr wrap="square" lIns="0" tIns="0" rIns="0" bIns="0" rtlCol="0" anchor="t"/>
          <a:lstStyle/>
          <a:p>
            <a:pPr algn="l" indent="0" marL="0">
              <a:buNone/>
            </a:pPr>
            <a:r>
              <a:rPr lang="en-US" sz="900" dirty="0">
                <a:solidFill>
                  <a:srgbClr val="666666"/>
                </a:solidFill>
                <a:latin typeface="Arial" pitchFamily="34" charset="0"/>
                <a:ea typeface="Arial" pitchFamily="34" charset="-122"/>
                <a:cs typeface="Arial" pitchFamily="34" charset="-120"/>
              </a:rPr>
              <a:t>Validated inputs/outputs with detailed errors</a:t>
            </a:r>
            <a:endParaRPr lang="en-US" sz="900" dirty="0"/>
          </a:p>
        </p:txBody>
      </p:sp>
      <p:sp>
        <p:nvSpPr>
          <p:cNvPr id="42" name="Text 40"/>
          <p:cNvSpPr/>
          <p:nvPr/>
        </p:nvSpPr>
        <p:spPr>
          <a:xfrm>
            <a:off x="317450" y="3539579"/>
            <a:ext cx="4178350" cy="495300"/>
          </a:xfrm>
          <a:prstGeom prst="roundRect">
            <a:avLst>
              <a:gd name="adj" fmla="val 15385"/>
            </a:avLst>
          </a:prstGeom>
          <a:solidFill>
            <a:srgbClr val="FAFBFF"/>
          </a:solidFill>
          <a:ln/>
        </p:spPr>
        <p:txBody>
          <a:bodyPr wrap="square" rtlCol="0" anchor="ctr"/>
          <a:lstStyle/>
          <a:p>
            <a:pPr indent="0" marL="0">
              <a:buNone/>
            </a:pPr>
            <a:endParaRPr lang="en-US" dirty="0"/>
          </a:p>
        </p:txBody>
      </p:sp>
      <p:sp>
        <p:nvSpPr>
          <p:cNvPr id="43" name="Shape 41"/>
          <p:cNvSpPr/>
          <p:nvPr/>
        </p:nvSpPr>
        <p:spPr>
          <a:xfrm>
            <a:off x="317450" y="3544342"/>
            <a:ext cx="4178350" cy="0"/>
          </a:xfrm>
          <a:prstGeom prst="line">
            <a:avLst/>
          </a:prstGeom>
          <a:noFill/>
          <a:ln w="9525">
            <a:solidFill>
              <a:srgbClr val="E0E5F0"/>
            </a:solidFill>
            <a:prstDash val="solid"/>
          </a:ln>
        </p:spPr>
      </p:sp>
      <p:sp>
        <p:nvSpPr>
          <p:cNvPr id="44" name="Shape 42"/>
          <p:cNvSpPr/>
          <p:nvPr/>
        </p:nvSpPr>
        <p:spPr>
          <a:xfrm>
            <a:off x="4491038" y="3539579"/>
            <a:ext cx="0" cy="495300"/>
          </a:xfrm>
          <a:prstGeom prst="line">
            <a:avLst/>
          </a:prstGeom>
          <a:noFill/>
          <a:ln w="9525">
            <a:solidFill>
              <a:srgbClr val="E0E5F0"/>
            </a:solidFill>
            <a:prstDash val="solid"/>
          </a:ln>
        </p:spPr>
      </p:sp>
      <p:sp>
        <p:nvSpPr>
          <p:cNvPr id="45" name="Shape 43"/>
          <p:cNvSpPr/>
          <p:nvPr/>
        </p:nvSpPr>
        <p:spPr>
          <a:xfrm>
            <a:off x="317450" y="4030117"/>
            <a:ext cx="4178350" cy="0"/>
          </a:xfrm>
          <a:prstGeom prst="line">
            <a:avLst/>
          </a:prstGeom>
          <a:noFill/>
          <a:ln w="9525">
            <a:solidFill>
              <a:srgbClr val="E0E5F0"/>
            </a:solidFill>
            <a:prstDash val="solid"/>
          </a:ln>
        </p:spPr>
      </p:sp>
      <p:sp>
        <p:nvSpPr>
          <p:cNvPr id="46" name="Shape 44"/>
          <p:cNvSpPr/>
          <p:nvPr/>
        </p:nvSpPr>
        <p:spPr>
          <a:xfrm>
            <a:off x="336500" y="3539579"/>
            <a:ext cx="0" cy="495300"/>
          </a:xfrm>
          <a:prstGeom prst="line">
            <a:avLst/>
          </a:prstGeom>
          <a:noFill/>
          <a:ln w="38100">
            <a:solidFill>
              <a:srgbClr val="667EEA"/>
            </a:solidFill>
            <a:prstDash val="solid"/>
          </a:ln>
        </p:spPr>
      </p:sp>
      <p:sp>
        <p:nvSpPr>
          <p:cNvPr id="47" name="Text 45"/>
          <p:cNvSpPr/>
          <p:nvPr/>
        </p:nvSpPr>
        <p:spPr>
          <a:xfrm>
            <a:off x="482501" y="3625304"/>
            <a:ext cx="3954360" cy="152400"/>
          </a:xfrm>
          <a:prstGeom prst="rect">
            <a:avLst/>
          </a:prstGeom>
          <a:noFill/>
          <a:ln/>
        </p:spPr>
        <p:txBody>
          <a:bodyPr wrap="square" lIns="0" tIns="0" rIns="0" bIns="0" rtlCol="0" anchor="t"/>
          <a:lstStyle/>
          <a:p>
            <a:pPr algn="l" indent="0" marL="0">
              <a:spcAft>
                <a:spcPts val="300"/>
              </a:spcAft>
              <a:buNone/>
            </a:pPr>
            <a:r>
              <a:rPr lang="en-US" sz="1100" b="1" dirty="0">
                <a:solidFill>
                  <a:srgbClr val="1A1A2E"/>
                </a:solidFill>
                <a:latin typeface="Arial" pitchFamily="34" charset="0"/>
                <a:ea typeface="Arial" pitchFamily="34" charset="-122"/>
                <a:cs typeface="Arial" pitchFamily="34" charset="-120"/>
              </a:rPr>
              <a:t>Async Lifecycle</a:t>
            </a:r>
            <a:endParaRPr lang="en-US" sz="1100" dirty="0"/>
          </a:p>
        </p:txBody>
      </p:sp>
      <p:sp>
        <p:nvSpPr>
          <p:cNvPr id="48" name="Text 46"/>
          <p:cNvSpPr/>
          <p:nvPr/>
        </p:nvSpPr>
        <p:spPr>
          <a:xfrm>
            <a:off x="482501" y="3815804"/>
            <a:ext cx="3954360" cy="133350"/>
          </a:xfrm>
          <a:prstGeom prst="rect">
            <a:avLst/>
          </a:prstGeom>
          <a:noFill/>
          <a:ln/>
        </p:spPr>
        <p:txBody>
          <a:bodyPr wrap="square" lIns="0" tIns="0" rIns="0" bIns="0" rtlCol="0" anchor="t"/>
          <a:lstStyle/>
          <a:p>
            <a:pPr algn="l" indent="0" marL="0">
              <a:buNone/>
            </a:pPr>
            <a:r>
              <a:rPr lang="en-US" sz="900" dirty="0">
                <a:solidFill>
                  <a:srgbClr val="666666"/>
                </a:solidFill>
                <a:latin typeface="Arial" pitchFamily="34" charset="0"/>
                <a:ea typeface="Arial" pitchFamily="34" charset="-122"/>
                <a:cs typeface="Arial" pitchFamily="34" charset="-120"/>
              </a:rPr>
              <a:t>Clean resource management with context managers</a:t>
            </a:r>
            <a:endParaRPr lang="en-US" sz="900" dirty="0"/>
          </a:p>
        </p:txBody>
      </p:sp>
      <p:sp>
        <p:nvSpPr>
          <p:cNvPr id="49" name="Text 47"/>
          <p:cNvSpPr/>
          <p:nvPr/>
        </p:nvSpPr>
        <p:spPr>
          <a:xfrm>
            <a:off x="4648200" y="746075"/>
            <a:ext cx="4178350" cy="3965674"/>
          </a:xfrm>
          <a:prstGeom prst="roundRect">
            <a:avLst>
              <a:gd name="adj" fmla="val 1921"/>
            </a:avLst>
          </a:prstGeom>
          <a:solidFill>
            <a:srgbClr val="1A1A2E"/>
          </a:solidFill>
          <a:ln/>
        </p:spPr>
        <p:txBody>
          <a:bodyPr wrap="square" rtlCol="0" anchor="ctr"/>
          <a:lstStyle/>
          <a:p>
            <a:pPr indent="0" marL="0">
              <a:buNone/>
            </a:pPr>
            <a:endParaRPr lang="en-US" dirty="0"/>
          </a:p>
        </p:txBody>
      </p:sp>
      <p:sp>
        <p:nvSpPr>
          <p:cNvPr id="50" name="Text 48"/>
          <p:cNvSpPr/>
          <p:nvPr/>
        </p:nvSpPr>
        <p:spPr>
          <a:xfrm>
            <a:off x="4775150" y="873026"/>
            <a:ext cx="4002938" cy="133350"/>
          </a:xfrm>
          <a:prstGeom prst="rect">
            <a:avLst/>
          </a:prstGeom>
          <a:noFill/>
          <a:ln/>
        </p:spPr>
        <p:txBody>
          <a:bodyPr wrap="square" lIns="0" tIns="0" rIns="0" bIns="0" rtlCol="0" anchor="t"/>
          <a:lstStyle/>
          <a:p>
            <a:pPr algn="l" indent="0" marL="0">
              <a:spcAft>
                <a:spcPts val="800"/>
              </a:spcAft>
              <a:buNone/>
            </a:pPr>
            <a:r>
              <a:rPr lang="en-US" sz="900" dirty="0">
                <a:solidFill>
                  <a:srgbClr val="667EEA"/>
                </a:solidFill>
                <a:latin typeface="Arial" pitchFamily="34" charset="0"/>
                <a:ea typeface="Arial" pitchFamily="34" charset="-122"/>
                <a:cs typeface="Arial" pitchFamily="34" charset="-120"/>
              </a:rPr>
              <a:t>server.py - Core Implementation</a:t>
            </a:r>
            <a:endParaRPr lang="en-US" sz="900" dirty="0"/>
          </a:p>
        </p:txBody>
      </p:sp>
      <p:sp>
        <p:nvSpPr>
          <p:cNvPr id="51" name="Text 49"/>
          <p:cNvSpPr/>
          <p:nvPr/>
        </p:nvSpPr>
        <p:spPr>
          <a:xfrm>
            <a:off x="4775150" y="1107877"/>
            <a:ext cx="4002938" cy="114300"/>
          </a:xfrm>
          <a:prstGeom prst="rect">
            <a:avLst/>
          </a:prstGeom>
          <a:noFill/>
          <a:ln/>
        </p:spPr>
        <p:txBody>
          <a:bodyPr wrap="square" lIns="0" tIns="0" rIns="0" bIns="0" rtlCol="0" anchor="t"/>
          <a:lstStyle/>
          <a:p>
            <a:pPr algn="l" indent="0" marL="0">
              <a:buNone/>
            </a:pPr>
            <a:r>
              <a:rPr lang="en-US" sz="800" dirty="0">
                <a:solidFill>
                  <a:srgbClr val="F0A500"/>
                </a:solidFill>
                <a:latin typeface="Courier New" pitchFamily="34" charset="0"/>
                <a:ea typeface="Courier New" pitchFamily="34" charset="-122"/>
                <a:cs typeface="Courier New" pitchFamily="34" charset="-120"/>
              </a:rPr>
              <a:t>from mcp.server.fastmcp import FastMCP</a:t>
            </a:r>
            <a:endParaRPr lang="en-US" sz="800" dirty="0"/>
          </a:p>
        </p:txBody>
      </p:sp>
      <p:sp>
        <p:nvSpPr>
          <p:cNvPr id="52" name="Text 50"/>
          <p:cNvSpPr/>
          <p:nvPr/>
        </p:nvSpPr>
        <p:spPr>
          <a:xfrm>
            <a:off x="4775150" y="1323677"/>
            <a:ext cx="4002938" cy="114300"/>
          </a:xfrm>
          <a:prstGeom prst="rect">
            <a:avLst/>
          </a:prstGeom>
          <a:noFill/>
          <a:ln/>
        </p:spPr>
        <p:txBody>
          <a:bodyPr wrap="square" lIns="0" tIns="0" rIns="0" bIns="0" rtlCol="0" anchor="t"/>
          <a:lstStyle/>
          <a:p>
            <a:pPr algn="l" indent="0" marL="0">
              <a:spcBef>
                <a:spcPts val="800"/>
              </a:spcBef>
              <a:buNone/>
            </a:pPr>
            <a:r>
              <a:rPr lang="en-US" sz="800" dirty="0">
                <a:solidFill>
                  <a:srgbClr val="E0E5F0"/>
                </a:solidFill>
                <a:latin typeface="Courier New" pitchFamily="34" charset="0"/>
                <a:ea typeface="Courier New" pitchFamily="34" charset="-122"/>
                <a:cs typeface="Courier New" pitchFamily="34" charset="-120"/>
              </a:rPr>
              <a:t>mcp = FastMCP("omni_cortex", lifespan=lifespan)</a:t>
            </a:r>
            <a:endParaRPr lang="en-US" sz="800" dirty="0"/>
          </a:p>
        </p:txBody>
      </p:sp>
      <p:sp>
        <p:nvSpPr>
          <p:cNvPr id="53" name="Text 51"/>
          <p:cNvSpPr/>
          <p:nvPr/>
        </p:nvSpPr>
        <p:spPr>
          <a:xfrm>
            <a:off x="4775150" y="1539478"/>
            <a:ext cx="4002938" cy="114300"/>
          </a:xfrm>
          <a:prstGeom prst="rect">
            <a:avLst/>
          </a:prstGeom>
          <a:noFill/>
          <a:ln/>
        </p:spPr>
        <p:txBody>
          <a:bodyPr wrap="square" lIns="0" tIns="0" rIns="0" bIns="0" rtlCol="0" anchor="t"/>
          <a:lstStyle/>
          <a:p>
            <a:pPr algn="l" indent="0" marL="0">
              <a:spcBef>
                <a:spcPts val="800"/>
              </a:spcBef>
              <a:buNone/>
            </a:pPr>
            <a:r>
              <a:rPr lang="en-US" sz="800" dirty="0">
                <a:solidFill>
                  <a:srgbClr val="888888"/>
                </a:solidFill>
                <a:latin typeface="Courier New" pitchFamily="34" charset="0"/>
                <a:ea typeface="Courier New" pitchFamily="34" charset="-122"/>
                <a:cs typeface="Courier New" pitchFamily="34" charset="-120"/>
              </a:rPr>
              <a:t># Register tools by category</a:t>
            </a:r>
            <a:endParaRPr lang="en-US" sz="800" dirty="0"/>
          </a:p>
        </p:txBody>
      </p:sp>
      <p:sp>
        <p:nvSpPr>
          <p:cNvPr id="54" name="Text 52"/>
          <p:cNvSpPr/>
          <p:nvPr/>
        </p:nvSpPr>
        <p:spPr>
          <a:xfrm>
            <a:off x="4775150" y="1704529"/>
            <a:ext cx="4002938" cy="114300"/>
          </a:xfrm>
          <a:prstGeom prst="rect">
            <a:avLst/>
          </a:prstGeom>
          <a:noFill/>
          <a:ln/>
        </p:spPr>
        <p:txBody>
          <a:bodyPr wrap="square" lIns="0" tIns="0" rIns="0" bIns="0" rtlCol="0" anchor="t"/>
          <a:lstStyle/>
          <a:p>
            <a:pPr algn="l" indent="0" marL="0">
              <a:spcBef>
                <a:spcPts val="400"/>
              </a:spcBef>
              <a:buNone/>
            </a:pPr>
            <a:r>
              <a:rPr lang="en-US" sz="800" dirty="0">
                <a:solidFill>
                  <a:srgbClr val="00B894"/>
                </a:solidFill>
                <a:latin typeface="Courier New" pitchFamily="34" charset="0"/>
                <a:ea typeface="Courier New" pitchFamily="34" charset="-122"/>
                <a:cs typeface="Courier New" pitchFamily="34" charset="-120"/>
              </a:rPr>
              <a:t>register_memory_tools(mcp)</a:t>
            </a:r>
            <a:endParaRPr lang="en-US" sz="800" dirty="0"/>
          </a:p>
        </p:txBody>
      </p:sp>
      <p:sp>
        <p:nvSpPr>
          <p:cNvPr id="55" name="Text 53"/>
          <p:cNvSpPr/>
          <p:nvPr/>
        </p:nvSpPr>
        <p:spPr>
          <a:xfrm>
            <a:off x="4775150" y="1869579"/>
            <a:ext cx="4002938" cy="114300"/>
          </a:xfrm>
          <a:prstGeom prst="rect">
            <a:avLst/>
          </a:prstGeom>
          <a:noFill/>
          <a:ln/>
        </p:spPr>
        <p:txBody>
          <a:bodyPr wrap="square" lIns="0" tIns="0" rIns="0" bIns="0" rtlCol="0" anchor="t"/>
          <a:lstStyle/>
          <a:p>
            <a:pPr algn="l" indent="0" marL="0">
              <a:spcBef>
                <a:spcPts val="400"/>
              </a:spcBef>
              <a:buNone/>
            </a:pPr>
            <a:r>
              <a:rPr lang="en-US" sz="800" dirty="0">
                <a:solidFill>
                  <a:srgbClr val="00B894"/>
                </a:solidFill>
                <a:latin typeface="Courier New" pitchFamily="34" charset="0"/>
                <a:ea typeface="Courier New" pitchFamily="34" charset="-122"/>
                <a:cs typeface="Courier New" pitchFamily="34" charset="-120"/>
              </a:rPr>
              <a:t>register_activity_tools(mcp)</a:t>
            </a:r>
            <a:endParaRPr lang="en-US" sz="800" dirty="0"/>
          </a:p>
        </p:txBody>
      </p:sp>
      <p:sp>
        <p:nvSpPr>
          <p:cNvPr id="56" name="Text 54"/>
          <p:cNvSpPr/>
          <p:nvPr/>
        </p:nvSpPr>
        <p:spPr>
          <a:xfrm>
            <a:off x="4775150" y="2034629"/>
            <a:ext cx="4002938" cy="114300"/>
          </a:xfrm>
          <a:prstGeom prst="rect">
            <a:avLst/>
          </a:prstGeom>
          <a:noFill/>
          <a:ln/>
        </p:spPr>
        <p:txBody>
          <a:bodyPr wrap="square" lIns="0" tIns="0" rIns="0" bIns="0" rtlCol="0" anchor="t"/>
          <a:lstStyle/>
          <a:p>
            <a:pPr algn="l" indent="0" marL="0">
              <a:spcBef>
                <a:spcPts val="400"/>
              </a:spcBef>
              <a:buNone/>
            </a:pPr>
            <a:r>
              <a:rPr lang="en-US" sz="800" dirty="0">
                <a:solidFill>
                  <a:srgbClr val="00B894"/>
                </a:solidFill>
                <a:latin typeface="Courier New" pitchFamily="34" charset="0"/>
                <a:ea typeface="Courier New" pitchFamily="34" charset="-122"/>
                <a:cs typeface="Courier New" pitchFamily="34" charset="-120"/>
              </a:rPr>
              <a:t>register_session_tools(mcp)</a:t>
            </a:r>
            <a:endParaRPr lang="en-US" sz="800" dirty="0"/>
          </a:p>
        </p:txBody>
      </p:sp>
      <p:sp>
        <p:nvSpPr>
          <p:cNvPr id="57" name="Text 55"/>
          <p:cNvSpPr/>
          <p:nvPr/>
        </p:nvSpPr>
        <p:spPr>
          <a:xfrm>
            <a:off x="4775150" y="2199680"/>
            <a:ext cx="4002938" cy="114300"/>
          </a:xfrm>
          <a:prstGeom prst="rect">
            <a:avLst/>
          </a:prstGeom>
          <a:noFill/>
          <a:ln/>
        </p:spPr>
        <p:txBody>
          <a:bodyPr wrap="square" lIns="0" tIns="0" rIns="0" bIns="0" rtlCol="0" anchor="t"/>
          <a:lstStyle/>
          <a:p>
            <a:pPr algn="l" indent="0" marL="0">
              <a:spcBef>
                <a:spcPts val="400"/>
              </a:spcBef>
              <a:buNone/>
            </a:pPr>
            <a:r>
              <a:rPr lang="en-US" sz="800" dirty="0">
                <a:solidFill>
                  <a:srgbClr val="00B894"/>
                </a:solidFill>
                <a:latin typeface="Courier New" pitchFamily="34" charset="0"/>
                <a:ea typeface="Courier New" pitchFamily="34" charset="-122"/>
                <a:cs typeface="Courier New" pitchFamily="34" charset="-120"/>
              </a:rPr>
              <a:t>register_utility_tools(mcp)</a:t>
            </a:r>
            <a:endParaRPr lang="en-US" sz="800" dirty="0"/>
          </a:p>
        </p:txBody>
      </p:sp>
      <p:sp>
        <p:nvSpPr>
          <p:cNvPr id="58" name="Text 56"/>
          <p:cNvSpPr/>
          <p:nvPr/>
        </p:nvSpPr>
        <p:spPr>
          <a:xfrm>
            <a:off x="4775150" y="2415480"/>
            <a:ext cx="4002938" cy="114300"/>
          </a:xfrm>
          <a:prstGeom prst="rect">
            <a:avLst/>
          </a:prstGeom>
          <a:noFill/>
          <a:ln/>
        </p:spPr>
        <p:txBody>
          <a:bodyPr wrap="square" lIns="0" tIns="0" rIns="0" bIns="0" rtlCol="0" anchor="t"/>
          <a:lstStyle/>
          <a:p>
            <a:pPr algn="l" indent="0" marL="0">
              <a:spcBef>
                <a:spcPts val="800"/>
              </a:spcBef>
              <a:buNone/>
            </a:pPr>
            <a:r>
              <a:rPr lang="en-US" sz="800" dirty="0">
                <a:solidFill>
                  <a:srgbClr val="888888"/>
                </a:solidFill>
                <a:latin typeface="Courier New" pitchFamily="34" charset="0"/>
                <a:ea typeface="Courier New" pitchFamily="34" charset="-122"/>
                <a:cs typeface="Courier New" pitchFamily="34" charset="-120"/>
              </a:rPr>
              <a:t># That's it - ~50 lines total</a:t>
            </a:r>
            <a:endParaRPr lang="en-US" sz="800" dirty="0"/>
          </a:p>
        </p:txBody>
      </p:sp>
      <p:sp>
        <p:nvSpPr>
          <p:cNvPr id="59" name="Text 57"/>
          <p:cNvSpPr/>
          <p:nvPr/>
        </p:nvSpPr>
        <p:spPr>
          <a:xfrm>
            <a:off x="0" y="4838700"/>
            <a:ext cx="9144000" cy="304800"/>
          </a:xfrm>
          <a:prstGeom prst="rect">
            <a:avLst/>
          </a:prstGeom>
          <a:solidFill>
            <a:srgbClr val="E8F5E9"/>
          </a:solidFill>
          <a:ln/>
        </p:spPr>
        <p:txBody>
          <a:bodyPr wrap="square" rtlCol="0" anchor="ctr"/>
          <a:lstStyle/>
          <a:p>
            <a:pPr indent="0" marL="0">
              <a:buNone/>
            </a:pPr>
            <a:endParaRPr lang="en-US" dirty="0"/>
          </a:p>
        </p:txBody>
      </p:sp>
      <p:sp>
        <p:nvSpPr>
          <p:cNvPr id="60" name="Shape 58"/>
          <p:cNvSpPr/>
          <p:nvPr/>
        </p:nvSpPr>
        <p:spPr>
          <a:xfrm>
            <a:off x="0" y="4848225"/>
            <a:ext cx="9144000" cy="0"/>
          </a:xfrm>
          <a:prstGeom prst="line">
            <a:avLst/>
          </a:prstGeom>
          <a:noFill/>
          <a:ln w="19050">
            <a:solidFill>
              <a:srgbClr val="00B894"/>
            </a:solidFill>
            <a:prstDash val="solid"/>
          </a:ln>
        </p:spPr>
      </p:sp>
      <p:sp>
        <p:nvSpPr>
          <p:cNvPr id="61" name="Text 59"/>
          <p:cNvSpPr/>
          <p:nvPr/>
        </p:nvSpPr>
        <p:spPr>
          <a:xfrm>
            <a:off x="317450" y="4933950"/>
            <a:ext cx="8679281" cy="133350"/>
          </a:xfrm>
          <a:prstGeom prst="rect">
            <a:avLst/>
          </a:prstGeom>
          <a:noFill/>
          <a:ln/>
        </p:spPr>
        <p:txBody>
          <a:bodyPr wrap="square" lIns="0" tIns="0" rIns="0" bIns="0" rtlCol="0" anchor="t"/>
          <a:lstStyle/>
          <a:p>
            <a:pPr algn="l" indent="0" marL="0">
              <a:buNone/>
            </a:pPr>
            <a:r>
              <a:rPr lang="en-US" sz="900" dirty="0">
                <a:solidFill>
                  <a:srgbClr val="2E7D32"/>
                </a:solidFill>
                <a:latin typeface="Arial" pitchFamily="34" charset="0"/>
                <a:ea typeface="Arial" pitchFamily="34" charset="-122"/>
                <a:cs typeface="Arial" pitchFamily="34" charset="-120"/>
              </a:rPr>
              <a:t>Key Insight: SQLite FTS5 provides 25x faster search than JSON file scanning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19125"/>
          </a:xfrm>
          <a:prstGeom prst="rect">
            <a:avLst/>
          </a:prstGeom>
          <a:solidFill>
            <a:srgbClr val="F0F4FF"/>
          </a:solidFill>
          <a:ln/>
        </p:spPr>
        <p:txBody>
          <a:bodyPr wrap="square" rtlCol="0" anchor="ctr"/>
          <a:lstStyle/>
          <a:p>
            <a:pPr indent="0" marL="0">
              <a:buNone/>
            </a:pPr>
            <a:endParaRPr lang="en-US" dirty="0"/>
          </a:p>
        </p:txBody>
      </p:sp>
      <p:sp>
        <p:nvSpPr>
          <p:cNvPr id="3" name="Shape 1"/>
          <p:cNvSpPr/>
          <p:nvPr/>
        </p:nvSpPr>
        <p:spPr>
          <a:xfrm>
            <a:off x="0" y="609600"/>
            <a:ext cx="9144000" cy="0"/>
          </a:xfrm>
          <a:prstGeom prst="line">
            <a:avLst/>
          </a:prstGeom>
          <a:noFill/>
          <a:ln w="19050">
            <a:solidFill>
              <a:srgbClr val="667EEA"/>
            </a:solidFill>
            <a:prstDash val="solid"/>
          </a:ln>
        </p:spPr>
      </p:sp>
      <p:sp>
        <p:nvSpPr>
          <p:cNvPr id="4" name="Text 2"/>
          <p:cNvSpPr/>
          <p:nvPr/>
        </p:nvSpPr>
        <p:spPr>
          <a:xfrm>
            <a:off x="317450" y="152400"/>
            <a:ext cx="8679281" cy="295275"/>
          </a:xfrm>
          <a:prstGeom prst="rect">
            <a:avLst/>
          </a:prstGeom>
          <a:noFill/>
          <a:ln/>
        </p:spPr>
        <p:txBody>
          <a:bodyPr wrap="square" lIns="0" tIns="0" rIns="0" bIns="0" rtlCol="0" anchor="t"/>
          <a:lstStyle/>
          <a:p>
            <a:pPr algn="l" indent="0" marL="0">
              <a:buNone/>
            </a:pPr>
            <a:r>
              <a:rPr lang="en-US" sz="2000" b="1" dirty="0">
                <a:solidFill>
                  <a:srgbClr val="1A1A2E"/>
                </a:solidFill>
                <a:latin typeface="Arial" pitchFamily="34" charset="0"/>
                <a:ea typeface="Arial" pitchFamily="34" charset="-122"/>
                <a:cs typeface="Arial" pitchFamily="34" charset="-120"/>
              </a:rPr>
              <a:t>Comparison with Other Memory MCPs</a:t>
            </a:r>
            <a:endParaRPr lang="en-US" sz="2000" dirty="0"/>
          </a:p>
        </p:txBody>
      </p:sp>
      <p:sp>
        <p:nvSpPr>
          <p:cNvPr id="5" name="Text 3"/>
          <p:cNvSpPr/>
          <p:nvPr/>
        </p:nvSpPr>
        <p:spPr>
          <a:xfrm>
            <a:off x="317450" y="771525"/>
            <a:ext cx="8509099" cy="276225"/>
          </a:xfrm>
          <a:prstGeom prst="roundRect">
            <a:avLst>
              <a:gd name="adj" fmla="val 27586"/>
            </a:avLst>
          </a:prstGeom>
          <a:solidFill>
            <a:srgbClr val="667EEA"/>
          </a:solidFill>
          <a:ln/>
        </p:spPr>
        <p:txBody>
          <a:bodyPr wrap="square" rtlCol="0" anchor="ctr"/>
          <a:lstStyle/>
          <a:p>
            <a:pPr indent="0" marL="0">
              <a:buNone/>
            </a:pPr>
            <a:endParaRPr lang="en-US" dirty="0"/>
          </a:p>
        </p:txBody>
      </p:sp>
      <p:sp>
        <p:nvSpPr>
          <p:cNvPr id="6" name="Shape 4"/>
          <p:cNvSpPr/>
          <p:nvPr/>
        </p:nvSpPr>
        <p:spPr>
          <a:xfrm>
            <a:off x="317450" y="1042988"/>
            <a:ext cx="8509099" cy="0"/>
          </a:xfrm>
          <a:prstGeom prst="line">
            <a:avLst/>
          </a:prstGeom>
          <a:noFill/>
          <a:ln w="9525">
            <a:solidFill>
              <a:srgbClr val="E0E5F0"/>
            </a:solidFill>
            <a:prstDash val="solid"/>
          </a:ln>
        </p:spPr>
      </p:sp>
      <p:sp>
        <p:nvSpPr>
          <p:cNvPr id="7" name="Text 5"/>
          <p:cNvSpPr/>
          <p:nvPr/>
        </p:nvSpPr>
        <p:spPr>
          <a:xfrm>
            <a:off x="317450" y="771525"/>
            <a:ext cx="1594991" cy="266700"/>
          </a:xfrm>
          <a:prstGeom prst="rect">
            <a:avLst/>
          </a:prstGeom>
          <a:solidFill>
            <a:srgbClr val="F0F4FF"/>
          </a:solidFill>
          <a:ln/>
        </p:spPr>
        <p:txBody>
          <a:bodyPr wrap="square" rtlCol="0" anchor="ctr"/>
          <a:lstStyle/>
          <a:p>
            <a:pPr indent="0" marL="0">
              <a:buNone/>
            </a:pPr>
            <a:endParaRPr lang="en-US" dirty="0"/>
          </a:p>
        </p:txBody>
      </p:sp>
      <p:sp>
        <p:nvSpPr>
          <p:cNvPr id="8" name="Shape 6"/>
          <p:cNvSpPr/>
          <p:nvPr/>
        </p:nvSpPr>
        <p:spPr>
          <a:xfrm>
            <a:off x="1902916" y="771525"/>
            <a:ext cx="0" cy="266700"/>
          </a:xfrm>
          <a:prstGeom prst="line">
            <a:avLst/>
          </a:prstGeom>
          <a:noFill/>
          <a:ln w="19050">
            <a:solidFill>
              <a:srgbClr val="667EEA"/>
            </a:solidFill>
            <a:prstDash val="solid"/>
          </a:ln>
        </p:spPr>
      </p:sp>
      <p:sp>
        <p:nvSpPr>
          <p:cNvPr id="9" name="Text 7"/>
          <p:cNvSpPr/>
          <p:nvPr/>
        </p:nvSpPr>
        <p:spPr>
          <a:xfrm>
            <a:off x="418951" y="847725"/>
            <a:ext cx="1400398" cy="114300"/>
          </a:xfrm>
          <a:prstGeom prst="rect">
            <a:avLst/>
          </a:prstGeom>
          <a:noFill/>
          <a:ln/>
        </p:spPr>
        <p:txBody>
          <a:bodyPr wrap="square" lIns="0" tIns="0" rIns="0" bIns="0" rtlCol="0" anchor="t"/>
          <a:lstStyle/>
          <a:p>
            <a:pPr algn="l" indent="0" marL="0">
              <a:buNone/>
            </a:pPr>
            <a:r>
              <a:rPr lang="en-US" sz="800" b="1" dirty="0">
                <a:solidFill>
                  <a:srgbClr val="FFFFFF"/>
                </a:solidFill>
                <a:latin typeface="Arial" pitchFamily="34" charset="0"/>
                <a:ea typeface="Arial" pitchFamily="34" charset="-122"/>
                <a:cs typeface="Arial" pitchFamily="34" charset="-120"/>
              </a:rPr>
              <a:t>Feature</a:t>
            </a:r>
            <a:endParaRPr lang="en-US" sz="800" dirty="0"/>
          </a:p>
        </p:txBody>
      </p:sp>
      <p:sp>
        <p:nvSpPr>
          <p:cNvPr id="10" name="Text 8"/>
          <p:cNvSpPr/>
          <p:nvPr/>
        </p:nvSpPr>
        <p:spPr>
          <a:xfrm>
            <a:off x="2013942" y="847725"/>
            <a:ext cx="1555998" cy="114300"/>
          </a:xfrm>
          <a:prstGeom prst="rect">
            <a:avLst/>
          </a:prstGeom>
          <a:noFill/>
          <a:ln/>
        </p:spPr>
        <p:txBody>
          <a:bodyPr wrap="square" lIns="0" tIns="0" rIns="0" bIns="0" rtlCol="0" anchor="t"/>
          <a:lstStyle/>
          <a:p>
            <a:pPr algn="l" indent="0" marL="0">
              <a:buNone/>
            </a:pPr>
            <a:r>
              <a:rPr lang="en-US" sz="800" b="1" dirty="0">
                <a:solidFill>
                  <a:srgbClr val="FFFFFF"/>
                </a:solidFill>
                <a:latin typeface="Arial" pitchFamily="34" charset="0"/>
                <a:ea typeface="Arial" pitchFamily="34" charset="-122"/>
                <a:cs typeface="Arial" pitchFamily="34" charset="-120"/>
              </a:rPr>
              <a:t>Omni-Cortex</a:t>
            </a:r>
            <a:endParaRPr lang="en-US" sz="800" dirty="0"/>
          </a:p>
        </p:txBody>
      </p:sp>
      <p:sp>
        <p:nvSpPr>
          <p:cNvPr id="11" name="Text 9"/>
          <p:cNvSpPr/>
          <p:nvPr/>
        </p:nvSpPr>
        <p:spPr>
          <a:xfrm>
            <a:off x="3742432" y="847725"/>
            <a:ext cx="1555998" cy="114300"/>
          </a:xfrm>
          <a:prstGeom prst="rect">
            <a:avLst/>
          </a:prstGeom>
          <a:noFill/>
          <a:ln/>
        </p:spPr>
        <p:txBody>
          <a:bodyPr wrap="square" lIns="0" tIns="0" rIns="0" bIns="0" rtlCol="0" anchor="t"/>
          <a:lstStyle/>
          <a:p>
            <a:pPr algn="l" indent="0" marL="0">
              <a:buNone/>
            </a:pPr>
            <a:r>
              <a:rPr lang="en-US" sz="800" b="1" dirty="0">
                <a:solidFill>
                  <a:srgbClr val="FFFFFF"/>
                </a:solidFill>
                <a:latin typeface="Arial" pitchFamily="34" charset="0"/>
                <a:ea typeface="Arial" pitchFamily="34" charset="-122"/>
                <a:cs typeface="Arial" pitchFamily="34" charset="-120"/>
              </a:rPr>
              <a:t>memory-bank-mcp</a:t>
            </a:r>
            <a:endParaRPr lang="en-US" sz="800" dirty="0"/>
          </a:p>
        </p:txBody>
      </p:sp>
      <p:sp>
        <p:nvSpPr>
          <p:cNvPr id="12" name="Text 10"/>
          <p:cNvSpPr/>
          <p:nvPr/>
        </p:nvSpPr>
        <p:spPr>
          <a:xfrm>
            <a:off x="5470922" y="847725"/>
            <a:ext cx="1555998" cy="114300"/>
          </a:xfrm>
          <a:prstGeom prst="rect">
            <a:avLst/>
          </a:prstGeom>
          <a:noFill/>
          <a:ln/>
        </p:spPr>
        <p:txBody>
          <a:bodyPr wrap="square" lIns="0" tIns="0" rIns="0" bIns="0" rtlCol="0" anchor="t"/>
          <a:lstStyle/>
          <a:p>
            <a:pPr algn="l" indent="0" marL="0">
              <a:buNone/>
            </a:pPr>
            <a:r>
              <a:rPr lang="en-US" sz="800" b="1" dirty="0">
                <a:solidFill>
                  <a:srgbClr val="FFFFFF"/>
                </a:solidFill>
                <a:latin typeface="Arial" pitchFamily="34" charset="0"/>
                <a:ea typeface="Arial" pitchFamily="34" charset="-122"/>
                <a:cs typeface="Arial" pitchFamily="34" charset="-120"/>
              </a:rPr>
              <a:t>basic-memory</a:t>
            </a:r>
            <a:endParaRPr lang="en-US" sz="800" dirty="0"/>
          </a:p>
        </p:txBody>
      </p:sp>
      <p:sp>
        <p:nvSpPr>
          <p:cNvPr id="13" name="Text 11"/>
          <p:cNvSpPr/>
          <p:nvPr/>
        </p:nvSpPr>
        <p:spPr>
          <a:xfrm>
            <a:off x="7199412" y="847725"/>
            <a:ext cx="1555998" cy="114300"/>
          </a:xfrm>
          <a:prstGeom prst="rect">
            <a:avLst/>
          </a:prstGeom>
          <a:noFill/>
          <a:ln/>
        </p:spPr>
        <p:txBody>
          <a:bodyPr wrap="square" lIns="0" tIns="0" rIns="0" bIns="0" rtlCol="0" anchor="t"/>
          <a:lstStyle/>
          <a:p>
            <a:pPr algn="l" indent="0" marL="0">
              <a:buNone/>
            </a:pPr>
            <a:r>
              <a:rPr lang="en-US" sz="800" b="1" dirty="0">
                <a:solidFill>
                  <a:srgbClr val="FFFFFF"/>
                </a:solidFill>
                <a:latin typeface="Arial" pitchFamily="34" charset="0"/>
                <a:ea typeface="Arial" pitchFamily="34" charset="-122"/>
                <a:cs typeface="Arial" pitchFamily="34" charset="-120"/>
              </a:rPr>
              <a:t>knowledge-graph</a:t>
            </a:r>
            <a:endParaRPr lang="en-US" sz="800" dirty="0"/>
          </a:p>
        </p:txBody>
      </p:sp>
      <p:sp>
        <p:nvSpPr>
          <p:cNvPr id="14" name="Shape 12"/>
          <p:cNvSpPr/>
          <p:nvPr/>
        </p:nvSpPr>
        <p:spPr>
          <a:xfrm>
            <a:off x="317450" y="1319213"/>
            <a:ext cx="8509099" cy="0"/>
          </a:xfrm>
          <a:prstGeom prst="line">
            <a:avLst/>
          </a:prstGeom>
          <a:noFill/>
          <a:ln w="9525">
            <a:solidFill>
              <a:srgbClr val="E0E5F0"/>
            </a:solidFill>
            <a:prstDash val="solid"/>
          </a:ln>
        </p:spPr>
      </p:sp>
      <p:sp>
        <p:nvSpPr>
          <p:cNvPr id="15" name="Text 13"/>
          <p:cNvSpPr/>
          <p:nvPr/>
        </p:nvSpPr>
        <p:spPr>
          <a:xfrm>
            <a:off x="317450" y="1047750"/>
            <a:ext cx="1594991" cy="266700"/>
          </a:xfrm>
          <a:prstGeom prst="rect">
            <a:avLst/>
          </a:prstGeom>
          <a:solidFill>
            <a:srgbClr val="F0F4FF"/>
          </a:solidFill>
          <a:ln/>
        </p:spPr>
        <p:txBody>
          <a:bodyPr wrap="square" rtlCol="0" anchor="ctr"/>
          <a:lstStyle/>
          <a:p>
            <a:pPr indent="0" marL="0">
              <a:buNone/>
            </a:pPr>
            <a:endParaRPr lang="en-US" dirty="0"/>
          </a:p>
        </p:txBody>
      </p:sp>
      <p:sp>
        <p:nvSpPr>
          <p:cNvPr id="16" name="Shape 14"/>
          <p:cNvSpPr/>
          <p:nvPr/>
        </p:nvSpPr>
        <p:spPr>
          <a:xfrm>
            <a:off x="1902916" y="1047750"/>
            <a:ext cx="0" cy="266700"/>
          </a:xfrm>
          <a:prstGeom prst="line">
            <a:avLst/>
          </a:prstGeom>
          <a:noFill/>
          <a:ln w="19050">
            <a:solidFill>
              <a:srgbClr val="667EEA"/>
            </a:solidFill>
            <a:prstDash val="solid"/>
          </a:ln>
        </p:spPr>
      </p:sp>
      <p:sp>
        <p:nvSpPr>
          <p:cNvPr id="17" name="Text 15"/>
          <p:cNvSpPr/>
          <p:nvPr/>
        </p:nvSpPr>
        <p:spPr>
          <a:xfrm>
            <a:off x="418951" y="1123950"/>
            <a:ext cx="1400398" cy="114300"/>
          </a:xfrm>
          <a:prstGeom prst="rect">
            <a:avLst/>
          </a:prstGeom>
          <a:noFill/>
          <a:ln/>
        </p:spPr>
        <p:txBody>
          <a:bodyPr wrap="square" lIns="0" tIns="0" rIns="0" bIns="0" rtlCol="0" anchor="t"/>
          <a:lstStyle/>
          <a:p>
            <a:pPr algn="l" indent="0" marL="0">
              <a:buNone/>
            </a:pPr>
            <a:r>
              <a:rPr lang="en-US" sz="800" b="1" dirty="0">
                <a:solidFill>
                  <a:srgbClr val="1A1A2E"/>
                </a:solidFill>
                <a:latin typeface="Arial" pitchFamily="34" charset="0"/>
                <a:ea typeface="Arial" pitchFamily="34" charset="-122"/>
                <a:cs typeface="Arial" pitchFamily="34" charset="-120"/>
              </a:rPr>
              <a:t>Language</a:t>
            </a:r>
            <a:endParaRPr lang="en-US" sz="800" dirty="0"/>
          </a:p>
        </p:txBody>
      </p:sp>
      <p:sp>
        <p:nvSpPr>
          <p:cNvPr id="18" name="Text 16"/>
          <p:cNvSpPr/>
          <p:nvPr/>
        </p:nvSpPr>
        <p:spPr>
          <a:xfrm>
            <a:off x="2013942" y="1123950"/>
            <a:ext cx="1555998" cy="114300"/>
          </a:xfrm>
          <a:prstGeom prst="rect">
            <a:avLst/>
          </a:prstGeom>
          <a:noFill/>
          <a:ln/>
        </p:spPr>
        <p:txBody>
          <a:bodyPr wrap="square" lIns="0" tIns="0" rIns="0" bIns="0" rtlCol="0" anchor="t"/>
          <a:lstStyle/>
          <a:p>
            <a:pPr algn="l" indent="0" marL="0">
              <a:buNone/>
            </a:pPr>
            <a:r>
              <a:rPr lang="en-US" sz="800" dirty="0">
                <a:solidFill>
                  <a:srgbClr val="333333"/>
                </a:solidFill>
                <a:latin typeface="Arial" pitchFamily="34" charset="0"/>
                <a:ea typeface="Arial" pitchFamily="34" charset="-122"/>
                <a:cs typeface="Arial" pitchFamily="34" charset="-120"/>
              </a:rPr>
              <a:t>Python</a:t>
            </a:r>
            <a:endParaRPr lang="en-US" sz="800" dirty="0"/>
          </a:p>
        </p:txBody>
      </p:sp>
      <p:sp>
        <p:nvSpPr>
          <p:cNvPr id="19" name="Text 17"/>
          <p:cNvSpPr/>
          <p:nvPr/>
        </p:nvSpPr>
        <p:spPr>
          <a:xfrm>
            <a:off x="3742432" y="1123950"/>
            <a:ext cx="1555998" cy="114300"/>
          </a:xfrm>
          <a:prstGeom prst="rect">
            <a:avLst/>
          </a:prstGeom>
          <a:noFill/>
          <a:ln/>
        </p:spPr>
        <p:txBody>
          <a:bodyPr wrap="square" lIns="0" tIns="0" rIns="0" bIns="0" rtlCol="0" anchor="t"/>
          <a:lstStyle/>
          <a:p>
            <a:pPr algn="l" indent="0" marL="0">
              <a:buNone/>
            </a:pPr>
            <a:r>
              <a:rPr lang="en-US" sz="800" dirty="0">
                <a:solidFill>
                  <a:srgbClr val="333333"/>
                </a:solidFill>
                <a:latin typeface="Arial" pitchFamily="34" charset="0"/>
                <a:ea typeface="Arial" pitchFamily="34" charset="-122"/>
                <a:cs typeface="Arial" pitchFamily="34" charset="-120"/>
              </a:rPr>
              <a:t>TypeScript</a:t>
            </a:r>
            <a:endParaRPr lang="en-US" sz="800" dirty="0"/>
          </a:p>
        </p:txBody>
      </p:sp>
      <p:sp>
        <p:nvSpPr>
          <p:cNvPr id="20" name="Text 18"/>
          <p:cNvSpPr/>
          <p:nvPr/>
        </p:nvSpPr>
        <p:spPr>
          <a:xfrm>
            <a:off x="5470922" y="1123950"/>
            <a:ext cx="1555998" cy="114300"/>
          </a:xfrm>
          <a:prstGeom prst="rect">
            <a:avLst/>
          </a:prstGeom>
          <a:noFill/>
          <a:ln/>
        </p:spPr>
        <p:txBody>
          <a:bodyPr wrap="square" lIns="0" tIns="0" rIns="0" bIns="0" rtlCol="0" anchor="t"/>
          <a:lstStyle/>
          <a:p>
            <a:pPr algn="l" indent="0" marL="0">
              <a:buNone/>
            </a:pPr>
            <a:r>
              <a:rPr lang="en-US" sz="800" dirty="0">
                <a:solidFill>
                  <a:srgbClr val="333333"/>
                </a:solidFill>
                <a:latin typeface="Arial" pitchFamily="34" charset="0"/>
                <a:ea typeface="Arial" pitchFamily="34" charset="-122"/>
                <a:cs typeface="Arial" pitchFamily="34" charset="-120"/>
              </a:rPr>
              <a:t>Python</a:t>
            </a:r>
            <a:endParaRPr lang="en-US" sz="800" dirty="0"/>
          </a:p>
        </p:txBody>
      </p:sp>
      <p:sp>
        <p:nvSpPr>
          <p:cNvPr id="21" name="Text 19"/>
          <p:cNvSpPr/>
          <p:nvPr/>
        </p:nvSpPr>
        <p:spPr>
          <a:xfrm>
            <a:off x="7199412" y="1123950"/>
            <a:ext cx="1555998" cy="114300"/>
          </a:xfrm>
          <a:prstGeom prst="rect">
            <a:avLst/>
          </a:prstGeom>
          <a:noFill/>
          <a:ln/>
        </p:spPr>
        <p:txBody>
          <a:bodyPr wrap="square" lIns="0" tIns="0" rIns="0" bIns="0" rtlCol="0" anchor="t"/>
          <a:lstStyle/>
          <a:p>
            <a:pPr algn="l" indent="0" marL="0">
              <a:buNone/>
            </a:pPr>
            <a:r>
              <a:rPr lang="en-US" sz="800" dirty="0">
                <a:solidFill>
                  <a:srgbClr val="333333"/>
                </a:solidFill>
                <a:latin typeface="Arial" pitchFamily="34" charset="0"/>
                <a:ea typeface="Arial" pitchFamily="34" charset="-122"/>
                <a:cs typeface="Arial" pitchFamily="34" charset="-120"/>
              </a:rPr>
              <a:t>TypeScript</a:t>
            </a:r>
            <a:endParaRPr lang="en-US" sz="800" dirty="0"/>
          </a:p>
        </p:txBody>
      </p:sp>
      <p:sp>
        <p:nvSpPr>
          <p:cNvPr id="22" name="Text 20"/>
          <p:cNvSpPr/>
          <p:nvPr/>
        </p:nvSpPr>
        <p:spPr>
          <a:xfrm>
            <a:off x="317450" y="1323975"/>
            <a:ext cx="8509099" cy="276225"/>
          </a:xfrm>
          <a:prstGeom prst="rect">
            <a:avLst/>
          </a:prstGeom>
          <a:solidFill>
            <a:srgbClr val="FAFBFF"/>
          </a:solidFill>
          <a:ln/>
        </p:spPr>
        <p:txBody>
          <a:bodyPr wrap="square" rtlCol="0" anchor="ctr"/>
          <a:lstStyle/>
          <a:p>
            <a:pPr indent="0" marL="0">
              <a:buNone/>
            </a:pPr>
            <a:endParaRPr lang="en-US" dirty="0"/>
          </a:p>
        </p:txBody>
      </p:sp>
      <p:sp>
        <p:nvSpPr>
          <p:cNvPr id="23" name="Shape 21"/>
          <p:cNvSpPr/>
          <p:nvPr/>
        </p:nvSpPr>
        <p:spPr>
          <a:xfrm>
            <a:off x="317450" y="1595438"/>
            <a:ext cx="8509099" cy="0"/>
          </a:xfrm>
          <a:prstGeom prst="line">
            <a:avLst/>
          </a:prstGeom>
          <a:noFill/>
          <a:ln w="9525">
            <a:solidFill>
              <a:srgbClr val="E0E5F0"/>
            </a:solidFill>
            <a:prstDash val="solid"/>
          </a:ln>
        </p:spPr>
      </p:sp>
      <p:sp>
        <p:nvSpPr>
          <p:cNvPr id="24" name="Text 22"/>
          <p:cNvSpPr/>
          <p:nvPr/>
        </p:nvSpPr>
        <p:spPr>
          <a:xfrm>
            <a:off x="317450" y="1323975"/>
            <a:ext cx="1594991" cy="266700"/>
          </a:xfrm>
          <a:prstGeom prst="rect">
            <a:avLst/>
          </a:prstGeom>
          <a:solidFill>
            <a:srgbClr val="F0F4FF"/>
          </a:solidFill>
          <a:ln/>
        </p:spPr>
        <p:txBody>
          <a:bodyPr wrap="square" rtlCol="0" anchor="ctr"/>
          <a:lstStyle/>
          <a:p>
            <a:pPr indent="0" marL="0">
              <a:buNone/>
            </a:pPr>
            <a:endParaRPr lang="en-US" dirty="0"/>
          </a:p>
        </p:txBody>
      </p:sp>
      <p:sp>
        <p:nvSpPr>
          <p:cNvPr id="25" name="Shape 23"/>
          <p:cNvSpPr/>
          <p:nvPr/>
        </p:nvSpPr>
        <p:spPr>
          <a:xfrm>
            <a:off x="1902916" y="1323975"/>
            <a:ext cx="0" cy="266700"/>
          </a:xfrm>
          <a:prstGeom prst="line">
            <a:avLst/>
          </a:prstGeom>
          <a:noFill/>
          <a:ln w="19050">
            <a:solidFill>
              <a:srgbClr val="667EEA"/>
            </a:solidFill>
            <a:prstDash val="solid"/>
          </a:ln>
        </p:spPr>
      </p:sp>
      <p:sp>
        <p:nvSpPr>
          <p:cNvPr id="26" name="Text 24"/>
          <p:cNvSpPr/>
          <p:nvPr/>
        </p:nvSpPr>
        <p:spPr>
          <a:xfrm>
            <a:off x="418951" y="1400175"/>
            <a:ext cx="1400398" cy="114300"/>
          </a:xfrm>
          <a:prstGeom prst="rect">
            <a:avLst/>
          </a:prstGeom>
          <a:noFill/>
          <a:ln/>
        </p:spPr>
        <p:txBody>
          <a:bodyPr wrap="square" lIns="0" tIns="0" rIns="0" bIns="0" rtlCol="0" anchor="t"/>
          <a:lstStyle/>
          <a:p>
            <a:pPr algn="l" indent="0" marL="0">
              <a:buNone/>
            </a:pPr>
            <a:r>
              <a:rPr lang="en-US" sz="800" b="1" dirty="0">
                <a:solidFill>
                  <a:srgbClr val="1A1A2E"/>
                </a:solidFill>
                <a:latin typeface="Arial" pitchFamily="34" charset="0"/>
                <a:ea typeface="Arial" pitchFamily="34" charset="-122"/>
                <a:cs typeface="Arial" pitchFamily="34" charset="-120"/>
              </a:rPr>
              <a:t>Storage</a:t>
            </a:r>
            <a:endParaRPr lang="en-US" sz="800" dirty="0"/>
          </a:p>
        </p:txBody>
      </p:sp>
      <p:sp>
        <p:nvSpPr>
          <p:cNvPr id="27" name="Text 25"/>
          <p:cNvSpPr/>
          <p:nvPr/>
        </p:nvSpPr>
        <p:spPr>
          <a:xfrm>
            <a:off x="2013942" y="1400175"/>
            <a:ext cx="1555998" cy="114300"/>
          </a:xfrm>
          <a:prstGeom prst="rect">
            <a:avLst/>
          </a:prstGeom>
          <a:noFill/>
          <a:ln/>
        </p:spPr>
        <p:txBody>
          <a:bodyPr wrap="square" lIns="0" tIns="0" rIns="0" bIns="0" rtlCol="0" anchor="t"/>
          <a:lstStyle/>
          <a:p>
            <a:pPr algn="l" indent="0" marL="0">
              <a:buNone/>
            </a:pPr>
            <a:r>
              <a:rPr lang="en-US" sz="800" dirty="0">
                <a:solidFill>
                  <a:srgbClr val="333333"/>
                </a:solidFill>
                <a:latin typeface="Arial" pitchFamily="34" charset="0"/>
                <a:ea typeface="Arial" pitchFamily="34" charset="-122"/>
                <a:cs typeface="Arial" pitchFamily="34" charset="-120"/>
              </a:rPr>
              <a:t>SQLite</a:t>
            </a:r>
            <a:endParaRPr lang="en-US" sz="800" dirty="0"/>
          </a:p>
        </p:txBody>
      </p:sp>
      <p:sp>
        <p:nvSpPr>
          <p:cNvPr id="28" name="Text 26"/>
          <p:cNvSpPr/>
          <p:nvPr/>
        </p:nvSpPr>
        <p:spPr>
          <a:xfrm>
            <a:off x="3742432" y="1400175"/>
            <a:ext cx="1555998" cy="114300"/>
          </a:xfrm>
          <a:prstGeom prst="rect">
            <a:avLst/>
          </a:prstGeom>
          <a:noFill/>
          <a:ln/>
        </p:spPr>
        <p:txBody>
          <a:bodyPr wrap="square" lIns="0" tIns="0" rIns="0" bIns="0" rtlCol="0" anchor="t"/>
          <a:lstStyle/>
          <a:p>
            <a:pPr algn="l" indent="0" marL="0">
              <a:buNone/>
            </a:pPr>
            <a:r>
              <a:rPr lang="en-US" sz="800" dirty="0">
                <a:solidFill>
                  <a:srgbClr val="333333"/>
                </a:solidFill>
                <a:latin typeface="Arial" pitchFamily="34" charset="0"/>
                <a:ea typeface="Arial" pitchFamily="34" charset="-122"/>
                <a:cs typeface="Arial" pitchFamily="34" charset="-120"/>
              </a:rPr>
              <a:t>JSON files</a:t>
            </a:r>
            <a:endParaRPr lang="en-US" sz="800" dirty="0"/>
          </a:p>
        </p:txBody>
      </p:sp>
      <p:sp>
        <p:nvSpPr>
          <p:cNvPr id="29" name="Text 27"/>
          <p:cNvSpPr/>
          <p:nvPr/>
        </p:nvSpPr>
        <p:spPr>
          <a:xfrm>
            <a:off x="5470922" y="1400175"/>
            <a:ext cx="1555998" cy="114300"/>
          </a:xfrm>
          <a:prstGeom prst="rect">
            <a:avLst/>
          </a:prstGeom>
          <a:noFill/>
          <a:ln/>
        </p:spPr>
        <p:txBody>
          <a:bodyPr wrap="square" lIns="0" tIns="0" rIns="0" bIns="0" rtlCol="0" anchor="t"/>
          <a:lstStyle/>
          <a:p>
            <a:pPr algn="l" indent="0" marL="0">
              <a:buNone/>
            </a:pPr>
            <a:r>
              <a:rPr lang="en-US" sz="800" dirty="0">
                <a:solidFill>
                  <a:srgbClr val="333333"/>
                </a:solidFill>
                <a:latin typeface="Arial" pitchFamily="34" charset="0"/>
                <a:ea typeface="Arial" pitchFamily="34" charset="-122"/>
                <a:cs typeface="Arial" pitchFamily="34" charset="-120"/>
              </a:rPr>
              <a:t>Markdown</a:t>
            </a:r>
            <a:endParaRPr lang="en-US" sz="800" dirty="0"/>
          </a:p>
        </p:txBody>
      </p:sp>
      <p:sp>
        <p:nvSpPr>
          <p:cNvPr id="30" name="Text 28"/>
          <p:cNvSpPr/>
          <p:nvPr/>
        </p:nvSpPr>
        <p:spPr>
          <a:xfrm>
            <a:off x="7199412" y="1400175"/>
            <a:ext cx="1555998" cy="114300"/>
          </a:xfrm>
          <a:prstGeom prst="rect">
            <a:avLst/>
          </a:prstGeom>
          <a:noFill/>
          <a:ln/>
        </p:spPr>
        <p:txBody>
          <a:bodyPr wrap="square" lIns="0" tIns="0" rIns="0" bIns="0" rtlCol="0" anchor="t"/>
          <a:lstStyle/>
          <a:p>
            <a:pPr algn="l" indent="0" marL="0">
              <a:buNone/>
            </a:pPr>
            <a:r>
              <a:rPr lang="en-US" sz="800" dirty="0">
                <a:solidFill>
                  <a:srgbClr val="333333"/>
                </a:solidFill>
                <a:latin typeface="Arial" pitchFamily="34" charset="0"/>
                <a:ea typeface="Arial" pitchFamily="34" charset="-122"/>
                <a:cs typeface="Arial" pitchFamily="34" charset="-120"/>
              </a:rPr>
              <a:t>JSON/Graph</a:t>
            </a:r>
            <a:endParaRPr lang="en-US" sz="800" dirty="0"/>
          </a:p>
        </p:txBody>
      </p:sp>
      <p:sp>
        <p:nvSpPr>
          <p:cNvPr id="31" name="Shape 29"/>
          <p:cNvSpPr/>
          <p:nvPr/>
        </p:nvSpPr>
        <p:spPr>
          <a:xfrm>
            <a:off x="317450" y="1871663"/>
            <a:ext cx="8509099" cy="0"/>
          </a:xfrm>
          <a:prstGeom prst="line">
            <a:avLst/>
          </a:prstGeom>
          <a:noFill/>
          <a:ln w="9525">
            <a:solidFill>
              <a:srgbClr val="E0E5F0"/>
            </a:solidFill>
            <a:prstDash val="solid"/>
          </a:ln>
        </p:spPr>
      </p:sp>
      <p:sp>
        <p:nvSpPr>
          <p:cNvPr id="32" name="Text 30"/>
          <p:cNvSpPr/>
          <p:nvPr/>
        </p:nvSpPr>
        <p:spPr>
          <a:xfrm>
            <a:off x="317450" y="1600200"/>
            <a:ext cx="1594991" cy="266700"/>
          </a:xfrm>
          <a:prstGeom prst="rect">
            <a:avLst/>
          </a:prstGeom>
          <a:solidFill>
            <a:srgbClr val="F0F4FF"/>
          </a:solidFill>
          <a:ln/>
        </p:spPr>
        <p:txBody>
          <a:bodyPr wrap="square" rtlCol="0" anchor="ctr"/>
          <a:lstStyle/>
          <a:p>
            <a:pPr indent="0" marL="0">
              <a:buNone/>
            </a:pPr>
            <a:endParaRPr lang="en-US" dirty="0"/>
          </a:p>
        </p:txBody>
      </p:sp>
      <p:sp>
        <p:nvSpPr>
          <p:cNvPr id="33" name="Shape 31"/>
          <p:cNvSpPr/>
          <p:nvPr/>
        </p:nvSpPr>
        <p:spPr>
          <a:xfrm>
            <a:off x="1902916" y="1600200"/>
            <a:ext cx="0" cy="266700"/>
          </a:xfrm>
          <a:prstGeom prst="line">
            <a:avLst/>
          </a:prstGeom>
          <a:noFill/>
          <a:ln w="19050">
            <a:solidFill>
              <a:srgbClr val="667EEA"/>
            </a:solidFill>
            <a:prstDash val="solid"/>
          </a:ln>
        </p:spPr>
      </p:sp>
      <p:sp>
        <p:nvSpPr>
          <p:cNvPr id="34" name="Text 32"/>
          <p:cNvSpPr/>
          <p:nvPr/>
        </p:nvSpPr>
        <p:spPr>
          <a:xfrm>
            <a:off x="418951" y="1676400"/>
            <a:ext cx="1400398" cy="114300"/>
          </a:xfrm>
          <a:prstGeom prst="rect">
            <a:avLst/>
          </a:prstGeom>
          <a:noFill/>
          <a:ln/>
        </p:spPr>
        <p:txBody>
          <a:bodyPr wrap="square" lIns="0" tIns="0" rIns="0" bIns="0" rtlCol="0" anchor="t"/>
          <a:lstStyle/>
          <a:p>
            <a:pPr algn="l" indent="0" marL="0">
              <a:buNone/>
            </a:pPr>
            <a:r>
              <a:rPr lang="en-US" sz="800" b="1" dirty="0">
                <a:solidFill>
                  <a:srgbClr val="1A1A2E"/>
                </a:solidFill>
                <a:latin typeface="Arial" pitchFamily="34" charset="0"/>
                <a:ea typeface="Arial" pitchFamily="34" charset="-122"/>
                <a:cs typeface="Arial" pitchFamily="34" charset="-120"/>
              </a:rPr>
              <a:t>Full-Text Search</a:t>
            </a:r>
            <a:endParaRPr lang="en-US" sz="800" dirty="0"/>
          </a:p>
        </p:txBody>
      </p:sp>
      <p:sp>
        <p:nvSpPr>
          <p:cNvPr id="35" name="Text 33"/>
          <p:cNvSpPr/>
          <p:nvPr/>
        </p:nvSpPr>
        <p:spPr>
          <a:xfrm>
            <a:off x="2013942" y="1676400"/>
            <a:ext cx="1555998" cy="114300"/>
          </a:xfrm>
          <a:prstGeom prst="rect">
            <a:avLst/>
          </a:prstGeom>
          <a:noFill/>
          <a:ln/>
        </p:spPr>
        <p:txBody>
          <a:bodyPr wrap="square" lIns="0" tIns="0" rIns="0" bIns="0" rtlCol="0" anchor="t"/>
          <a:lstStyle/>
          <a:p>
            <a:pPr algn="l" indent="0" marL="0">
              <a:buNone/>
            </a:pPr>
            <a:r>
              <a:rPr lang="en-US" sz="800" b="1" dirty="0">
                <a:solidFill>
                  <a:srgbClr val="2E7D32"/>
                </a:solidFill>
                <a:latin typeface="Arial" pitchFamily="34" charset="0"/>
                <a:ea typeface="Arial" pitchFamily="34" charset="-122"/>
                <a:cs typeface="Arial" pitchFamily="34" charset="-120"/>
              </a:rPr>
              <a:t>FTS5 + BM25</a:t>
            </a:r>
            <a:endParaRPr lang="en-US" sz="800" dirty="0"/>
          </a:p>
        </p:txBody>
      </p:sp>
      <p:sp>
        <p:nvSpPr>
          <p:cNvPr id="36" name="Text 34"/>
          <p:cNvSpPr/>
          <p:nvPr/>
        </p:nvSpPr>
        <p:spPr>
          <a:xfrm>
            <a:off x="3742432" y="1676400"/>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Basic text</a:t>
            </a:r>
            <a:endParaRPr lang="en-US" sz="800" dirty="0"/>
          </a:p>
        </p:txBody>
      </p:sp>
      <p:sp>
        <p:nvSpPr>
          <p:cNvPr id="37" name="Text 35"/>
          <p:cNvSpPr/>
          <p:nvPr/>
        </p:nvSpPr>
        <p:spPr>
          <a:xfrm>
            <a:off x="5470922" y="1676400"/>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Basic</a:t>
            </a:r>
            <a:endParaRPr lang="en-US" sz="800" dirty="0"/>
          </a:p>
        </p:txBody>
      </p:sp>
      <p:sp>
        <p:nvSpPr>
          <p:cNvPr id="38" name="Text 36"/>
          <p:cNvSpPr/>
          <p:nvPr/>
        </p:nvSpPr>
        <p:spPr>
          <a:xfrm>
            <a:off x="7199412" y="1676400"/>
            <a:ext cx="1555998" cy="114300"/>
          </a:xfrm>
          <a:prstGeom prst="rect">
            <a:avLst/>
          </a:prstGeom>
          <a:noFill/>
          <a:ln/>
        </p:spPr>
        <p:txBody>
          <a:bodyPr wrap="square" lIns="0" tIns="0" rIns="0" bIns="0" rtlCol="0" anchor="t"/>
          <a:lstStyle/>
          <a:p>
            <a:pPr algn="l" indent="0" marL="0">
              <a:buNone/>
            </a:pPr>
            <a:r>
              <a:rPr lang="en-US" sz="800" dirty="0">
                <a:solidFill>
                  <a:srgbClr val="F0A500"/>
                </a:solidFill>
                <a:latin typeface="Arial" pitchFamily="34" charset="0"/>
                <a:ea typeface="Arial" pitchFamily="34" charset="-122"/>
                <a:cs typeface="Arial" pitchFamily="34" charset="-120"/>
              </a:rPr>
              <a:t>Partial</a:t>
            </a:r>
            <a:endParaRPr lang="en-US" sz="800" dirty="0"/>
          </a:p>
        </p:txBody>
      </p:sp>
      <p:sp>
        <p:nvSpPr>
          <p:cNvPr id="39" name="Text 37"/>
          <p:cNvSpPr/>
          <p:nvPr/>
        </p:nvSpPr>
        <p:spPr>
          <a:xfrm>
            <a:off x="317450" y="1876425"/>
            <a:ext cx="8509099" cy="276225"/>
          </a:xfrm>
          <a:prstGeom prst="rect">
            <a:avLst/>
          </a:prstGeom>
          <a:solidFill>
            <a:srgbClr val="FAFBFF"/>
          </a:solidFill>
          <a:ln/>
        </p:spPr>
        <p:txBody>
          <a:bodyPr wrap="square" rtlCol="0" anchor="ctr"/>
          <a:lstStyle/>
          <a:p>
            <a:pPr indent="0" marL="0">
              <a:buNone/>
            </a:pPr>
            <a:endParaRPr lang="en-US" dirty="0"/>
          </a:p>
        </p:txBody>
      </p:sp>
      <p:sp>
        <p:nvSpPr>
          <p:cNvPr id="40" name="Shape 38"/>
          <p:cNvSpPr/>
          <p:nvPr/>
        </p:nvSpPr>
        <p:spPr>
          <a:xfrm>
            <a:off x="317450" y="2147888"/>
            <a:ext cx="8509099" cy="0"/>
          </a:xfrm>
          <a:prstGeom prst="line">
            <a:avLst/>
          </a:prstGeom>
          <a:noFill/>
          <a:ln w="9525">
            <a:solidFill>
              <a:srgbClr val="E0E5F0"/>
            </a:solidFill>
            <a:prstDash val="solid"/>
          </a:ln>
        </p:spPr>
      </p:sp>
      <p:sp>
        <p:nvSpPr>
          <p:cNvPr id="41" name="Text 39"/>
          <p:cNvSpPr/>
          <p:nvPr/>
        </p:nvSpPr>
        <p:spPr>
          <a:xfrm>
            <a:off x="317450" y="1876425"/>
            <a:ext cx="1594991" cy="266700"/>
          </a:xfrm>
          <a:prstGeom prst="rect">
            <a:avLst/>
          </a:prstGeom>
          <a:solidFill>
            <a:srgbClr val="F0F4FF"/>
          </a:solidFill>
          <a:ln/>
        </p:spPr>
        <p:txBody>
          <a:bodyPr wrap="square" rtlCol="0" anchor="ctr"/>
          <a:lstStyle/>
          <a:p>
            <a:pPr indent="0" marL="0">
              <a:buNone/>
            </a:pPr>
            <a:endParaRPr lang="en-US" dirty="0"/>
          </a:p>
        </p:txBody>
      </p:sp>
      <p:sp>
        <p:nvSpPr>
          <p:cNvPr id="42" name="Shape 40"/>
          <p:cNvSpPr/>
          <p:nvPr/>
        </p:nvSpPr>
        <p:spPr>
          <a:xfrm>
            <a:off x="1902916" y="1876425"/>
            <a:ext cx="0" cy="266700"/>
          </a:xfrm>
          <a:prstGeom prst="line">
            <a:avLst/>
          </a:prstGeom>
          <a:noFill/>
          <a:ln w="19050">
            <a:solidFill>
              <a:srgbClr val="667EEA"/>
            </a:solidFill>
            <a:prstDash val="solid"/>
          </a:ln>
        </p:spPr>
      </p:sp>
      <p:sp>
        <p:nvSpPr>
          <p:cNvPr id="43" name="Text 41"/>
          <p:cNvSpPr/>
          <p:nvPr/>
        </p:nvSpPr>
        <p:spPr>
          <a:xfrm>
            <a:off x="418951" y="1952625"/>
            <a:ext cx="1400398" cy="114300"/>
          </a:xfrm>
          <a:prstGeom prst="rect">
            <a:avLst/>
          </a:prstGeom>
          <a:noFill/>
          <a:ln/>
        </p:spPr>
        <p:txBody>
          <a:bodyPr wrap="square" lIns="0" tIns="0" rIns="0" bIns="0" rtlCol="0" anchor="t"/>
          <a:lstStyle/>
          <a:p>
            <a:pPr algn="l" indent="0" marL="0">
              <a:buNone/>
            </a:pPr>
            <a:r>
              <a:rPr lang="en-US" sz="800" b="1" dirty="0">
                <a:solidFill>
                  <a:srgbClr val="1A1A2E"/>
                </a:solidFill>
                <a:latin typeface="Arial" pitchFamily="34" charset="0"/>
                <a:ea typeface="Arial" pitchFamily="34" charset="-122"/>
                <a:cs typeface="Arial" pitchFamily="34" charset="-120"/>
              </a:rPr>
              <a:t>Semantic Search</a:t>
            </a:r>
            <a:endParaRPr lang="en-US" sz="800" dirty="0"/>
          </a:p>
        </p:txBody>
      </p:sp>
      <p:sp>
        <p:nvSpPr>
          <p:cNvPr id="44" name="Text 42"/>
          <p:cNvSpPr/>
          <p:nvPr/>
        </p:nvSpPr>
        <p:spPr>
          <a:xfrm>
            <a:off x="2013942" y="1952625"/>
            <a:ext cx="1555998" cy="114300"/>
          </a:xfrm>
          <a:prstGeom prst="rect">
            <a:avLst/>
          </a:prstGeom>
          <a:noFill/>
          <a:ln/>
        </p:spPr>
        <p:txBody>
          <a:bodyPr wrap="square" lIns="0" tIns="0" rIns="0" bIns="0" rtlCol="0" anchor="t"/>
          <a:lstStyle/>
          <a:p>
            <a:pPr algn="l" indent="0" marL="0">
              <a:buNone/>
            </a:pPr>
            <a:r>
              <a:rPr lang="en-US" sz="800" b="1" dirty="0">
                <a:solidFill>
                  <a:srgbClr val="2E7D32"/>
                </a:solidFill>
                <a:latin typeface="Arial" pitchFamily="34" charset="0"/>
                <a:ea typeface="Arial" pitchFamily="34" charset="-122"/>
                <a:cs typeface="Arial" pitchFamily="34" charset="-120"/>
              </a:rPr>
              <a:t>Optional</a:t>
            </a:r>
            <a:endParaRPr lang="en-US" sz="800" dirty="0"/>
          </a:p>
        </p:txBody>
      </p:sp>
      <p:sp>
        <p:nvSpPr>
          <p:cNvPr id="45" name="Text 43"/>
          <p:cNvSpPr/>
          <p:nvPr/>
        </p:nvSpPr>
        <p:spPr>
          <a:xfrm>
            <a:off x="3742432" y="1952625"/>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46" name="Text 44"/>
          <p:cNvSpPr/>
          <p:nvPr/>
        </p:nvSpPr>
        <p:spPr>
          <a:xfrm>
            <a:off x="5470922" y="1952625"/>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47" name="Text 45"/>
          <p:cNvSpPr/>
          <p:nvPr/>
        </p:nvSpPr>
        <p:spPr>
          <a:xfrm>
            <a:off x="7199412" y="1952625"/>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48" name="Shape 46"/>
          <p:cNvSpPr/>
          <p:nvPr/>
        </p:nvSpPr>
        <p:spPr>
          <a:xfrm>
            <a:off x="317450" y="2424113"/>
            <a:ext cx="8509099" cy="0"/>
          </a:xfrm>
          <a:prstGeom prst="line">
            <a:avLst/>
          </a:prstGeom>
          <a:noFill/>
          <a:ln w="9525">
            <a:solidFill>
              <a:srgbClr val="E0E5F0"/>
            </a:solidFill>
            <a:prstDash val="solid"/>
          </a:ln>
        </p:spPr>
      </p:sp>
      <p:sp>
        <p:nvSpPr>
          <p:cNvPr id="49" name="Text 47"/>
          <p:cNvSpPr/>
          <p:nvPr/>
        </p:nvSpPr>
        <p:spPr>
          <a:xfrm>
            <a:off x="317450" y="2152650"/>
            <a:ext cx="1594991" cy="266700"/>
          </a:xfrm>
          <a:prstGeom prst="rect">
            <a:avLst/>
          </a:prstGeom>
          <a:solidFill>
            <a:srgbClr val="F0F4FF"/>
          </a:solidFill>
          <a:ln/>
        </p:spPr>
        <p:txBody>
          <a:bodyPr wrap="square" rtlCol="0" anchor="ctr"/>
          <a:lstStyle/>
          <a:p>
            <a:pPr indent="0" marL="0">
              <a:buNone/>
            </a:pPr>
            <a:endParaRPr lang="en-US" dirty="0"/>
          </a:p>
        </p:txBody>
      </p:sp>
      <p:sp>
        <p:nvSpPr>
          <p:cNvPr id="50" name="Shape 48"/>
          <p:cNvSpPr/>
          <p:nvPr/>
        </p:nvSpPr>
        <p:spPr>
          <a:xfrm>
            <a:off x="1902916" y="2152650"/>
            <a:ext cx="0" cy="266700"/>
          </a:xfrm>
          <a:prstGeom prst="line">
            <a:avLst/>
          </a:prstGeom>
          <a:noFill/>
          <a:ln w="19050">
            <a:solidFill>
              <a:srgbClr val="667EEA"/>
            </a:solidFill>
            <a:prstDash val="solid"/>
          </a:ln>
        </p:spPr>
      </p:sp>
      <p:sp>
        <p:nvSpPr>
          <p:cNvPr id="51" name="Text 49"/>
          <p:cNvSpPr/>
          <p:nvPr/>
        </p:nvSpPr>
        <p:spPr>
          <a:xfrm>
            <a:off x="418951" y="2228850"/>
            <a:ext cx="1400398" cy="114300"/>
          </a:xfrm>
          <a:prstGeom prst="rect">
            <a:avLst/>
          </a:prstGeom>
          <a:noFill/>
          <a:ln/>
        </p:spPr>
        <p:txBody>
          <a:bodyPr wrap="square" lIns="0" tIns="0" rIns="0" bIns="0" rtlCol="0" anchor="t"/>
          <a:lstStyle/>
          <a:p>
            <a:pPr algn="l" indent="0" marL="0">
              <a:buNone/>
            </a:pPr>
            <a:r>
              <a:rPr lang="en-US" sz="800" b="1" dirty="0">
                <a:solidFill>
                  <a:srgbClr val="1A1A2E"/>
                </a:solidFill>
                <a:latin typeface="Arial" pitchFamily="34" charset="0"/>
                <a:ea typeface="Arial" pitchFamily="34" charset="-122"/>
                <a:cs typeface="Arial" pitchFamily="34" charset="-120"/>
              </a:rPr>
              <a:t>Session Tracking</a:t>
            </a:r>
            <a:endParaRPr lang="en-US" sz="800" dirty="0"/>
          </a:p>
        </p:txBody>
      </p:sp>
      <p:sp>
        <p:nvSpPr>
          <p:cNvPr id="52" name="Text 50"/>
          <p:cNvSpPr/>
          <p:nvPr/>
        </p:nvSpPr>
        <p:spPr>
          <a:xfrm>
            <a:off x="2013942" y="2228850"/>
            <a:ext cx="1555998" cy="114300"/>
          </a:xfrm>
          <a:prstGeom prst="rect">
            <a:avLst/>
          </a:prstGeom>
          <a:noFill/>
          <a:ln/>
        </p:spPr>
        <p:txBody>
          <a:bodyPr wrap="square" lIns="0" tIns="0" rIns="0" bIns="0" rtlCol="0" anchor="t"/>
          <a:lstStyle/>
          <a:p>
            <a:pPr algn="l" indent="0" marL="0">
              <a:buNone/>
            </a:pPr>
            <a:r>
              <a:rPr lang="en-US" sz="800" b="1" dirty="0">
                <a:solidFill>
                  <a:srgbClr val="2E7D32"/>
                </a:solidFill>
                <a:latin typeface="Arial" pitchFamily="34" charset="0"/>
                <a:ea typeface="Arial" pitchFamily="34" charset="-122"/>
                <a:cs typeface="Arial" pitchFamily="34" charset="-120"/>
              </a:rPr>
              <a:t>Yes</a:t>
            </a:r>
            <a:endParaRPr lang="en-US" sz="800" dirty="0"/>
          </a:p>
        </p:txBody>
      </p:sp>
      <p:sp>
        <p:nvSpPr>
          <p:cNvPr id="53" name="Text 51"/>
          <p:cNvSpPr/>
          <p:nvPr/>
        </p:nvSpPr>
        <p:spPr>
          <a:xfrm>
            <a:off x="3742432" y="2228850"/>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54" name="Text 52"/>
          <p:cNvSpPr/>
          <p:nvPr/>
        </p:nvSpPr>
        <p:spPr>
          <a:xfrm>
            <a:off x="5470922" y="2228850"/>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55" name="Text 53"/>
          <p:cNvSpPr/>
          <p:nvPr/>
        </p:nvSpPr>
        <p:spPr>
          <a:xfrm>
            <a:off x="7199412" y="2228850"/>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56" name="Text 54"/>
          <p:cNvSpPr/>
          <p:nvPr/>
        </p:nvSpPr>
        <p:spPr>
          <a:xfrm>
            <a:off x="317450" y="2428875"/>
            <a:ext cx="8509099" cy="276225"/>
          </a:xfrm>
          <a:prstGeom prst="rect">
            <a:avLst/>
          </a:prstGeom>
          <a:solidFill>
            <a:srgbClr val="FAFBFF"/>
          </a:solidFill>
          <a:ln/>
        </p:spPr>
        <p:txBody>
          <a:bodyPr wrap="square" rtlCol="0" anchor="ctr"/>
          <a:lstStyle/>
          <a:p>
            <a:pPr indent="0" marL="0">
              <a:buNone/>
            </a:pPr>
            <a:endParaRPr lang="en-US" dirty="0"/>
          </a:p>
        </p:txBody>
      </p:sp>
      <p:sp>
        <p:nvSpPr>
          <p:cNvPr id="57" name="Shape 55"/>
          <p:cNvSpPr/>
          <p:nvPr/>
        </p:nvSpPr>
        <p:spPr>
          <a:xfrm>
            <a:off x="317450" y="2700338"/>
            <a:ext cx="8509099" cy="0"/>
          </a:xfrm>
          <a:prstGeom prst="line">
            <a:avLst/>
          </a:prstGeom>
          <a:noFill/>
          <a:ln w="9525">
            <a:solidFill>
              <a:srgbClr val="E0E5F0"/>
            </a:solidFill>
            <a:prstDash val="solid"/>
          </a:ln>
        </p:spPr>
      </p:sp>
      <p:sp>
        <p:nvSpPr>
          <p:cNvPr id="58" name="Text 56"/>
          <p:cNvSpPr/>
          <p:nvPr/>
        </p:nvSpPr>
        <p:spPr>
          <a:xfrm>
            <a:off x="317450" y="2428875"/>
            <a:ext cx="1594991" cy="266700"/>
          </a:xfrm>
          <a:prstGeom prst="rect">
            <a:avLst/>
          </a:prstGeom>
          <a:solidFill>
            <a:srgbClr val="F0F4FF"/>
          </a:solidFill>
          <a:ln/>
        </p:spPr>
        <p:txBody>
          <a:bodyPr wrap="square" rtlCol="0" anchor="ctr"/>
          <a:lstStyle/>
          <a:p>
            <a:pPr indent="0" marL="0">
              <a:buNone/>
            </a:pPr>
            <a:endParaRPr lang="en-US" dirty="0"/>
          </a:p>
        </p:txBody>
      </p:sp>
      <p:sp>
        <p:nvSpPr>
          <p:cNvPr id="59" name="Shape 57"/>
          <p:cNvSpPr/>
          <p:nvPr/>
        </p:nvSpPr>
        <p:spPr>
          <a:xfrm>
            <a:off x="1902916" y="2428875"/>
            <a:ext cx="0" cy="266700"/>
          </a:xfrm>
          <a:prstGeom prst="line">
            <a:avLst/>
          </a:prstGeom>
          <a:noFill/>
          <a:ln w="19050">
            <a:solidFill>
              <a:srgbClr val="667EEA"/>
            </a:solidFill>
            <a:prstDash val="solid"/>
          </a:ln>
        </p:spPr>
      </p:sp>
      <p:sp>
        <p:nvSpPr>
          <p:cNvPr id="60" name="Text 58"/>
          <p:cNvSpPr/>
          <p:nvPr/>
        </p:nvSpPr>
        <p:spPr>
          <a:xfrm>
            <a:off x="418951" y="2505075"/>
            <a:ext cx="1400398" cy="114300"/>
          </a:xfrm>
          <a:prstGeom prst="rect">
            <a:avLst/>
          </a:prstGeom>
          <a:noFill/>
          <a:ln/>
        </p:spPr>
        <p:txBody>
          <a:bodyPr wrap="square" lIns="0" tIns="0" rIns="0" bIns="0" rtlCol="0" anchor="t"/>
          <a:lstStyle/>
          <a:p>
            <a:pPr algn="l" indent="0" marL="0">
              <a:buNone/>
            </a:pPr>
            <a:r>
              <a:rPr lang="en-US" sz="800" b="1" dirty="0">
                <a:solidFill>
                  <a:srgbClr val="1A1A2E"/>
                </a:solidFill>
                <a:latin typeface="Arial" pitchFamily="34" charset="0"/>
                <a:ea typeface="Arial" pitchFamily="34" charset="-122"/>
                <a:cs typeface="Arial" pitchFamily="34" charset="-120"/>
              </a:rPr>
              <a:t>Activity Logging</a:t>
            </a:r>
            <a:endParaRPr lang="en-US" sz="800" dirty="0"/>
          </a:p>
        </p:txBody>
      </p:sp>
      <p:sp>
        <p:nvSpPr>
          <p:cNvPr id="61" name="Text 59"/>
          <p:cNvSpPr/>
          <p:nvPr/>
        </p:nvSpPr>
        <p:spPr>
          <a:xfrm>
            <a:off x="2013942" y="2505075"/>
            <a:ext cx="1555998" cy="114300"/>
          </a:xfrm>
          <a:prstGeom prst="rect">
            <a:avLst/>
          </a:prstGeom>
          <a:noFill/>
          <a:ln/>
        </p:spPr>
        <p:txBody>
          <a:bodyPr wrap="square" lIns="0" tIns="0" rIns="0" bIns="0" rtlCol="0" anchor="t"/>
          <a:lstStyle/>
          <a:p>
            <a:pPr algn="l" indent="0" marL="0">
              <a:buNone/>
            </a:pPr>
            <a:r>
              <a:rPr lang="en-US" sz="800" b="1" dirty="0">
                <a:solidFill>
                  <a:srgbClr val="2E7D32"/>
                </a:solidFill>
                <a:latin typeface="Arial" pitchFamily="34" charset="0"/>
                <a:ea typeface="Arial" pitchFamily="34" charset="-122"/>
                <a:cs typeface="Arial" pitchFamily="34" charset="-120"/>
              </a:rPr>
              <a:t>Yes</a:t>
            </a:r>
            <a:endParaRPr lang="en-US" sz="800" dirty="0"/>
          </a:p>
        </p:txBody>
      </p:sp>
      <p:sp>
        <p:nvSpPr>
          <p:cNvPr id="62" name="Text 60"/>
          <p:cNvSpPr/>
          <p:nvPr/>
        </p:nvSpPr>
        <p:spPr>
          <a:xfrm>
            <a:off x="3742432" y="2505075"/>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63" name="Text 61"/>
          <p:cNvSpPr/>
          <p:nvPr/>
        </p:nvSpPr>
        <p:spPr>
          <a:xfrm>
            <a:off x="5470922" y="2505075"/>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64" name="Text 62"/>
          <p:cNvSpPr/>
          <p:nvPr/>
        </p:nvSpPr>
        <p:spPr>
          <a:xfrm>
            <a:off x="7199412" y="2505075"/>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65" name="Shape 63"/>
          <p:cNvSpPr/>
          <p:nvPr/>
        </p:nvSpPr>
        <p:spPr>
          <a:xfrm>
            <a:off x="317450" y="2976563"/>
            <a:ext cx="8509099" cy="0"/>
          </a:xfrm>
          <a:prstGeom prst="line">
            <a:avLst/>
          </a:prstGeom>
          <a:noFill/>
          <a:ln w="9525">
            <a:solidFill>
              <a:srgbClr val="E0E5F0"/>
            </a:solidFill>
            <a:prstDash val="solid"/>
          </a:ln>
        </p:spPr>
      </p:sp>
      <p:sp>
        <p:nvSpPr>
          <p:cNvPr id="66" name="Text 64"/>
          <p:cNvSpPr/>
          <p:nvPr/>
        </p:nvSpPr>
        <p:spPr>
          <a:xfrm>
            <a:off x="317450" y="2705100"/>
            <a:ext cx="1594991" cy="266700"/>
          </a:xfrm>
          <a:prstGeom prst="rect">
            <a:avLst/>
          </a:prstGeom>
          <a:solidFill>
            <a:srgbClr val="F0F4FF"/>
          </a:solidFill>
          <a:ln/>
        </p:spPr>
        <p:txBody>
          <a:bodyPr wrap="square" rtlCol="0" anchor="ctr"/>
          <a:lstStyle/>
          <a:p>
            <a:pPr indent="0" marL="0">
              <a:buNone/>
            </a:pPr>
            <a:endParaRPr lang="en-US" dirty="0"/>
          </a:p>
        </p:txBody>
      </p:sp>
      <p:sp>
        <p:nvSpPr>
          <p:cNvPr id="67" name="Shape 65"/>
          <p:cNvSpPr/>
          <p:nvPr/>
        </p:nvSpPr>
        <p:spPr>
          <a:xfrm>
            <a:off x="1902916" y="2705100"/>
            <a:ext cx="0" cy="266700"/>
          </a:xfrm>
          <a:prstGeom prst="line">
            <a:avLst/>
          </a:prstGeom>
          <a:noFill/>
          <a:ln w="19050">
            <a:solidFill>
              <a:srgbClr val="667EEA"/>
            </a:solidFill>
            <a:prstDash val="solid"/>
          </a:ln>
        </p:spPr>
      </p:sp>
      <p:sp>
        <p:nvSpPr>
          <p:cNvPr id="68" name="Text 66"/>
          <p:cNvSpPr/>
          <p:nvPr/>
        </p:nvSpPr>
        <p:spPr>
          <a:xfrm>
            <a:off x="418951" y="2781300"/>
            <a:ext cx="1400398" cy="114300"/>
          </a:xfrm>
          <a:prstGeom prst="rect">
            <a:avLst/>
          </a:prstGeom>
          <a:noFill/>
          <a:ln/>
        </p:spPr>
        <p:txBody>
          <a:bodyPr wrap="square" lIns="0" tIns="0" rIns="0" bIns="0" rtlCol="0" anchor="t"/>
          <a:lstStyle/>
          <a:p>
            <a:pPr algn="l" indent="0" marL="0">
              <a:buNone/>
            </a:pPr>
            <a:r>
              <a:rPr lang="en-US" sz="800" b="1" dirty="0">
                <a:solidFill>
                  <a:srgbClr val="1A1A2E"/>
                </a:solidFill>
                <a:latin typeface="Arial" pitchFamily="34" charset="0"/>
                <a:ea typeface="Arial" pitchFamily="34" charset="-122"/>
                <a:cs typeface="Arial" pitchFamily="34" charset="-120"/>
              </a:rPr>
              <a:t>Auto-Categorize</a:t>
            </a:r>
            <a:endParaRPr lang="en-US" sz="800" dirty="0"/>
          </a:p>
        </p:txBody>
      </p:sp>
      <p:sp>
        <p:nvSpPr>
          <p:cNvPr id="69" name="Text 67"/>
          <p:cNvSpPr/>
          <p:nvPr/>
        </p:nvSpPr>
        <p:spPr>
          <a:xfrm>
            <a:off x="2013942" y="2781300"/>
            <a:ext cx="1555998" cy="114300"/>
          </a:xfrm>
          <a:prstGeom prst="rect">
            <a:avLst/>
          </a:prstGeom>
          <a:noFill/>
          <a:ln/>
        </p:spPr>
        <p:txBody>
          <a:bodyPr wrap="square" lIns="0" tIns="0" rIns="0" bIns="0" rtlCol="0" anchor="t"/>
          <a:lstStyle/>
          <a:p>
            <a:pPr algn="l" indent="0" marL="0">
              <a:buNone/>
            </a:pPr>
            <a:r>
              <a:rPr lang="en-US" sz="800" b="1" dirty="0">
                <a:solidFill>
                  <a:srgbClr val="2E7D32"/>
                </a:solidFill>
                <a:latin typeface="Arial" pitchFamily="34" charset="0"/>
                <a:ea typeface="Arial" pitchFamily="34" charset="-122"/>
                <a:cs typeface="Arial" pitchFamily="34" charset="-120"/>
              </a:rPr>
              <a:t>Yes</a:t>
            </a:r>
            <a:endParaRPr lang="en-US" sz="800" dirty="0"/>
          </a:p>
        </p:txBody>
      </p:sp>
      <p:sp>
        <p:nvSpPr>
          <p:cNvPr id="70" name="Text 68"/>
          <p:cNvSpPr/>
          <p:nvPr/>
        </p:nvSpPr>
        <p:spPr>
          <a:xfrm>
            <a:off x="3742432" y="2781300"/>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71" name="Text 69"/>
          <p:cNvSpPr/>
          <p:nvPr/>
        </p:nvSpPr>
        <p:spPr>
          <a:xfrm>
            <a:off x="5470922" y="2781300"/>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72" name="Text 70"/>
          <p:cNvSpPr/>
          <p:nvPr/>
        </p:nvSpPr>
        <p:spPr>
          <a:xfrm>
            <a:off x="7199412" y="2781300"/>
            <a:ext cx="1555998" cy="114300"/>
          </a:xfrm>
          <a:prstGeom prst="rect">
            <a:avLst/>
          </a:prstGeom>
          <a:noFill/>
          <a:ln/>
        </p:spPr>
        <p:txBody>
          <a:bodyPr wrap="square" lIns="0" tIns="0" rIns="0" bIns="0" rtlCol="0" anchor="t"/>
          <a:lstStyle/>
          <a:p>
            <a:pPr algn="l" indent="0" marL="0">
              <a:buNone/>
            </a:pPr>
            <a:r>
              <a:rPr lang="en-US" sz="800" dirty="0">
                <a:solidFill>
                  <a:srgbClr val="F0A500"/>
                </a:solidFill>
                <a:latin typeface="Arial" pitchFamily="34" charset="0"/>
                <a:ea typeface="Arial" pitchFamily="34" charset="-122"/>
                <a:cs typeface="Arial" pitchFamily="34" charset="-120"/>
              </a:rPr>
              <a:t>Manual</a:t>
            </a:r>
            <a:endParaRPr lang="en-US" sz="800" dirty="0"/>
          </a:p>
        </p:txBody>
      </p:sp>
      <p:sp>
        <p:nvSpPr>
          <p:cNvPr id="73" name="Text 71"/>
          <p:cNvSpPr/>
          <p:nvPr/>
        </p:nvSpPr>
        <p:spPr>
          <a:xfrm>
            <a:off x="317450" y="2981325"/>
            <a:ext cx="8509099" cy="276225"/>
          </a:xfrm>
          <a:prstGeom prst="rect">
            <a:avLst/>
          </a:prstGeom>
          <a:solidFill>
            <a:srgbClr val="FAFBFF"/>
          </a:solidFill>
          <a:ln/>
        </p:spPr>
        <p:txBody>
          <a:bodyPr wrap="square" rtlCol="0" anchor="ctr"/>
          <a:lstStyle/>
          <a:p>
            <a:pPr indent="0" marL="0">
              <a:buNone/>
            </a:pPr>
            <a:endParaRPr lang="en-US" dirty="0"/>
          </a:p>
        </p:txBody>
      </p:sp>
      <p:sp>
        <p:nvSpPr>
          <p:cNvPr id="74" name="Shape 72"/>
          <p:cNvSpPr/>
          <p:nvPr/>
        </p:nvSpPr>
        <p:spPr>
          <a:xfrm>
            <a:off x="317450" y="3252788"/>
            <a:ext cx="8509099" cy="0"/>
          </a:xfrm>
          <a:prstGeom prst="line">
            <a:avLst/>
          </a:prstGeom>
          <a:noFill/>
          <a:ln w="9525">
            <a:solidFill>
              <a:srgbClr val="E0E5F0"/>
            </a:solidFill>
            <a:prstDash val="solid"/>
          </a:ln>
        </p:spPr>
      </p:sp>
      <p:sp>
        <p:nvSpPr>
          <p:cNvPr id="75" name="Text 73"/>
          <p:cNvSpPr/>
          <p:nvPr/>
        </p:nvSpPr>
        <p:spPr>
          <a:xfrm>
            <a:off x="317450" y="2981325"/>
            <a:ext cx="1594991" cy="266700"/>
          </a:xfrm>
          <a:prstGeom prst="rect">
            <a:avLst/>
          </a:prstGeom>
          <a:solidFill>
            <a:srgbClr val="F0F4FF"/>
          </a:solidFill>
          <a:ln/>
        </p:spPr>
        <p:txBody>
          <a:bodyPr wrap="square" rtlCol="0" anchor="ctr"/>
          <a:lstStyle/>
          <a:p>
            <a:pPr indent="0" marL="0">
              <a:buNone/>
            </a:pPr>
            <a:endParaRPr lang="en-US" dirty="0"/>
          </a:p>
        </p:txBody>
      </p:sp>
      <p:sp>
        <p:nvSpPr>
          <p:cNvPr id="76" name="Shape 74"/>
          <p:cNvSpPr/>
          <p:nvPr/>
        </p:nvSpPr>
        <p:spPr>
          <a:xfrm>
            <a:off x="1902916" y="2981325"/>
            <a:ext cx="0" cy="266700"/>
          </a:xfrm>
          <a:prstGeom prst="line">
            <a:avLst/>
          </a:prstGeom>
          <a:noFill/>
          <a:ln w="19050">
            <a:solidFill>
              <a:srgbClr val="667EEA"/>
            </a:solidFill>
            <a:prstDash val="solid"/>
          </a:ln>
        </p:spPr>
      </p:sp>
      <p:sp>
        <p:nvSpPr>
          <p:cNvPr id="77" name="Text 75"/>
          <p:cNvSpPr/>
          <p:nvPr/>
        </p:nvSpPr>
        <p:spPr>
          <a:xfrm>
            <a:off x="418951" y="3057525"/>
            <a:ext cx="1400398" cy="114300"/>
          </a:xfrm>
          <a:prstGeom prst="rect">
            <a:avLst/>
          </a:prstGeom>
          <a:noFill/>
          <a:ln/>
        </p:spPr>
        <p:txBody>
          <a:bodyPr wrap="square" lIns="0" tIns="0" rIns="0" bIns="0" rtlCol="0" anchor="t"/>
          <a:lstStyle/>
          <a:p>
            <a:pPr algn="l" indent="0" marL="0">
              <a:buNone/>
            </a:pPr>
            <a:r>
              <a:rPr lang="en-US" sz="800" b="1" dirty="0">
                <a:solidFill>
                  <a:srgbClr val="1A1A2E"/>
                </a:solidFill>
                <a:latin typeface="Arial" pitchFamily="34" charset="0"/>
                <a:ea typeface="Arial" pitchFamily="34" charset="-122"/>
                <a:cs typeface="Arial" pitchFamily="34" charset="-120"/>
              </a:rPr>
              <a:t>Global Search</a:t>
            </a:r>
            <a:endParaRPr lang="en-US" sz="800" dirty="0"/>
          </a:p>
        </p:txBody>
      </p:sp>
      <p:sp>
        <p:nvSpPr>
          <p:cNvPr id="78" name="Text 76"/>
          <p:cNvSpPr/>
          <p:nvPr/>
        </p:nvSpPr>
        <p:spPr>
          <a:xfrm>
            <a:off x="2013942" y="3057525"/>
            <a:ext cx="1555998" cy="114300"/>
          </a:xfrm>
          <a:prstGeom prst="rect">
            <a:avLst/>
          </a:prstGeom>
          <a:noFill/>
          <a:ln/>
        </p:spPr>
        <p:txBody>
          <a:bodyPr wrap="square" lIns="0" tIns="0" rIns="0" bIns="0" rtlCol="0" anchor="t"/>
          <a:lstStyle/>
          <a:p>
            <a:pPr algn="l" indent="0" marL="0">
              <a:buNone/>
            </a:pPr>
            <a:r>
              <a:rPr lang="en-US" sz="800" b="1" dirty="0">
                <a:solidFill>
                  <a:srgbClr val="2E7D32"/>
                </a:solidFill>
                <a:latin typeface="Arial" pitchFamily="34" charset="0"/>
                <a:ea typeface="Arial" pitchFamily="34" charset="-122"/>
                <a:cs typeface="Arial" pitchFamily="34" charset="-120"/>
              </a:rPr>
              <a:t>Cross-project</a:t>
            </a:r>
            <a:endParaRPr lang="en-US" sz="800" dirty="0"/>
          </a:p>
        </p:txBody>
      </p:sp>
      <p:sp>
        <p:nvSpPr>
          <p:cNvPr id="79" name="Text 77"/>
          <p:cNvSpPr/>
          <p:nvPr/>
        </p:nvSpPr>
        <p:spPr>
          <a:xfrm>
            <a:off x="3742432" y="3057525"/>
            <a:ext cx="1555998" cy="114300"/>
          </a:xfrm>
          <a:prstGeom prst="rect">
            <a:avLst/>
          </a:prstGeom>
          <a:noFill/>
          <a:ln/>
        </p:spPr>
        <p:txBody>
          <a:bodyPr wrap="square" lIns="0" tIns="0" rIns="0" bIns="0" rtlCol="0" anchor="t"/>
          <a:lstStyle/>
          <a:p>
            <a:pPr algn="l" indent="0" marL="0">
              <a:buNone/>
            </a:pPr>
            <a:r>
              <a:rPr lang="en-US" sz="800" dirty="0">
                <a:solidFill>
                  <a:srgbClr val="F0A500"/>
                </a:solidFill>
                <a:latin typeface="Arial" pitchFamily="34" charset="0"/>
                <a:ea typeface="Arial" pitchFamily="34" charset="-122"/>
                <a:cs typeface="Arial" pitchFamily="34" charset="-120"/>
              </a:rPr>
              <a:t>Per-project</a:t>
            </a:r>
            <a:endParaRPr lang="en-US" sz="800" dirty="0"/>
          </a:p>
        </p:txBody>
      </p:sp>
      <p:sp>
        <p:nvSpPr>
          <p:cNvPr id="80" name="Text 78"/>
          <p:cNvSpPr/>
          <p:nvPr/>
        </p:nvSpPr>
        <p:spPr>
          <a:xfrm>
            <a:off x="5470922" y="3057525"/>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81" name="Text 79"/>
          <p:cNvSpPr/>
          <p:nvPr/>
        </p:nvSpPr>
        <p:spPr>
          <a:xfrm>
            <a:off x="7199412" y="3057525"/>
            <a:ext cx="1555998" cy="114300"/>
          </a:xfrm>
          <a:prstGeom prst="rect">
            <a:avLst/>
          </a:prstGeom>
          <a:noFill/>
          <a:ln/>
        </p:spPr>
        <p:txBody>
          <a:bodyPr wrap="square" lIns="0" tIns="0" rIns="0" bIns="0" rtlCol="0" anchor="t"/>
          <a:lstStyle/>
          <a:p>
            <a:pPr algn="l" indent="0" marL="0">
              <a:buNone/>
            </a:pPr>
            <a:r>
              <a:rPr lang="en-US" sz="800" dirty="0">
                <a:solidFill>
                  <a:srgbClr val="C62828"/>
                </a:solidFill>
                <a:latin typeface="Arial" pitchFamily="34" charset="0"/>
                <a:ea typeface="Arial" pitchFamily="34" charset="-122"/>
                <a:cs typeface="Arial" pitchFamily="34" charset="-120"/>
              </a:rPr>
              <a:t>No</a:t>
            </a:r>
            <a:endParaRPr lang="en-US" sz="800" dirty="0"/>
          </a:p>
        </p:txBody>
      </p:sp>
      <p:sp>
        <p:nvSpPr>
          <p:cNvPr id="82" name="Text 80"/>
          <p:cNvSpPr/>
          <p:nvPr/>
        </p:nvSpPr>
        <p:spPr>
          <a:xfrm>
            <a:off x="317450" y="3384500"/>
            <a:ext cx="8509099" cy="329952"/>
          </a:xfrm>
          <a:prstGeom prst="roundRect">
            <a:avLst>
              <a:gd name="adj" fmla="val 15396"/>
            </a:avLst>
          </a:prstGeom>
          <a:solidFill>
            <a:srgbClr val="FAFBFF"/>
          </a:solidFill>
          <a:ln/>
        </p:spPr>
        <p:txBody>
          <a:bodyPr wrap="square" rtlCol="0" anchor="ctr"/>
          <a:lstStyle/>
          <a:p>
            <a:pPr indent="0" marL="0">
              <a:buNone/>
            </a:pPr>
            <a:endParaRPr lang="en-US" dirty="0"/>
          </a:p>
        </p:txBody>
      </p:sp>
      <p:sp>
        <p:nvSpPr>
          <p:cNvPr id="83" name="Text 81"/>
          <p:cNvSpPr/>
          <p:nvPr/>
        </p:nvSpPr>
        <p:spPr>
          <a:xfrm>
            <a:off x="469850" y="3486001"/>
            <a:ext cx="126950" cy="126950"/>
          </a:xfrm>
          <a:prstGeom prst="roundRect">
            <a:avLst>
              <a:gd name="adj" fmla="val 720284"/>
            </a:avLst>
          </a:prstGeom>
          <a:solidFill>
            <a:srgbClr val="2E7D32"/>
          </a:solidFill>
          <a:ln/>
        </p:spPr>
        <p:txBody>
          <a:bodyPr wrap="square" rtlCol="0" anchor="ctr"/>
          <a:lstStyle/>
          <a:p>
            <a:pPr indent="0" marL="0">
              <a:buNone/>
            </a:pPr>
            <a:endParaRPr lang="en-US" dirty="0"/>
          </a:p>
        </p:txBody>
      </p:sp>
      <p:sp>
        <p:nvSpPr>
          <p:cNvPr id="84" name="Text 82"/>
          <p:cNvSpPr/>
          <p:nvPr/>
        </p:nvSpPr>
        <p:spPr>
          <a:xfrm>
            <a:off x="660202" y="3492252"/>
            <a:ext cx="541184" cy="114300"/>
          </a:xfrm>
          <a:prstGeom prst="rect">
            <a:avLst/>
          </a:prstGeom>
          <a:noFill/>
          <a:ln/>
        </p:spPr>
        <p:txBody>
          <a:bodyPr wrap="square" lIns="0" tIns="0" rIns="0" bIns="0" rtlCol="0" anchor="t"/>
          <a:lstStyle/>
          <a:p>
            <a:pPr algn="l" indent="0" marL="0">
              <a:buNone/>
            </a:pPr>
            <a:r>
              <a:rPr lang="en-US" sz="800" dirty="0">
                <a:solidFill>
                  <a:srgbClr val="666666"/>
                </a:solidFill>
                <a:latin typeface="Arial" pitchFamily="34" charset="0"/>
                <a:ea typeface="Arial" pitchFamily="34" charset="-122"/>
                <a:cs typeface="Arial" pitchFamily="34" charset="-120"/>
              </a:rPr>
              <a:t>Full support</a:t>
            </a:r>
            <a:endParaRPr lang="en-US" sz="800" dirty="0"/>
          </a:p>
        </p:txBody>
      </p:sp>
      <p:sp>
        <p:nvSpPr>
          <p:cNvPr id="85" name="Text 83"/>
          <p:cNvSpPr/>
          <p:nvPr/>
        </p:nvSpPr>
        <p:spPr>
          <a:xfrm>
            <a:off x="1444675" y="3486001"/>
            <a:ext cx="126950" cy="126950"/>
          </a:xfrm>
          <a:prstGeom prst="roundRect">
            <a:avLst>
              <a:gd name="adj" fmla="val 720284"/>
            </a:avLst>
          </a:prstGeom>
          <a:solidFill>
            <a:srgbClr val="F0A500"/>
          </a:solidFill>
          <a:ln/>
        </p:spPr>
        <p:txBody>
          <a:bodyPr wrap="square" rtlCol="0" anchor="ctr"/>
          <a:lstStyle/>
          <a:p>
            <a:pPr indent="0" marL="0">
              <a:buNone/>
            </a:pPr>
            <a:endParaRPr lang="en-US" dirty="0"/>
          </a:p>
        </p:txBody>
      </p:sp>
      <p:sp>
        <p:nvSpPr>
          <p:cNvPr id="86" name="Text 84"/>
          <p:cNvSpPr/>
          <p:nvPr/>
        </p:nvSpPr>
        <p:spPr>
          <a:xfrm>
            <a:off x="1635026" y="3492252"/>
            <a:ext cx="656252" cy="114300"/>
          </a:xfrm>
          <a:prstGeom prst="rect">
            <a:avLst/>
          </a:prstGeom>
          <a:noFill/>
          <a:ln/>
        </p:spPr>
        <p:txBody>
          <a:bodyPr wrap="square" lIns="0" tIns="0" rIns="0" bIns="0" rtlCol="0" anchor="t"/>
          <a:lstStyle/>
          <a:p>
            <a:pPr algn="l" indent="0" marL="0">
              <a:buNone/>
            </a:pPr>
            <a:r>
              <a:rPr lang="en-US" sz="800" dirty="0">
                <a:solidFill>
                  <a:srgbClr val="666666"/>
                </a:solidFill>
                <a:latin typeface="Arial" pitchFamily="34" charset="0"/>
                <a:ea typeface="Arial" pitchFamily="34" charset="-122"/>
                <a:cs typeface="Arial" pitchFamily="34" charset="-120"/>
              </a:rPr>
              <a:t>Partial/Limited</a:t>
            </a:r>
            <a:endParaRPr lang="en-US" sz="800" dirty="0"/>
          </a:p>
        </p:txBody>
      </p:sp>
      <p:sp>
        <p:nvSpPr>
          <p:cNvPr id="87" name="Text 85"/>
          <p:cNvSpPr/>
          <p:nvPr/>
        </p:nvSpPr>
        <p:spPr>
          <a:xfrm>
            <a:off x="2532311" y="3486001"/>
            <a:ext cx="126950" cy="126950"/>
          </a:xfrm>
          <a:prstGeom prst="roundRect">
            <a:avLst>
              <a:gd name="adj" fmla="val 720284"/>
            </a:avLst>
          </a:prstGeom>
          <a:solidFill>
            <a:srgbClr val="C62828"/>
          </a:solidFill>
          <a:ln/>
        </p:spPr>
        <p:txBody>
          <a:bodyPr wrap="square" rtlCol="0" anchor="ctr"/>
          <a:lstStyle/>
          <a:p>
            <a:pPr indent="0" marL="0">
              <a:buNone/>
            </a:pPr>
            <a:endParaRPr lang="en-US" dirty="0"/>
          </a:p>
        </p:txBody>
      </p:sp>
      <p:sp>
        <p:nvSpPr>
          <p:cNvPr id="88" name="Text 86"/>
          <p:cNvSpPr/>
          <p:nvPr/>
        </p:nvSpPr>
        <p:spPr>
          <a:xfrm>
            <a:off x="2722662" y="3492252"/>
            <a:ext cx="598869" cy="114300"/>
          </a:xfrm>
          <a:prstGeom prst="rect">
            <a:avLst/>
          </a:prstGeom>
          <a:noFill/>
          <a:ln/>
        </p:spPr>
        <p:txBody>
          <a:bodyPr wrap="square" lIns="0" tIns="0" rIns="0" bIns="0" rtlCol="0" anchor="t"/>
          <a:lstStyle/>
          <a:p>
            <a:pPr algn="l" indent="0" marL="0">
              <a:buNone/>
            </a:pPr>
            <a:r>
              <a:rPr lang="en-US" sz="800" dirty="0">
                <a:solidFill>
                  <a:srgbClr val="666666"/>
                </a:solidFill>
                <a:latin typeface="Arial" pitchFamily="34" charset="0"/>
                <a:ea typeface="Arial" pitchFamily="34" charset="-122"/>
                <a:cs typeface="Arial" pitchFamily="34" charset="-120"/>
              </a:rPr>
              <a:t>Not available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9651"/>
          </a:xfrm>
          <a:prstGeom prst="rect">
            <a:avLst/>
          </a:prstGeom>
          <a:solidFill>
            <a:srgbClr val="F0F4FF"/>
          </a:solidFill>
          <a:ln/>
        </p:spPr>
        <p:txBody>
          <a:bodyPr wrap="square" rtlCol="0" anchor="ctr"/>
          <a:lstStyle/>
          <a:p>
            <a:pPr indent="0" marL="0">
              <a:buNone/>
            </a:pPr>
            <a:endParaRPr lang="en-US" dirty="0"/>
          </a:p>
        </p:txBody>
      </p:sp>
      <p:sp>
        <p:nvSpPr>
          <p:cNvPr id="3" name="Shape 1"/>
          <p:cNvSpPr/>
          <p:nvPr/>
        </p:nvSpPr>
        <p:spPr>
          <a:xfrm>
            <a:off x="0" y="530126"/>
            <a:ext cx="9144000" cy="0"/>
          </a:xfrm>
          <a:prstGeom prst="line">
            <a:avLst/>
          </a:prstGeom>
          <a:noFill/>
          <a:ln w="19050">
            <a:solidFill>
              <a:srgbClr val="667EEA"/>
            </a:solidFill>
            <a:prstDash val="solid"/>
          </a:ln>
        </p:spPr>
      </p:sp>
      <p:sp>
        <p:nvSpPr>
          <p:cNvPr id="4" name="Text 2"/>
          <p:cNvSpPr/>
          <p:nvPr/>
        </p:nvSpPr>
        <p:spPr>
          <a:xfrm>
            <a:off x="317450" y="126950"/>
            <a:ext cx="8679281" cy="266700"/>
          </a:xfrm>
          <a:prstGeom prst="rect">
            <a:avLst/>
          </a:prstGeom>
          <a:noFill/>
          <a:ln/>
        </p:spPr>
        <p:txBody>
          <a:bodyPr wrap="square" lIns="0" tIns="0" rIns="0" bIns="0" rtlCol="0" anchor="t"/>
          <a:lstStyle/>
          <a:p>
            <a:pPr algn="l" indent="0" marL="0">
              <a:buNone/>
            </a:pPr>
            <a:r>
              <a:rPr lang="en-US" sz="1800" b="1" dirty="0">
                <a:solidFill>
                  <a:srgbClr val="1A1A2E"/>
                </a:solidFill>
                <a:latin typeface="Arial" pitchFamily="34" charset="0"/>
                <a:ea typeface="Arial" pitchFamily="34" charset="-122"/>
                <a:cs typeface="Arial" pitchFamily="34" charset="-120"/>
              </a:rPr>
              <a:t>Performance Benchmarks (Estimated)</a:t>
            </a:r>
            <a:endParaRPr lang="en-US" sz="1800" dirty="0"/>
          </a:p>
        </p:txBody>
      </p:sp>
      <p:sp>
        <p:nvSpPr>
          <p:cNvPr id="5" name="Text 3"/>
          <p:cNvSpPr/>
          <p:nvPr/>
        </p:nvSpPr>
        <p:spPr>
          <a:xfrm>
            <a:off x="317450" y="641152"/>
            <a:ext cx="5431929" cy="1129605"/>
          </a:xfrm>
          <a:prstGeom prst="roundRect">
            <a:avLst>
              <a:gd name="adj" fmla="val 6746"/>
            </a:avLst>
          </a:prstGeom>
          <a:solidFill>
            <a:srgbClr val="FAFBFF"/>
          </a:solidFill>
          <a:ln w="9525">
            <a:solidFill>
              <a:srgbClr val="E0E5F0"/>
            </a:solidFill>
          </a:ln>
        </p:spPr>
        <p:txBody>
          <a:bodyPr wrap="square" rtlCol="0" anchor="ctr"/>
          <a:lstStyle/>
          <a:p>
            <a:pPr indent="0" marL="0">
              <a:buNone/>
            </a:pPr>
            <a:endParaRPr lang="en-US" dirty="0"/>
          </a:p>
        </p:txBody>
      </p:sp>
      <p:sp>
        <p:nvSpPr>
          <p:cNvPr id="6" name="Text 4"/>
          <p:cNvSpPr/>
          <p:nvPr/>
        </p:nvSpPr>
        <p:spPr>
          <a:xfrm>
            <a:off x="428476" y="753666"/>
            <a:ext cx="1583323" cy="142875"/>
          </a:xfrm>
          <a:prstGeom prst="rect">
            <a:avLst/>
          </a:prstGeom>
          <a:noFill/>
          <a:ln/>
        </p:spPr>
        <p:txBody>
          <a:bodyPr wrap="square" lIns="0" tIns="0" rIns="0" bIns="0" rtlCol="0" anchor="t"/>
          <a:lstStyle/>
          <a:p>
            <a:pPr algn="l" indent="0" marL="0">
              <a:buNone/>
            </a:pPr>
            <a:r>
              <a:rPr lang="en-US" sz="1000" b="1" dirty="0">
                <a:solidFill>
                  <a:srgbClr val="1A1A2E"/>
                </a:solidFill>
                <a:latin typeface="Arial" pitchFamily="34" charset="0"/>
                <a:ea typeface="Arial" pitchFamily="34" charset="-122"/>
                <a:cs typeface="Arial" pitchFamily="34" charset="-120"/>
              </a:rPr>
              <a:t>Memory Create Operation</a:t>
            </a:r>
            <a:endParaRPr lang="en-US" sz="1000" dirty="0"/>
          </a:p>
        </p:txBody>
      </p:sp>
      <p:sp>
        <p:nvSpPr>
          <p:cNvPr id="7" name="Text 5"/>
          <p:cNvSpPr/>
          <p:nvPr/>
        </p:nvSpPr>
        <p:spPr>
          <a:xfrm>
            <a:off x="5145137" y="752177"/>
            <a:ext cx="493216" cy="145852"/>
          </a:xfrm>
          <a:prstGeom prst="roundRect">
            <a:avLst>
              <a:gd name="adj" fmla="val 69660"/>
            </a:avLst>
          </a:prstGeom>
          <a:solidFill>
            <a:srgbClr val="E8F5E9"/>
          </a:solidFill>
          <a:ln/>
        </p:spPr>
        <p:txBody>
          <a:bodyPr wrap="square" rtlCol="0" anchor="ctr"/>
          <a:lstStyle/>
          <a:p>
            <a:pPr indent="0" marL="0">
              <a:buNone/>
            </a:pPr>
            <a:endParaRPr lang="en-US" dirty="0"/>
          </a:p>
        </p:txBody>
      </p:sp>
      <p:sp>
        <p:nvSpPr>
          <p:cNvPr id="8" name="Text 6"/>
          <p:cNvSpPr/>
          <p:nvPr/>
        </p:nvSpPr>
        <p:spPr>
          <a:xfrm>
            <a:off x="5221337" y="777478"/>
            <a:ext cx="347633" cy="95250"/>
          </a:xfrm>
          <a:prstGeom prst="rect">
            <a:avLst/>
          </a:prstGeom>
          <a:noFill/>
          <a:ln/>
        </p:spPr>
        <p:txBody>
          <a:bodyPr wrap="square" lIns="0" tIns="0" rIns="0" bIns="0" rtlCol="0" anchor="t"/>
          <a:lstStyle/>
          <a:p>
            <a:pPr algn="l" indent="0" marL="0">
              <a:buNone/>
            </a:pPr>
            <a:r>
              <a:rPr lang="en-US" sz="700" dirty="0">
                <a:solidFill>
                  <a:srgbClr val="2E7D32"/>
                </a:solidFill>
                <a:latin typeface="Arial" pitchFamily="34" charset="0"/>
                <a:ea typeface="Arial" pitchFamily="34" charset="-122"/>
                <a:cs typeface="Arial" pitchFamily="34" charset="-120"/>
              </a:rPr>
              <a:t>3x faster</a:t>
            </a:r>
            <a:endParaRPr lang="en-US" sz="700" dirty="0"/>
          </a:p>
        </p:txBody>
      </p:sp>
      <p:sp>
        <p:nvSpPr>
          <p:cNvPr id="9" name="Text 7"/>
          <p:cNvSpPr/>
          <p:nvPr/>
        </p:nvSpPr>
        <p:spPr>
          <a:xfrm>
            <a:off x="428476" y="974229"/>
            <a:ext cx="1001456" cy="114300"/>
          </a:xfrm>
          <a:prstGeom prst="rect">
            <a:avLst/>
          </a:prstGeom>
          <a:noFill/>
          <a:ln/>
        </p:spPr>
        <p:txBody>
          <a:bodyPr wrap="square" lIns="0" tIns="0" rIns="0" bIns="0" rtlCol="0" anchor="t"/>
          <a:lstStyle/>
          <a:p>
            <a:pPr algn="l" indent="0" marL="0">
              <a:buNone/>
            </a:pPr>
            <a:r>
              <a:rPr lang="en-US" sz="800" dirty="0">
                <a:solidFill>
                  <a:srgbClr val="666666"/>
                </a:solidFill>
                <a:latin typeface="Arial" pitchFamily="34" charset="0"/>
                <a:ea typeface="Arial" pitchFamily="34" charset="-122"/>
                <a:cs typeface="Arial" pitchFamily="34" charset="-120"/>
              </a:rPr>
              <a:t>Omni-Cortex (SQLite)</a:t>
            </a:r>
            <a:endParaRPr lang="en-US" sz="800" dirty="0"/>
          </a:p>
        </p:txBody>
      </p:sp>
      <p:sp>
        <p:nvSpPr>
          <p:cNvPr id="10" name="Text 8"/>
          <p:cNvSpPr/>
          <p:nvPr/>
        </p:nvSpPr>
        <p:spPr>
          <a:xfrm>
            <a:off x="5375821" y="974229"/>
            <a:ext cx="267783" cy="114300"/>
          </a:xfrm>
          <a:prstGeom prst="rect">
            <a:avLst/>
          </a:prstGeom>
          <a:noFill/>
          <a:ln/>
        </p:spPr>
        <p:txBody>
          <a:bodyPr wrap="square" lIns="0" tIns="0" rIns="0" bIns="0" rtlCol="0" anchor="t"/>
          <a:lstStyle/>
          <a:p>
            <a:pPr algn="l" indent="0" marL="0">
              <a:buNone/>
            </a:pPr>
            <a:r>
              <a:rPr lang="en-US" sz="800" b="1" dirty="0">
                <a:solidFill>
                  <a:srgbClr val="333333"/>
                </a:solidFill>
                <a:latin typeface="Arial" pitchFamily="34" charset="0"/>
                <a:ea typeface="Arial" pitchFamily="34" charset="-122"/>
                <a:cs typeface="Arial" pitchFamily="34" charset="-120"/>
              </a:rPr>
              <a:t>~5ms</a:t>
            </a:r>
            <a:endParaRPr lang="en-US" sz="800" dirty="0"/>
          </a:p>
        </p:txBody>
      </p:sp>
      <p:sp>
        <p:nvSpPr>
          <p:cNvPr id="11" name="Text 9"/>
          <p:cNvSpPr/>
          <p:nvPr/>
        </p:nvSpPr>
        <p:spPr>
          <a:xfrm>
            <a:off x="428476" y="1113830"/>
            <a:ext cx="5209877"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12" name="Text 10"/>
          <p:cNvSpPr/>
          <p:nvPr/>
        </p:nvSpPr>
        <p:spPr>
          <a:xfrm>
            <a:off x="428476" y="1113830"/>
            <a:ext cx="1302395" cy="152400"/>
          </a:xfrm>
          <a:prstGeom prst="roundRect">
            <a:avLst>
              <a:gd name="adj" fmla="val 50000"/>
            </a:avLst>
          </a:prstGeom>
          <a:solidFill>
            <a:srgbClr val="667EEA"/>
          </a:solidFill>
          <a:ln/>
        </p:spPr>
        <p:txBody>
          <a:bodyPr wrap="square" rtlCol="0" anchor="ctr"/>
          <a:lstStyle/>
          <a:p>
            <a:pPr indent="0" marL="0">
              <a:buNone/>
            </a:pPr>
            <a:endParaRPr lang="en-US" dirty="0"/>
          </a:p>
        </p:txBody>
      </p:sp>
      <p:sp>
        <p:nvSpPr>
          <p:cNvPr id="13" name="Text 11"/>
          <p:cNvSpPr/>
          <p:nvPr/>
        </p:nvSpPr>
        <p:spPr>
          <a:xfrm>
            <a:off x="428476" y="1316980"/>
            <a:ext cx="1237208" cy="114300"/>
          </a:xfrm>
          <a:prstGeom prst="rect">
            <a:avLst/>
          </a:prstGeom>
          <a:noFill/>
          <a:ln/>
        </p:spPr>
        <p:txBody>
          <a:bodyPr wrap="square" lIns="0" tIns="0" rIns="0" bIns="0" rtlCol="0" anchor="t"/>
          <a:lstStyle/>
          <a:p>
            <a:pPr algn="l" indent="0" marL="0">
              <a:buNone/>
            </a:pPr>
            <a:r>
              <a:rPr lang="en-US" sz="800" dirty="0">
                <a:solidFill>
                  <a:srgbClr val="666666"/>
                </a:solidFill>
                <a:latin typeface="Arial" pitchFamily="34" charset="0"/>
                <a:ea typeface="Arial" pitchFamily="34" charset="-122"/>
                <a:cs typeface="Arial" pitchFamily="34" charset="-120"/>
              </a:rPr>
              <a:t>memory-bank-mcp (JSON)</a:t>
            </a:r>
            <a:endParaRPr lang="en-US" sz="800" dirty="0"/>
          </a:p>
        </p:txBody>
      </p:sp>
      <p:sp>
        <p:nvSpPr>
          <p:cNvPr id="14" name="Text 12"/>
          <p:cNvSpPr/>
          <p:nvPr/>
        </p:nvSpPr>
        <p:spPr>
          <a:xfrm>
            <a:off x="5319266" y="1316980"/>
            <a:ext cx="325469" cy="114300"/>
          </a:xfrm>
          <a:prstGeom prst="rect">
            <a:avLst/>
          </a:prstGeom>
          <a:noFill/>
          <a:ln/>
        </p:spPr>
        <p:txBody>
          <a:bodyPr wrap="square" lIns="0" tIns="0" rIns="0" bIns="0" rtlCol="0" anchor="t"/>
          <a:lstStyle/>
          <a:p>
            <a:pPr algn="l" indent="0" marL="0">
              <a:buNone/>
            </a:pPr>
            <a:r>
              <a:rPr lang="en-US" sz="800" b="1" dirty="0">
                <a:solidFill>
                  <a:srgbClr val="333333"/>
                </a:solidFill>
                <a:latin typeface="Arial" pitchFamily="34" charset="0"/>
                <a:ea typeface="Arial" pitchFamily="34" charset="-122"/>
                <a:cs typeface="Arial" pitchFamily="34" charset="-120"/>
              </a:rPr>
              <a:t>~15ms</a:t>
            </a:r>
            <a:endParaRPr lang="en-US" sz="800" dirty="0"/>
          </a:p>
        </p:txBody>
      </p:sp>
      <p:sp>
        <p:nvSpPr>
          <p:cNvPr id="15" name="Text 13"/>
          <p:cNvSpPr/>
          <p:nvPr/>
        </p:nvSpPr>
        <p:spPr>
          <a:xfrm>
            <a:off x="428476" y="1456581"/>
            <a:ext cx="5209877"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16" name="Text 14"/>
          <p:cNvSpPr/>
          <p:nvPr/>
        </p:nvSpPr>
        <p:spPr>
          <a:xfrm>
            <a:off x="428476" y="1456581"/>
            <a:ext cx="3907334" cy="152400"/>
          </a:xfrm>
          <a:prstGeom prst="roundRect">
            <a:avLst>
              <a:gd name="adj" fmla="val 50000"/>
            </a:avLst>
          </a:prstGeom>
          <a:solidFill>
            <a:srgbClr val="F0A500"/>
          </a:solidFill>
          <a:ln/>
        </p:spPr>
        <p:txBody>
          <a:bodyPr wrap="square" rtlCol="0" anchor="ctr"/>
          <a:lstStyle/>
          <a:p>
            <a:pPr indent="0" marL="0">
              <a:buNone/>
            </a:pPr>
            <a:endParaRPr lang="en-US" dirty="0"/>
          </a:p>
        </p:txBody>
      </p:sp>
      <p:sp>
        <p:nvSpPr>
          <p:cNvPr id="17" name="Text 15"/>
          <p:cNvSpPr/>
          <p:nvPr/>
        </p:nvSpPr>
        <p:spPr>
          <a:xfrm>
            <a:off x="317450" y="1846957"/>
            <a:ext cx="5431929" cy="1129605"/>
          </a:xfrm>
          <a:prstGeom prst="roundRect">
            <a:avLst>
              <a:gd name="adj" fmla="val 6746"/>
            </a:avLst>
          </a:prstGeom>
          <a:solidFill>
            <a:srgbClr val="FAFBFF"/>
          </a:solidFill>
          <a:ln w="9525">
            <a:solidFill>
              <a:srgbClr val="E0E5F0"/>
            </a:solidFill>
          </a:ln>
        </p:spPr>
        <p:txBody>
          <a:bodyPr wrap="square" rtlCol="0" anchor="ctr"/>
          <a:lstStyle/>
          <a:p>
            <a:pPr indent="0" marL="0">
              <a:buNone/>
            </a:pPr>
            <a:endParaRPr lang="en-US" dirty="0"/>
          </a:p>
        </p:txBody>
      </p:sp>
      <p:sp>
        <p:nvSpPr>
          <p:cNvPr id="18" name="Text 16"/>
          <p:cNvSpPr/>
          <p:nvPr/>
        </p:nvSpPr>
        <p:spPr>
          <a:xfrm>
            <a:off x="428476" y="1959471"/>
            <a:ext cx="1749245" cy="142875"/>
          </a:xfrm>
          <a:prstGeom prst="rect">
            <a:avLst/>
          </a:prstGeom>
          <a:noFill/>
          <a:ln/>
        </p:spPr>
        <p:txBody>
          <a:bodyPr wrap="square" lIns="0" tIns="0" rIns="0" bIns="0" rtlCol="0" anchor="t"/>
          <a:lstStyle/>
          <a:p>
            <a:pPr algn="l" indent="0" marL="0">
              <a:buNone/>
            </a:pPr>
            <a:r>
              <a:rPr lang="en-US" sz="1000" b="1" dirty="0">
                <a:solidFill>
                  <a:srgbClr val="1A1A2E"/>
                </a:solidFill>
                <a:latin typeface="Arial" pitchFamily="34" charset="0"/>
                <a:ea typeface="Arial" pitchFamily="34" charset="-122"/>
                <a:cs typeface="Arial" pitchFamily="34" charset="-120"/>
              </a:rPr>
              <a:t>Memory Search (1000 items)</a:t>
            </a:r>
            <a:endParaRPr lang="en-US" sz="1000" dirty="0"/>
          </a:p>
        </p:txBody>
      </p:sp>
      <p:sp>
        <p:nvSpPr>
          <p:cNvPr id="19" name="Text 17"/>
          <p:cNvSpPr/>
          <p:nvPr/>
        </p:nvSpPr>
        <p:spPr>
          <a:xfrm>
            <a:off x="5095577" y="1957983"/>
            <a:ext cx="542776" cy="145852"/>
          </a:xfrm>
          <a:prstGeom prst="roundRect">
            <a:avLst>
              <a:gd name="adj" fmla="val 69660"/>
            </a:avLst>
          </a:prstGeom>
          <a:solidFill>
            <a:srgbClr val="E8F5E9"/>
          </a:solidFill>
          <a:ln/>
        </p:spPr>
        <p:txBody>
          <a:bodyPr wrap="square" rtlCol="0" anchor="ctr"/>
          <a:lstStyle/>
          <a:p>
            <a:pPr indent="0" marL="0">
              <a:buNone/>
            </a:pPr>
            <a:endParaRPr lang="en-US" dirty="0"/>
          </a:p>
        </p:txBody>
      </p:sp>
      <p:sp>
        <p:nvSpPr>
          <p:cNvPr id="20" name="Text 18"/>
          <p:cNvSpPr/>
          <p:nvPr/>
        </p:nvSpPr>
        <p:spPr>
          <a:xfrm>
            <a:off x="5171777" y="1983284"/>
            <a:ext cx="398184" cy="95250"/>
          </a:xfrm>
          <a:prstGeom prst="rect">
            <a:avLst/>
          </a:prstGeom>
          <a:noFill/>
          <a:ln/>
        </p:spPr>
        <p:txBody>
          <a:bodyPr wrap="square" lIns="0" tIns="0" rIns="0" bIns="0" rtlCol="0" anchor="t"/>
          <a:lstStyle/>
          <a:p>
            <a:pPr algn="l" indent="0" marL="0">
              <a:buNone/>
            </a:pPr>
            <a:r>
              <a:rPr lang="en-US" sz="700" dirty="0">
                <a:solidFill>
                  <a:srgbClr val="2E7D32"/>
                </a:solidFill>
                <a:latin typeface="Arial" pitchFamily="34" charset="0"/>
                <a:ea typeface="Arial" pitchFamily="34" charset="-122"/>
                <a:cs typeface="Arial" pitchFamily="34" charset="-120"/>
              </a:rPr>
              <a:t>25x faster</a:t>
            </a:r>
            <a:endParaRPr lang="en-US" sz="700" dirty="0"/>
          </a:p>
        </p:txBody>
      </p:sp>
      <p:sp>
        <p:nvSpPr>
          <p:cNvPr id="21" name="Text 19"/>
          <p:cNvSpPr/>
          <p:nvPr/>
        </p:nvSpPr>
        <p:spPr>
          <a:xfrm>
            <a:off x="428476" y="2180034"/>
            <a:ext cx="938001" cy="114300"/>
          </a:xfrm>
          <a:prstGeom prst="rect">
            <a:avLst/>
          </a:prstGeom>
          <a:noFill/>
          <a:ln/>
        </p:spPr>
        <p:txBody>
          <a:bodyPr wrap="square" lIns="0" tIns="0" rIns="0" bIns="0" rtlCol="0" anchor="t"/>
          <a:lstStyle/>
          <a:p>
            <a:pPr algn="l" indent="0" marL="0">
              <a:buNone/>
            </a:pPr>
            <a:r>
              <a:rPr lang="en-US" sz="800" dirty="0">
                <a:solidFill>
                  <a:srgbClr val="666666"/>
                </a:solidFill>
                <a:latin typeface="Arial" pitchFamily="34" charset="0"/>
                <a:ea typeface="Arial" pitchFamily="34" charset="-122"/>
                <a:cs typeface="Arial" pitchFamily="34" charset="-120"/>
              </a:rPr>
              <a:t>Omni-Cortex (FTS5)</a:t>
            </a:r>
            <a:endParaRPr lang="en-US" sz="800" dirty="0"/>
          </a:p>
        </p:txBody>
      </p:sp>
      <p:sp>
        <p:nvSpPr>
          <p:cNvPr id="22" name="Text 20"/>
          <p:cNvSpPr/>
          <p:nvPr/>
        </p:nvSpPr>
        <p:spPr>
          <a:xfrm>
            <a:off x="5375821" y="2180034"/>
            <a:ext cx="267783" cy="114300"/>
          </a:xfrm>
          <a:prstGeom prst="rect">
            <a:avLst/>
          </a:prstGeom>
          <a:noFill/>
          <a:ln/>
        </p:spPr>
        <p:txBody>
          <a:bodyPr wrap="square" lIns="0" tIns="0" rIns="0" bIns="0" rtlCol="0" anchor="t"/>
          <a:lstStyle/>
          <a:p>
            <a:pPr algn="l" indent="0" marL="0">
              <a:buNone/>
            </a:pPr>
            <a:r>
              <a:rPr lang="en-US" sz="800" b="1" dirty="0">
                <a:solidFill>
                  <a:srgbClr val="333333"/>
                </a:solidFill>
                <a:latin typeface="Arial" pitchFamily="34" charset="0"/>
                <a:ea typeface="Arial" pitchFamily="34" charset="-122"/>
                <a:cs typeface="Arial" pitchFamily="34" charset="-120"/>
              </a:rPr>
              <a:t>~2ms</a:t>
            </a:r>
            <a:endParaRPr lang="en-US" sz="800" dirty="0"/>
          </a:p>
        </p:txBody>
      </p:sp>
      <p:sp>
        <p:nvSpPr>
          <p:cNvPr id="23" name="Text 21"/>
          <p:cNvSpPr/>
          <p:nvPr/>
        </p:nvSpPr>
        <p:spPr>
          <a:xfrm>
            <a:off x="428476" y="2319635"/>
            <a:ext cx="5209877"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24" name="Text 22"/>
          <p:cNvSpPr/>
          <p:nvPr/>
        </p:nvSpPr>
        <p:spPr>
          <a:xfrm>
            <a:off x="428476" y="2319635"/>
            <a:ext cx="208359" cy="152400"/>
          </a:xfrm>
          <a:prstGeom prst="roundRect">
            <a:avLst>
              <a:gd name="adj" fmla="val 50000"/>
            </a:avLst>
          </a:prstGeom>
          <a:solidFill>
            <a:srgbClr val="667EEA"/>
          </a:solidFill>
          <a:ln/>
        </p:spPr>
        <p:txBody>
          <a:bodyPr wrap="square" rtlCol="0" anchor="ctr"/>
          <a:lstStyle/>
          <a:p>
            <a:pPr indent="0" marL="0">
              <a:buNone/>
            </a:pPr>
            <a:endParaRPr lang="en-US" dirty="0"/>
          </a:p>
        </p:txBody>
      </p:sp>
      <p:sp>
        <p:nvSpPr>
          <p:cNvPr id="25" name="Text 23"/>
          <p:cNvSpPr/>
          <p:nvPr/>
        </p:nvSpPr>
        <p:spPr>
          <a:xfrm>
            <a:off x="428476" y="2522786"/>
            <a:ext cx="1197132" cy="114300"/>
          </a:xfrm>
          <a:prstGeom prst="rect">
            <a:avLst/>
          </a:prstGeom>
          <a:noFill/>
          <a:ln/>
        </p:spPr>
        <p:txBody>
          <a:bodyPr wrap="square" lIns="0" tIns="0" rIns="0" bIns="0" rtlCol="0" anchor="t"/>
          <a:lstStyle/>
          <a:p>
            <a:pPr algn="l" indent="0" marL="0">
              <a:buNone/>
            </a:pPr>
            <a:r>
              <a:rPr lang="en-US" sz="800" dirty="0">
                <a:solidFill>
                  <a:srgbClr val="666666"/>
                </a:solidFill>
                <a:latin typeface="Arial" pitchFamily="34" charset="0"/>
                <a:ea typeface="Arial" pitchFamily="34" charset="-122"/>
                <a:cs typeface="Arial" pitchFamily="34" charset="-120"/>
              </a:rPr>
              <a:t>memory-bank-mcp (Scan)</a:t>
            </a:r>
            <a:endParaRPr lang="en-US" sz="800" dirty="0"/>
          </a:p>
        </p:txBody>
      </p:sp>
      <p:sp>
        <p:nvSpPr>
          <p:cNvPr id="26" name="Text 24"/>
          <p:cNvSpPr/>
          <p:nvPr/>
        </p:nvSpPr>
        <p:spPr>
          <a:xfrm>
            <a:off x="5319266" y="2522786"/>
            <a:ext cx="325469" cy="114300"/>
          </a:xfrm>
          <a:prstGeom prst="rect">
            <a:avLst/>
          </a:prstGeom>
          <a:noFill/>
          <a:ln/>
        </p:spPr>
        <p:txBody>
          <a:bodyPr wrap="square" lIns="0" tIns="0" rIns="0" bIns="0" rtlCol="0" anchor="t"/>
          <a:lstStyle/>
          <a:p>
            <a:pPr algn="l" indent="0" marL="0">
              <a:buNone/>
            </a:pPr>
            <a:r>
              <a:rPr lang="en-US" sz="800" b="1" dirty="0">
                <a:solidFill>
                  <a:srgbClr val="333333"/>
                </a:solidFill>
                <a:latin typeface="Arial" pitchFamily="34" charset="0"/>
                <a:ea typeface="Arial" pitchFamily="34" charset="-122"/>
                <a:cs typeface="Arial" pitchFamily="34" charset="-120"/>
              </a:rPr>
              <a:t>~50ms</a:t>
            </a:r>
            <a:endParaRPr lang="en-US" sz="800" dirty="0"/>
          </a:p>
        </p:txBody>
      </p:sp>
      <p:sp>
        <p:nvSpPr>
          <p:cNvPr id="27" name="Text 25"/>
          <p:cNvSpPr/>
          <p:nvPr/>
        </p:nvSpPr>
        <p:spPr>
          <a:xfrm>
            <a:off x="428476" y="2662386"/>
            <a:ext cx="5209877"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28" name="Text 26"/>
          <p:cNvSpPr/>
          <p:nvPr/>
        </p:nvSpPr>
        <p:spPr>
          <a:xfrm>
            <a:off x="428476" y="2662386"/>
            <a:ext cx="5209877" cy="152400"/>
          </a:xfrm>
          <a:prstGeom prst="roundRect">
            <a:avLst>
              <a:gd name="adj" fmla="val 50000"/>
            </a:avLst>
          </a:prstGeom>
          <a:solidFill>
            <a:srgbClr val="F0A500"/>
          </a:solidFill>
          <a:ln/>
        </p:spPr>
        <p:txBody>
          <a:bodyPr wrap="square" rtlCol="0" anchor="ctr"/>
          <a:lstStyle/>
          <a:p>
            <a:pPr indent="0" marL="0">
              <a:buNone/>
            </a:pPr>
            <a:endParaRPr lang="en-US" dirty="0"/>
          </a:p>
        </p:txBody>
      </p:sp>
      <p:sp>
        <p:nvSpPr>
          <p:cNvPr id="29" name="Text 27"/>
          <p:cNvSpPr/>
          <p:nvPr/>
        </p:nvSpPr>
        <p:spPr>
          <a:xfrm>
            <a:off x="317450" y="3052763"/>
            <a:ext cx="5431929" cy="1129605"/>
          </a:xfrm>
          <a:prstGeom prst="roundRect">
            <a:avLst>
              <a:gd name="adj" fmla="val 6746"/>
            </a:avLst>
          </a:prstGeom>
          <a:solidFill>
            <a:srgbClr val="FAFBFF"/>
          </a:solidFill>
          <a:ln w="9525">
            <a:solidFill>
              <a:srgbClr val="E0E5F0"/>
            </a:solidFill>
          </a:ln>
        </p:spPr>
        <p:txBody>
          <a:bodyPr wrap="square" rtlCol="0" anchor="ctr"/>
          <a:lstStyle/>
          <a:p>
            <a:pPr indent="0" marL="0">
              <a:buNone/>
            </a:pPr>
            <a:endParaRPr lang="en-US" dirty="0"/>
          </a:p>
        </p:txBody>
      </p:sp>
      <p:sp>
        <p:nvSpPr>
          <p:cNvPr id="30" name="Text 28"/>
          <p:cNvSpPr/>
          <p:nvPr/>
        </p:nvSpPr>
        <p:spPr>
          <a:xfrm>
            <a:off x="428476" y="3165277"/>
            <a:ext cx="954700" cy="142875"/>
          </a:xfrm>
          <a:prstGeom prst="rect">
            <a:avLst/>
          </a:prstGeom>
          <a:noFill/>
          <a:ln/>
        </p:spPr>
        <p:txBody>
          <a:bodyPr wrap="square" lIns="0" tIns="0" rIns="0" bIns="0" rtlCol="0" anchor="t"/>
          <a:lstStyle/>
          <a:p>
            <a:pPr algn="l" indent="0" marL="0">
              <a:buNone/>
            </a:pPr>
            <a:r>
              <a:rPr lang="en-US" sz="1000" b="1" dirty="0">
                <a:solidFill>
                  <a:srgbClr val="1A1A2E"/>
                </a:solidFill>
                <a:latin typeface="Arial" pitchFamily="34" charset="0"/>
                <a:ea typeface="Arial" pitchFamily="34" charset="-122"/>
                <a:cs typeface="Arial" pitchFamily="34" charset="-120"/>
              </a:rPr>
              <a:t>Cold Start Time</a:t>
            </a:r>
            <a:endParaRPr lang="en-US" sz="1000" dirty="0"/>
          </a:p>
        </p:txBody>
      </p:sp>
      <p:sp>
        <p:nvSpPr>
          <p:cNvPr id="31" name="Text 29"/>
          <p:cNvSpPr/>
          <p:nvPr/>
        </p:nvSpPr>
        <p:spPr>
          <a:xfrm>
            <a:off x="5214342" y="3163788"/>
            <a:ext cx="424011" cy="145852"/>
          </a:xfrm>
          <a:prstGeom prst="roundRect">
            <a:avLst>
              <a:gd name="adj" fmla="val 69660"/>
            </a:avLst>
          </a:prstGeom>
          <a:solidFill>
            <a:srgbClr val="FAFBFF"/>
          </a:solidFill>
          <a:ln/>
        </p:spPr>
        <p:txBody>
          <a:bodyPr wrap="square" rtlCol="0" anchor="ctr"/>
          <a:lstStyle/>
          <a:p>
            <a:pPr indent="0" marL="0">
              <a:buNone/>
            </a:pPr>
            <a:endParaRPr lang="en-US" dirty="0"/>
          </a:p>
        </p:txBody>
      </p:sp>
      <p:sp>
        <p:nvSpPr>
          <p:cNvPr id="32" name="Text 30"/>
          <p:cNvSpPr/>
          <p:nvPr/>
        </p:nvSpPr>
        <p:spPr>
          <a:xfrm>
            <a:off x="5290542" y="3189089"/>
            <a:ext cx="277044" cy="95250"/>
          </a:xfrm>
          <a:prstGeom prst="rect">
            <a:avLst/>
          </a:prstGeom>
          <a:noFill/>
          <a:ln/>
        </p:spPr>
        <p:txBody>
          <a:bodyPr wrap="square" lIns="0" tIns="0" rIns="0" bIns="0" rtlCol="0" anchor="t"/>
          <a:lstStyle/>
          <a:p>
            <a:pPr algn="l" indent="0" marL="0">
              <a:buNone/>
            </a:pPr>
            <a:r>
              <a:rPr lang="en-US" sz="700" dirty="0">
                <a:solidFill>
                  <a:srgbClr val="666666"/>
                </a:solidFill>
                <a:latin typeface="Arial" pitchFamily="34" charset="0"/>
                <a:ea typeface="Arial" pitchFamily="34" charset="-122"/>
                <a:cs typeface="Arial" pitchFamily="34" charset="-120"/>
              </a:rPr>
              <a:t>Similar</a:t>
            </a:r>
            <a:endParaRPr lang="en-US" sz="700" dirty="0"/>
          </a:p>
        </p:txBody>
      </p:sp>
      <p:sp>
        <p:nvSpPr>
          <p:cNvPr id="33" name="Text 31"/>
          <p:cNvSpPr/>
          <p:nvPr/>
        </p:nvSpPr>
        <p:spPr>
          <a:xfrm>
            <a:off x="428476" y="3385840"/>
            <a:ext cx="1007224" cy="114300"/>
          </a:xfrm>
          <a:prstGeom prst="rect">
            <a:avLst/>
          </a:prstGeom>
          <a:noFill/>
          <a:ln/>
        </p:spPr>
        <p:txBody>
          <a:bodyPr wrap="square" lIns="0" tIns="0" rIns="0" bIns="0" rtlCol="0" anchor="t"/>
          <a:lstStyle/>
          <a:p>
            <a:pPr algn="l" indent="0" marL="0">
              <a:buNone/>
            </a:pPr>
            <a:r>
              <a:rPr lang="en-US" sz="800" dirty="0">
                <a:solidFill>
                  <a:srgbClr val="666666"/>
                </a:solidFill>
                <a:latin typeface="Arial" pitchFamily="34" charset="0"/>
                <a:ea typeface="Arial" pitchFamily="34" charset="-122"/>
                <a:cs typeface="Arial" pitchFamily="34" charset="-120"/>
              </a:rPr>
              <a:t>Omni-Cortex (Python)</a:t>
            </a:r>
            <a:endParaRPr lang="en-US" sz="800" dirty="0"/>
          </a:p>
        </p:txBody>
      </p:sp>
      <p:sp>
        <p:nvSpPr>
          <p:cNvPr id="34" name="Text 32"/>
          <p:cNvSpPr/>
          <p:nvPr/>
        </p:nvSpPr>
        <p:spPr>
          <a:xfrm>
            <a:off x="5262860" y="3385840"/>
            <a:ext cx="383003" cy="114300"/>
          </a:xfrm>
          <a:prstGeom prst="rect">
            <a:avLst/>
          </a:prstGeom>
          <a:noFill/>
          <a:ln/>
        </p:spPr>
        <p:txBody>
          <a:bodyPr wrap="square" lIns="0" tIns="0" rIns="0" bIns="0" rtlCol="0" anchor="t"/>
          <a:lstStyle/>
          <a:p>
            <a:pPr algn="l" indent="0" marL="0">
              <a:buNone/>
            </a:pPr>
            <a:r>
              <a:rPr lang="en-US" sz="800" b="1" dirty="0">
                <a:solidFill>
                  <a:srgbClr val="333333"/>
                </a:solidFill>
                <a:latin typeface="Arial" pitchFamily="34" charset="0"/>
                <a:ea typeface="Arial" pitchFamily="34" charset="-122"/>
                <a:cs typeface="Arial" pitchFamily="34" charset="-120"/>
              </a:rPr>
              <a:t>~200ms</a:t>
            </a:r>
            <a:endParaRPr lang="en-US" sz="800" dirty="0"/>
          </a:p>
        </p:txBody>
      </p:sp>
      <p:sp>
        <p:nvSpPr>
          <p:cNvPr id="35" name="Text 33"/>
          <p:cNvSpPr/>
          <p:nvPr/>
        </p:nvSpPr>
        <p:spPr>
          <a:xfrm>
            <a:off x="428476" y="3525441"/>
            <a:ext cx="5209877"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36" name="Text 34"/>
          <p:cNvSpPr/>
          <p:nvPr/>
        </p:nvSpPr>
        <p:spPr>
          <a:xfrm>
            <a:off x="428476" y="3525441"/>
            <a:ext cx="4167783" cy="152400"/>
          </a:xfrm>
          <a:prstGeom prst="roundRect">
            <a:avLst>
              <a:gd name="adj" fmla="val 50000"/>
            </a:avLst>
          </a:prstGeom>
          <a:solidFill>
            <a:srgbClr val="667EEA"/>
          </a:solidFill>
          <a:ln/>
        </p:spPr>
        <p:txBody>
          <a:bodyPr wrap="square" rtlCol="0" anchor="ctr"/>
          <a:lstStyle/>
          <a:p>
            <a:pPr indent="0" marL="0">
              <a:buNone/>
            </a:pPr>
            <a:endParaRPr lang="en-US" dirty="0"/>
          </a:p>
        </p:txBody>
      </p:sp>
      <p:sp>
        <p:nvSpPr>
          <p:cNvPr id="37" name="Text 35"/>
          <p:cNvSpPr/>
          <p:nvPr/>
        </p:nvSpPr>
        <p:spPr>
          <a:xfrm>
            <a:off x="428476" y="3728591"/>
            <a:ext cx="1208669" cy="114300"/>
          </a:xfrm>
          <a:prstGeom prst="rect">
            <a:avLst/>
          </a:prstGeom>
          <a:noFill/>
          <a:ln/>
        </p:spPr>
        <p:txBody>
          <a:bodyPr wrap="square" lIns="0" tIns="0" rIns="0" bIns="0" rtlCol="0" anchor="t"/>
          <a:lstStyle/>
          <a:p>
            <a:pPr algn="l" indent="0" marL="0">
              <a:buNone/>
            </a:pPr>
            <a:r>
              <a:rPr lang="en-US" sz="800" dirty="0">
                <a:solidFill>
                  <a:srgbClr val="666666"/>
                </a:solidFill>
                <a:latin typeface="Arial" pitchFamily="34" charset="0"/>
                <a:ea typeface="Arial" pitchFamily="34" charset="-122"/>
                <a:cs typeface="Arial" pitchFamily="34" charset="-120"/>
              </a:rPr>
              <a:t>memory-bank-mcp (Node)</a:t>
            </a:r>
            <a:endParaRPr lang="en-US" sz="800" dirty="0"/>
          </a:p>
        </p:txBody>
      </p:sp>
      <p:sp>
        <p:nvSpPr>
          <p:cNvPr id="38" name="Text 36"/>
          <p:cNvSpPr/>
          <p:nvPr/>
        </p:nvSpPr>
        <p:spPr>
          <a:xfrm>
            <a:off x="5262860" y="3728591"/>
            <a:ext cx="383003" cy="114300"/>
          </a:xfrm>
          <a:prstGeom prst="rect">
            <a:avLst/>
          </a:prstGeom>
          <a:noFill/>
          <a:ln/>
        </p:spPr>
        <p:txBody>
          <a:bodyPr wrap="square" lIns="0" tIns="0" rIns="0" bIns="0" rtlCol="0" anchor="t"/>
          <a:lstStyle/>
          <a:p>
            <a:pPr algn="l" indent="0" marL="0">
              <a:buNone/>
            </a:pPr>
            <a:r>
              <a:rPr lang="en-US" sz="800" b="1" dirty="0">
                <a:solidFill>
                  <a:srgbClr val="333333"/>
                </a:solidFill>
                <a:latin typeface="Arial" pitchFamily="34" charset="0"/>
                <a:ea typeface="Arial" pitchFamily="34" charset="-122"/>
                <a:cs typeface="Arial" pitchFamily="34" charset="-120"/>
              </a:rPr>
              <a:t>~150ms</a:t>
            </a:r>
            <a:endParaRPr lang="en-US" sz="800" dirty="0"/>
          </a:p>
        </p:txBody>
      </p:sp>
      <p:sp>
        <p:nvSpPr>
          <p:cNvPr id="39" name="Text 37"/>
          <p:cNvSpPr/>
          <p:nvPr/>
        </p:nvSpPr>
        <p:spPr>
          <a:xfrm>
            <a:off x="428476" y="3868192"/>
            <a:ext cx="5209877" cy="152400"/>
          </a:xfrm>
          <a:prstGeom prst="roundRect">
            <a:avLst>
              <a:gd name="adj" fmla="val 50000"/>
            </a:avLst>
          </a:prstGeom>
          <a:solidFill>
            <a:srgbClr val="E0E5F0"/>
          </a:solidFill>
          <a:ln/>
        </p:spPr>
        <p:txBody>
          <a:bodyPr wrap="square" rtlCol="0" anchor="ctr"/>
          <a:lstStyle/>
          <a:p>
            <a:pPr indent="0" marL="0">
              <a:buNone/>
            </a:pPr>
            <a:endParaRPr lang="en-US" dirty="0"/>
          </a:p>
        </p:txBody>
      </p:sp>
      <p:sp>
        <p:nvSpPr>
          <p:cNvPr id="40" name="Text 38"/>
          <p:cNvSpPr/>
          <p:nvPr/>
        </p:nvSpPr>
        <p:spPr>
          <a:xfrm>
            <a:off x="428476" y="3868192"/>
            <a:ext cx="3125837" cy="152400"/>
          </a:xfrm>
          <a:prstGeom prst="roundRect">
            <a:avLst>
              <a:gd name="adj" fmla="val 50000"/>
            </a:avLst>
          </a:prstGeom>
          <a:solidFill>
            <a:srgbClr val="F0A500"/>
          </a:solidFill>
          <a:ln/>
        </p:spPr>
        <p:txBody>
          <a:bodyPr wrap="square" rtlCol="0" anchor="ctr"/>
          <a:lstStyle/>
          <a:p>
            <a:pPr indent="0" marL="0">
              <a:buNone/>
            </a:pPr>
            <a:endParaRPr lang="en-US" dirty="0"/>
          </a:p>
        </p:txBody>
      </p:sp>
      <p:sp>
        <p:nvSpPr>
          <p:cNvPr id="41" name="Text 39"/>
          <p:cNvSpPr/>
          <p:nvPr/>
        </p:nvSpPr>
        <p:spPr>
          <a:xfrm>
            <a:off x="5901779" y="641152"/>
            <a:ext cx="2924919" cy="3719215"/>
          </a:xfrm>
          <a:prstGeom prst="roundRect">
            <a:avLst>
              <a:gd name="adj" fmla="val 2605"/>
            </a:avLst>
          </a:prstGeom>
          <a:solidFill>
            <a:srgbClr val="667EEA"/>
          </a:solidFill>
          <a:ln/>
        </p:spPr>
        <p:txBody>
          <a:bodyPr wrap="square" rtlCol="0" anchor="ctr"/>
          <a:lstStyle/>
          <a:p>
            <a:pPr indent="0" marL="0">
              <a:buNone/>
            </a:pPr>
            <a:endParaRPr lang="en-US" dirty="0"/>
          </a:p>
        </p:txBody>
      </p:sp>
      <p:sp>
        <p:nvSpPr>
          <p:cNvPr id="42" name="Text 40"/>
          <p:cNvSpPr/>
          <p:nvPr/>
        </p:nvSpPr>
        <p:spPr>
          <a:xfrm>
            <a:off x="6003280" y="742652"/>
            <a:ext cx="2776356" cy="142875"/>
          </a:xfrm>
          <a:prstGeom prst="rect">
            <a:avLst/>
          </a:prstGeom>
          <a:noFill/>
          <a:ln/>
        </p:spPr>
        <p:txBody>
          <a:bodyPr wrap="square" lIns="0" tIns="0" rIns="0" bIns="0" rtlCol="0" anchor="t"/>
          <a:lstStyle/>
          <a:p>
            <a:pPr algn="l" indent="0" marL="0">
              <a:spcAft>
                <a:spcPts val="500"/>
              </a:spcAft>
              <a:buNone/>
            </a:pPr>
            <a:r>
              <a:rPr lang="en-US" sz="1000" b="1" dirty="0">
                <a:solidFill>
                  <a:srgbClr val="FFFFFF"/>
                </a:solidFill>
                <a:latin typeface="Arial" pitchFamily="34" charset="0"/>
                <a:ea typeface="Arial" pitchFamily="34" charset="-122"/>
                <a:cs typeface="Arial" pitchFamily="34" charset="-120"/>
              </a:rPr>
              <a:t>Why SQLite Wins</a:t>
            </a:r>
            <a:endParaRPr lang="en-US" sz="1000" dirty="0"/>
          </a:p>
        </p:txBody>
      </p:sp>
      <p:sp>
        <p:nvSpPr>
          <p:cNvPr id="43" name="Text 41"/>
          <p:cNvSpPr/>
          <p:nvPr/>
        </p:nvSpPr>
        <p:spPr>
          <a:xfrm>
            <a:off x="6003280" y="948928"/>
            <a:ext cx="2776356" cy="114300"/>
          </a:xfrm>
          <a:prstGeom prst="rect">
            <a:avLst/>
          </a:prstGeom>
          <a:noFill/>
          <a:ln/>
        </p:spPr>
        <p:txBody>
          <a:bodyPr wrap="square" lIns="0" tIns="0" rIns="0" bIns="0" rtlCol="0" anchor="t"/>
          <a:lstStyle/>
          <a:p>
            <a:pPr algn="l" indent="0" marL="0">
              <a:spcAft>
                <a:spcPts val="300"/>
              </a:spcAft>
              <a:buNone/>
            </a:pPr>
            <a:r>
              <a:rPr lang="en-US" sz="800" dirty="0">
                <a:solidFill>
                  <a:srgbClr val="E0E5FF"/>
                </a:solidFill>
                <a:latin typeface="Arial" pitchFamily="34" charset="0"/>
                <a:ea typeface="Arial" pitchFamily="34" charset="-122"/>
                <a:cs typeface="Arial" pitchFamily="34" charset="-120"/>
              </a:rPr>
              <a:t>FTS5: O(log n) vs O(n) scan</a:t>
            </a:r>
            <a:endParaRPr lang="en-US" sz="800" dirty="0"/>
          </a:p>
        </p:txBody>
      </p:sp>
      <p:sp>
        <p:nvSpPr>
          <p:cNvPr id="44" name="Text 42"/>
          <p:cNvSpPr/>
          <p:nvPr/>
        </p:nvSpPr>
        <p:spPr>
          <a:xfrm>
            <a:off x="6003280" y="1101328"/>
            <a:ext cx="2776356" cy="114300"/>
          </a:xfrm>
          <a:prstGeom prst="rect">
            <a:avLst/>
          </a:prstGeom>
          <a:noFill/>
          <a:ln/>
        </p:spPr>
        <p:txBody>
          <a:bodyPr wrap="square" lIns="0" tIns="0" rIns="0" bIns="0" rtlCol="0" anchor="t"/>
          <a:lstStyle/>
          <a:p>
            <a:pPr algn="l" indent="0" marL="0">
              <a:spcAft>
                <a:spcPts val="300"/>
              </a:spcAft>
              <a:buNone/>
            </a:pPr>
            <a:r>
              <a:rPr lang="en-US" sz="800" dirty="0">
                <a:solidFill>
                  <a:srgbClr val="E0E5FF"/>
                </a:solidFill>
                <a:latin typeface="Arial" pitchFamily="34" charset="0"/>
                <a:ea typeface="Arial" pitchFamily="34" charset="-122"/>
                <a:cs typeface="Arial" pitchFamily="34" charset="-120"/>
              </a:rPr>
              <a:t>Single file = atomic ops</a:t>
            </a:r>
            <a:endParaRPr lang="en-US" sz="800" dirty="0"/>
          </a:p>
        </p:txBody>
      </p:sp>
      <p:sp>
        <p:nvSpPr>
          <p:cNvPr id="45" name="Text 43"/>
          <p:cNvSpPr/>
          <p:nvPr/>
        </p:nvSpPr>
        <p:spPr>
          <a:xfrm>
            <a:off x="6003280" y="1253728"/>
            <a:ext cx="2776356" cy="114300"/>
          </a:xfrm>
          <a:prstGeom prst="rect">
            <a:avLst/>
          </a:prstGeom>
          <a:noFill/>
          <a:ln/>
        </p:spPr>
        <p:txBody>
          <a:bodyPr wrap="square" lIns="0" tIns="0" rIns="0" bIns="0" rtlCol="0" anchor="t"/>
          <a:lstStyle/>
          <a:p>
            <a:pPr algn="l" indent="0" marL="0">
              <a:buNone/>
            </a:pPr>
            <a:r>
              <a:rPr lang="en-US" sz="800" dirty="0">
                <a:solidFill>
                  <a:srgbClr val="E0E5FF"/>
                </a:solidFill>
                <a:latin typeface="Arial" pitchFamily="34" charset="0"/>
                <a:ea typeface="Arial" pitchFamily="34" charset="-122"/>
                <a:cs typeface="Arial" pitchFamily="34" charset="-120"/>
              </a:rPr>
              <a:t>Built-in BM25 ranking</a:t>
            </a:r>
            <a:endParaRPr lang="en-US" sz="800" dirty="0"/>
          </a:p>
        </p:txBody>
      </p:sp>
      <p:sp>
        <p:nvSpPr>
          <p:cNvPr id="46" name="Text 44"/>
          <p:cNvSpPr/>
          <p:nvPr/>
        </p:nvSpPr>
        <p:spPr>
          <a:xfrm>
            <a:off x="5901779" y="4436566"/>
            <a:ext cx="2924919" cy="605433"/>
          </a:xfrm>
          <a:prstGeom prst="rect">
            <a:avLst/>
          </a:prstGeom>
          <a:solidFill>
            <a:srgbClr val="FFF9E6"/>
          </a:solidFill>
          <a:ln/>
        </p:spPr>
        <p:txBody>
          <a:bodyPr wrap="square" rtlCol="0" anchor="ctr"/>
          <a:lstStyle/>
          <a:p>
            <a:pPr indent="0" marL="0">
              <a:buNone/>
            </a:pPr>
            <a:endParaRPr lang="en-US" dirty="0"/>
          </a:p>
        </p:txBody>
      </p:sp>
      <p:sp>
        <p:nvSpPr>
          <p:cNvPr id="47" name="Shape 45"/>
          <p:cNvSpPr/>
          <p:nvPr/>
        </p:nvSpPr>
        <p:spPr>
          <a:xfrm>
            <a:off x="5920829" y="4436566"/>
            <a:ext cx="0" cy="605433"/>
          </a:xfrm>
          <a:prstGeom prst="line">
            <a:avLst/>
          </a:prstGeom>
          <a:noFill/>
          <a:ln w="38100">
            <a:solidFill>
              <a:srgbClr val="F0A500"/>
            </a:solidFill>
            <a:prstDash val="solid"/>
          </a:ln>
        </p:spPr>
      </p:sp>
      <p:sp>
        <p:nvSpPr>
          <p:cNvPr id="48" name="Text 46"/>
          <p:cNvSpPr/>
          <p:nvPr/>
        </p:nvSpPr>
        <p:spPr>
          <a:xfrm>
            <a:off x="6041380" y="4538067"/>
            <a:ext cx="2737494" cy="133350"/>
          </a:xfrm>
          <a:prstGeom prst="rect">
            <a:avLst/>
          </a:prstGeom>
          <a:noFill/>
          <a:ln/>
        </p:spPr>
        <p:txBody>
          <a:bodyPr wrap="square" lIns="0" tIns="0" rIns="0" bIns="0" rtlCol="0" anchor="t"/>
          <a:lstStyle/>
          <a:p>
            <a:pPr algn="l" indent="0" marL="0">
              <a:spcAft>
                <a:spcPts val="300"/>
              </a:spcAft>
              <a:buNone/>
            </a:pPr>
            <a:r>
              <a:rPr lang="en-US" sz="900" b="1" dirty="0">
                <a:solidFill>
                  <a:srgbClr val="1A1A2E"/>
                </a:solidFill>
                <a:latin typeface="Arial" pitchFamily="34" charset="0"/>
                <a:ea typeface="Arial" pitchFamily="34" charset="-122"/>
                <a:cs typeface="Arial" pitchFamily="34" charset="-120"/>
              </a:rPr>
              <a:t>Honest Caveat</a:t>
            </a:r>
            <a:endParaRPr lang="en-US" sz="900" dirty="0"/>
          </a:p>
        </p:txBody>
      </p:sp>
      <p:sp>
        <p:nvSpPr>
          <p:cNvPr id="49" name="Text 47"/>
          <p:cNvSpPr/>
          <p:nvPr/>
        </p:nvSpPr>
        <p:spPr>
          <a:xfrm>
            <a:off x="6041380" y="4709517"/>
            <a:ext cx="2737494" cy="230981"/>
          </a:xfrm>
          <a:prstGeom prst="rect">
            <a:avLst/>
          </a:prstGeom>
          <a:noFill/>
          <a:ln/>
        </p:spPr>
        <p:txBody>
          <a:bodyPr wrap="square" lIns="0" tIns="0" rIns="0" bIns="0" rtlCol="0" anchor="t"/>
          <a:lstStyle/>
          <a:p>
            <a:pPr algn="l" indent="0" marL="0">
              <a:lnSpc>
                <a:spcPts val="910"/>
              </a:lnSpc>
              <a:buNone/>
            </a:pPr>
            <a:r>
              <a:rPr lang="en-US" sz="700" dirty="0">
                <a:solidFill>
                  <a:srgbClr val="666666"/>
                </a:solidFill>
                <a:latin typeface="Arial" pitchFamily="34" charset="0"/>
                <a:ea typeface="Arial" pitchFamily="34" charset="-122"/>
                <a:cs typeface="Arial" pitchFamily="34" charset="-120"/>
              </a:rPr>
              <a:t>Cold start slightly slower (Python). TypeScript has edge on startup. Negligible for long sessions.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19125"/>
          </a:xfrm>
          <a:prstGeom prst="rect">
            <a:avLst/>
          </a:prstGeom>
          <a:solidFill>
            <a:srgbClr val="F0F4FF"/>
          </a:solidFill>
          <a:ln/>
        </p:spPr>
        <p:txBody>
          <a:bodyPr wrap="square" rtlCol="0" anchor="ctr"/>
          <a:lstStyle/>
          <a:p>
            <a:pPr indent="0" marL="0">
              <a:buNone/>
            </a:pPr>
            <a:endParaRPr lang="en-US" dirty="0"/>
          </a:p>
        </p:txBody>
      </p:sp>
      <p:sp>
        <p:nvSpPr>
          <p:cNvPr id="3" name="Shape 1"/>
          <p:cNvSpPr/>
          <p:nvPr/>
        </p:nvSpPr>
        <p:spPr>
          <a:xfrm>
            <a:off x="0" y="609600"/>
            <a:ext cx="9144000" cy="0"/>
          </a:xfrm>
          <a:prstGeom prst="line">
            <a:avLst/>
          </a:prstGeom>
          <a:noFill/>
          <a:ln w="19050">
            <a:solidFill>
              <a:srgbClr val="667EEA"/>
            </a:solidFill>
            <a:prstDash val="solid"/>
          </a:ln>
        </p:spPr>
      </p:sp>
      <p:sp>
        <p:nvSpPr>
          <p:cNvPr id="4" name="Text 2"/>
          <p:cNvSpPr/>
          <p:nvPr/>
        </p:nvSpPr>
        <p:spPr>
          <a:xfrm>
            <a:off x="317450" y="152400"/>
            <a:ext cx="8679281" cy="295275"/>
          </a:xfrm>
          <a:prstGeom prst="rect">
            <a:avLst/>
          </a:prstGeom>
          <a:noFill/>
          <a:ln/>
        </p:spPr>
        <p:txBody>
          <a:bodyPr wrap="square" lIns="0" tIns="0" rIns="0" bIns="0" rtlCol="0" anchor="t"/>
          <a:lstStyle/>
          <a:p>
            <a:pPr algn="l" indent="0" marL="0">
              <a:buNone/>
            </a:pPr>
            <a:r>
              <a:rPr lang="en-US" sz="2000" b="1" dirty="0">
                <a:solidFill>
                  <a:srgbClr val="1A1A2E"/>
                </a:solidFill>
                <a:latin typeface="Arial" pitchFamily="34" charset="0"/>
                <a:ea typeface="Arial" pitchFamily="34" charset="-122"/>
                <a:cs typeface="Arial" pitchFamily="34" charset="-120"/>
              </a:rPr>
              <a:t>When to Use Each Approach</a:t>
            </a:r>
            <a:endParaRPr lang="en-US" sz="2000" dirty="0"/>
          </a:p>
        </p:txBody>
      </p:sp>
      <p:sp>
        <p:nvSpPr>
          <p:cNvPr id="5" name="Text 3"/>
          <p:cNvSpPr/>
          <p:nvPr/>
        </p:nvSpPr>
        <p:spPr>
          <a:xfrm>
            <a:off x="317450" y="809625"/>
            <a:ext cx="2709416" cy="4143375"/>
          </a:xfrm>
          <a:prstGeom prst="roundRect">
            <a:avLst>
              <a:gd name="adj" fmla="val 3750"/>
            </a:avLst>
          </a:prstGeom>
          <a:solidFill>
            <a:srgbClr val="FAFBFF"/>
          </a:solidFill>
          <a:ln w="9525">
            <a:solidFill>
              <a:srgbClr val="E0E5F0"/>
            </a:solidFill>
          </a:ln>
        </p:spPr>
        <p:txBody>
          <a:bodyPr wrap="square" rtlCol="0" anchor="ctr"/>
          <a:lstStyle/>
          <a:p>
            <a:pPr indent="0" marL="0">
              <a:buNone/>
            </a:pPr>
            <a:endParaRPr lang="en-US" dirty="0"/>
          </a:p>
        </p:txBody>
      </p:sp>
      <p:sp>
        <p:nvSpPr>
          <p:cNvPr id="6" name="Shape 4"/>
          <p:cNvSpPr/>
          <p:nvPr/>
        </p:nvSpPr>
        <p:spPr>
          <a:xfrm>
            <a:off x="517475" y="1355675"/>
            <a:ext cx="2309366" cy="0"/>
          </a:xfrm>
          <a:prstGeom prst="line">
            <a:avLst/>
          </a:prstGeom>
          <a:noFill/>
          <a:ln w="19050">
            <a:solidFill>
              <a:srgbClr val="667EEA"/>
            </a:solidFill>
            <a:prstDash val="solid"/>
          </a:ln>
        </p:spPr>
      </p:sp>
      <p:sp>
        <p:nvSpPr>
          <p:cNvPr id="7" name="Text 5"/>
          <p:cNvSpPr/>
          <p:nvPr/>
        </p:nvSpPr>
        <p:spPr>
          <a:xfrm>
            <a:off x="517475" y="1009650"/>
            <a:ext cx="1596682" cy="209550"/>
          </a:xfrm>
          <a:prstGeom prst="rect">
            <a:avLst/>
          </a:prstGeom>
          <a:noFill/>
          <a:ln/>
        </p:spPr>
        <p:txBody>
          <a:bodyPr wrap="square" lIns="0" tIns="0" rIns="0" bIns="0" rtlCol="0" anchor="t"/>
          <a:lstStyle/>
          <a:p>
            <a:pPr algn="l" indent="0" marL="0">
              <a:buNone/>
            </a:pPr>
            <a:r>
              <a:rPr lang="en-US" sz="1400" b="1" dirty="0">
                <a:solidFill>
                  <a:srgbClr val="667EEA"/>
                </a:solidFill>
                <a:latin typeface="Arial" pitchFamily="34" charset="0"/>
                <a:ea typeface="Arial" pitchFamily="34" charset="-122"/>
                <a:cs typeface="Arial" pitchFamily="34" charset="-120"/>
              </a:rPr>
              <a:t>Python + FastMCP</a:t>
            </a:r>
            <a:endParaRPr lang="en-US" sz="1400" dirty="0"/>
          </a:p>
        </p:txBody>
      </p:sp>
      <p:sp>
        <p:nvSpPr>
          <p:cNvPr id="8" name="Text 6"/>
          <p:cNvSpPr/>
          <p:nvPr/>
        </p:nvSpPr>
        <p:spPr>
          <a:xfrm>
            <a:off x="517475" y="1517600"/>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Rapid development priority</a:t>
            </a:r>
            <a:endParaRPr lang="en-US" sz="1000" dirty="0"/>
          </a:p>
        </p:txBody>
      </p:sp>
      <p:sp>
        <p:nvSpPr>
          <p:cNvPr id="9" name="Text 7"/>
          <p:cNvSpPr/>
          <p:nvPr/>
        </p:nvSpPr>
        <p:spPr>
          <a:xfrm>
            <a:off x="517475" y="1736675"/>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ML/embedding integration</a:t>
            </a:r>
            <a:endParaRPr lang="en-US" sz="1000" dirty="0"/>
          </a:p>
        </p:txBody>
      </p:sp>
      <p:sp>
        <p:nvSpPr>
          <p:cNvPr id="10" name="Text 8"/>
          <p:cNvSpPr/>
          <p:nvPr/>
        </p:nvSpPr>
        <p:spPr>
          <a:xfrm>
            <a:off x="517475" y="1955750"/>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Data science workflows</a:t>
            </a:r>
            <a:endParaRPr lang="en-US" sz="1000" dirty="0"/>
          </a:p>
        </p:txBody>
      </p:sp>
      <p:sp>
        <p:nvSpPr>
          <p:cNvPr id="11" name="Text 9"/>
          <p:cNvSpPr/>
          <p:nvPr/>
        </p:nvSpPr>
        <p:spPr>
          <a:xfrm>
            <a:off x="517475" y="2174825"/>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Solo dev or small team</a:t>
            </a:r>
            <a:endParaRPr lang="en-US" sz="1000" dirty="0"/>
          </a:p>
        </p:txBody>
      </p:sp>
      <p:sp>
        <p:nvSpPr>
          <p:cNvPr id="12" name="Text 10"/>
          <p:cNvSpPr/>
          <p:nvPr/>
        </p:nvSpPr>
        <p:spPr>
          <a:xfrm>
            <a:off x="517475" y="2393900"/>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Complex search needs</a:t>
            </a:r>
            <a:endParaRPr lang="en-US" sz="1000" dirty="0"/>
          </a:p>
        </p:txBody>
      </p:sp>
      <p:sp>
        <p:nvSpPr>
          <p:cNvPr id="13" name="Text 11"/>
          <p:cNvSpPr/>
          <p:nvPr/>
        </p:nvSpPr>
        <p:spPr>
          <a:xfrm>
            <a:off x="517475" y="2612975"/>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Prototype to production</a:t>
            </a:r>
            <a:endParaRPr lang="en-US" sz="1000" dirty="0"/>
          </a:p>
        </p:txBody>
      </p:sp>
      <p:sp>
        <p:nvSpPr>
          <p:cNvPr id="14" name="Text 12"/>
          <p:cNvSpPr/>
          <p:nvPr/>
        </p:nvSpPr>
        <p:spPr>
          <a:xfrm>
            <a:off x="517475" y="4619625"/>
            <a:ext cx="2355553" cy="133350"/>
          </a:xfrm>
          <a:prstGeom prst="rect">
            <a:avLst/>
          </a:prstGeom>
          <a:noFill/>
          <a:ln/>
        </p:spPr>
        <p:txBody>
          <a:bodyPr wrap="square" lIns="0" tIns="0" rIns="0" bIns="0" rtlCol="0" anchor="t"/>
          <a:lstStyle/>
          <a:p>
            <a:pPr algn="l" indent="0" marL="0">
              <a:buNone/>
            </a:pPr>
            <a:r>
              <a:rPr lang="en-US" sz="900" i="1" dirty="0">
                <a:solidFill>
                  <a:srgbClr val="667EEA"/>
                </a:solidFill>
                <a:latin typeface="Arial" pitchFamily="34" charset="0"/>
                <a:ea typeface="Arial" pitchFamily="34" charset="-122"/>
                <a:cs typeface="Arial" pitchFamily="34" charset="-120"/>
              </a:rPr>
              <a:t>"Ship fast, iterate faster"</a:t>
            </a:r>
            <a:endParaRPr lang="en-US" sz="900" dirty="0"/>
          </a:p>
        </p:txBody>
      </p:sp>
      <p:sp>
        <p:nvSpPr>
          <p:cNvPr id="15" name="Text 13"/>
          <p:cNvSpPr/>
          <p:nvPr/>
        </p:nvSpPr>
        <p:spPr>
          <a:xfrm>
            <a:off x="3217366" y="809625"/>
            <a:ext cx="2709416" cy="4143375"/>
          </a:xfrm>
          <a:prstGeom prst="roundRect">
            <a:avLst>
              <a:gd name="adj" fmla="val 3750"/>
            </a:avLst>
          </a:prstGeom>
          <a:solidFill>
            <a:srgbClr val="FAFBFF"/>
          </a:solidFill>
          <a:ln w="9525">
            <a:solidFill>
              <a:srgbClr val="E0E5F0"/>
            </a:solidFill>
          </a:ln>
        </p:spPr>
        <p:txBody>
          <a:bodyPr wrap="square" rtlCol="0" anchor="ctr"/>
          <a:lstStyle/>
          <a:p>
            <a:pPr indent="0" marL="0">
              <a:buNone/>
            </a:pPr>
            <a:endParaRPr lang="en-US" dirty="0"/>
          </a:p>
        </p:txBody>
      </p:sp>
      <p:sp>
        <p:nvSpPr>
          <p:cNvPr id="16" name="Shape 14"/>
          <p:cNvSpPr/>
          <p:nvPr/>
        </p:nvSpPr>
        <p:spPr>
          <a:xfrm>
            <a:off x="3417391" y="1355675"/>
            <a:ext cx="2309366" cy="0"/>
          </a:xfrm>
          <a:prstGeom prst="line">
            <a:avLst/>
          </a:prstGeom>
          <a:noFill/>
          <a:ln w="19050">
            <a:solidFill>
              <a:srgbClr val="F0A500"/>
            </a:solidFill>
            <a:prstDash val="solid"/>
          </a:ln>
        </p:spPr>
      </p:sp>
      <p:sp>
        <p:nvSpPr>
          <p:cNvPr id="17" name="Text 15"/>
          <p:cNvSpPr/>
          <p:nvPr/>
        </p:nvSpPr>
        <p:spPr>
          <a:xfrm>
            <a:off x="3417391" y="1009650"/>
            <a:ext cx="1356678" cy="209550"/>
          </a:xfrm>
          <a:prstGeom prst="rect">
            <a:avLst/>
          </a:prstGeom>
          <a:noFill/>
          <a:ln/>
        </p:spPr>
        <p:txBody>
          <a:bodyPr wrap="square" lIns="0" tIns="0" rIns="0" bIns="0" rtlCol="0" anchor="t"/>
          <a:lstStyle/>
          <a:p>
            <a:pPr algn="l" indent="0" marL="0">
              <a:buNone/>
            </a:pPr>
            <a:r>
              <a:rPr lang="en-US" sz="1400" b="1" dirty="0">
                <a:solidFill>
                  <a:srgbClr val="F0A500"/>
                </a:solidFill>
                <a:latin typeface="Arial" pitchFamily="34" charset="0"/>
                <a:ea typeface="Arial" pitchFamily="34" charset="-122"/>
                <a:cs typeface="Arial" pitchFamily="34" charset="-120"/>
              </a:rPr>
              <a:t>TypeScript SDK</a:t>
            </a:r>
            <a:endParaRPr lang="en-US" sz="1400" dirty="0"/>
          </a:p>
        </p:txBody>
      </p:sp>
      <p:sp>
        <p:nvSpPr>
          <p:cNvPr id="18" name="Text 16"/>
          <p:cNvSpPr/>
          <p:nvPr/>
        </p:nvSpPr>
        <p:spPr>
          <a:xfrm>
            <a:off x="3417391" y="1517600"/>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Full-stack JS/TS team</a:t>
            </a:r>
            <a:endParaRPr lang="en-US" sz="1000" dirty="0"/>
          </a:p>
        </p:txBody>
      </p:sp>
      <p:sp>
        <p:nvSpPr>
          <p:cNvPr id="19" name="Text 17"/>
          <p:cNvSpPr/>
          <p:nvPr/>
        </p:nvSpPr>
        <p:spPr>
          <a:xfrm>
            <a:off x="3417391" y="1736675"/>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Compile-time safety critical</a:t>
            </a:r>
            <a:endParaRPr lang="en-US" sz="1000" dirty="0"/>
          </a:p>
        </p:txBody>
      </p:sp>
      <p:sp>
        <p:nvSpPr>
          <p:cNvPr id="20" name="Text 18"/>
          <p:cNvSpPr/>
          <p:nvPr/>
        </p:nvSpPr>
        <p:spPr>
          <a:xfrm>
            <a:off x="3417391" y="1955750"/>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Large team coordination</a:t>
            </a:r>
            <a:endParaRPr lang="en-US" sz="1000" dirty="0"/>
          </a:p>
        </p:txBody>
      </p:sp>
      <p:sp>
        <p:nvSpPr>
          <p:cNvPr id="21" name="Text 19"/>
          <p:cNvSpPr/>
          <p:nvPr/>
        </p:nvSpPr>
        <p:spPr>
          <a:xfrm>
            <a:off x="3417391" y="2174825"/>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Frontend integration</a:t>
            </a:r>
            <a:endParaRPr lang="en-US" sz="1000" dirty="0"/>
          </a:p>
        </p:txBody>
      </p:sp>
      <p:sp>
        <p:nvSpPr>
          <p:cNvPr id="22" name="Text 20"/>
          <p:cNvSpPr/>
          <p:nvPr/>
        </p:nvSpPr>
        <p:spPr>
          <a:xfrm>
            <a:off x="3417391" y="2393900"/>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WebSocket-heavy apps</a:t>
            </a:r>
            <a:endParaRPr lang="en-US" sz="1000" dirty="0"/>
          </a:p>
        </p:txBody>
      </p:sp>
      <p:sp>
        <p:nvSpPr>
          <p:cNvPr id="23" name="Text 21"/>
          <p:cNvSpPr/>
          <p:nvPr/>
        </p:nvSpPr>
        <p:spPr>
          <a:xfrm>
            <a:off x="3417391" y="2612975"/>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Existing Node ecosystem</a:t>
            </a:r>
            <a:endParaRPr lang="en-US" sz="1000" dirty="0"/>
          </a:p>
        </p:txBody>
      </p:sp>
      <p:sp>
        <p:nvSpPr>
          <p:cNvPr id="24" name="Text 22"/>
          <p:cNvSpPr/>
          <p:nvPr/>
        </p:nvSpPr>
        <p:spPr>
          <a:xfrm>
            <a:off x="3417391" y="4619625"/>
            <a:ext cx="2355553" cy="133350"/>
          </a:xfrm>
          <a:prstGeom prst="rect">
            <a:avLst/>
          </a:prstGeom>
          <a:noFill/>
          <a:ln/>
        </p:spPr>
        <p:txBody>
          <a:bodyPr wrap="square" lIns="0" tIns="0" rIns="0" bIns="0" rtlCol="0" anchor="t"/>
          <a:lstStyle/>
          <a:p>
            <a:pPr algn="l" indent="0" marL="0">
              <a:buNone/>
            </a:pPr>
            <a:r>
              <a:rPr lang="en-US" sz="900" i="1" dirty="0">
                <a:solidFill>
                  <a:srgbClr val="F0A500"/>
                </a:solidFill>
                <a:latin typeface="Arial" pitchFamily="34" charset="0"/>
                <a:ea typeface="Arial" pitchFamily="34" charset="-122"/>
                <a:cs typeface="Arial" pitchFamily="34" charset="-120"/>
              </a:rPr>
              <a:t>"Type safety at scale"</a:t>
            </a:r>
            <a:endParaRPr lang="en-US" sz="900" dirty="0"/>
          </a:p>
        </p:txBody>
      </p:sp>
      <p:sp>
        <p:nvSpPr>
          <p:cNvPr id="25" name="Text 23"/>
          <p:cNvSpPr/>
          <p:nvPr/>
        </p:nvSpPr>
        <p:spPr>
          <a:xfrm>
            <a:off x="6117282" y="809625"/>
            <a:ext cx="2709416" cy="4143375"/>
          </a:xfrm>
          <a:prstGeom prst="roundRect">
            <a:avLst>
              <a:gd name="adj" fmla="val 3750"/>
            </a:avLst>
          </a:prstGeom>
          <a:solidFill>
            <a:srgbClr val="FAFBFF"/>
          </a:solidFill>
          <a:ln w="9525">
            <a:solidFill>
              <a:srgbClr val="E0E5F0"/>
            </a:solidFill>
          </a:ln>
        </p:spPr>
        <p:txBody>
          <a:bodyPr wrap="square" rtlCol="0" anchor="ctr"/>
          <a:lstStyle/>
          <a:p>
            <a:pPr indent="0" marL="0">
              <a:buNone/>
            </a:pPr>
            <a:endParaRPr lang="en-US" dirty="0"/>
          </a:p>
        </p:txBody>
      </p:sp>
      <p:sp>
        <p:nvSpPr>
          <p:cNvPr id="26" name="Shape 24"/>
          <p:cNvSpPr/>
          <p:nvPr/>
        </p:nvSpPr>
        <p:spPr>
          <a:xfrm>
            <a:off x="6317307" y="1355675"/>
            <a:ext cx="2309366" cy="0"/>
          </a:xfrm>
          <a:prstGeom prst="line">
            <a:avLst/>
          </a:prstGeom>
          <a:noFill/>
          <a:ln w="19050">
            <a:solidFill>
              <a:srgbClr val="00B894"/>
            </a:solidFill>
            <a:prstDash val="solid"/>
          </a:ln>
        </p:spPr>
      </p:sp>
      <p:sp>
        <p:nvSpPr>
          <p:cNvPr id="27" name="Text 25"/>
          <p:cNvSpPr/>
          <p:nvPr/>
        </p:nvSpPr>
        <p:spPr>
          <a:xfrm>
            <a:off x="6317307" y="1009650"/>
            <a:ext cx="684943" cy="209550"/>
          </a:xfrm>
          <a:prstGeom prst="rect">
            <a:avLst/>
          </a:prstGeom>
          <a:noFill/>
          <a:ln/>
        </p:spPr>
        <p:txBody>
          <a:bodyPr wrap="square" lIns="0" tIns="0" rIns="0" bIns="0" rtlCol="0" anchor="t"/>
          <a:lstStyle/>
          <a:p>
            <a:pPr algn="l" indent="0" marL="0">
              <a:buNone/>
            </a:pPr>
            <a:r>
              <a:rPr lang="en-US" sz="1400" b="1" dirty="0">
                <a:solidFill>
                  <a:srgbClr val="00B894"/>
                </a:solidFill>
                <a:latin typeface="Arial" pitchFamily="34" charset="0"/>
                <a:ea typeface="Arial" pitchFamily="34" charset="-122"/>
                <a:cs typeface="Arial" pitchFamily="34" charset="-120"/>
              </a:rPr>
              <a:t>Go SDK</a:t>
            </a:r>
            <a:endParaRPr lang="en-US" sz="1400" dirty="0"/>
          </a:p>
        </p:txBody>
      </p:sp>
      <p:sp>
        <p:nvSpPr>
          <p:cNvPr id="28" name="Text 26"/>
          <p:cNvSpPr/>
          <p:nvPr/>
        </p:nvSpPr>
        <p:spPr>
          <a:xfrm>
            <a:off x="6317307" y="1517600"/>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Maximum performance</a:t>
            </a:r>
            <a:endParaRPr lang="en-US" sz="1000" dirty="0"/>
          </a:p>
        </p:txBody>
      </p:sp>
      <p:sp>
        <p:nvSpPr>
          <p:cNvPr id="29" name="Text 27"/>
          <p:cNvSpPr/>
          <p:nvPr/>
        </p:nvSpPr>
        <p:spPr>
          <a:xfrm>
            <a:off x="6317307" y="1736675"/>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Resource-constrained env</a:t>
            </a:r>
            <a:endParaRPr lang="en-US" sz="1000" dirty="0"/>
          </a:p>
        </p:txBody>
      </p:sp>
      <p:sp>
        <p:nvSpPr>
          <p:cNvPr id="30" name="Text 28"/>
          <p:cNvSpPr/>
          <p:nvPr/>
        </p:nvSpPr>
        <p:spPr>
          <a:xfrm>
            <a:off x="6317307" y="1955750"/>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High concurrency</a:t>
            </a:r>
            <a:endParaRPr lang="en-US" sz="1000" dirty="0"/>
          </a:p>
        </p:txBody>
      </p:sp>
      <p:sp>
        <p:nvSpPr>
          <p:cNvPr id="31" name="Text 29"/>
          <p:cNvSpPr/>
          <p:nvPr/>
        </p:nvSpPr>
        <p:spPr>
          <a:xfrm>
            <a:off x="6317307" y="2174825"/>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Container/serverless</a:t>
            </a:r>
            <a:endParaRPr lang="en-US" sz="1000" dirty="0"/>
          </a:p>
        </p:txBody>
      </p:sp>
      <p:sp>
        <p:nvSpPr>
          <p:cNvPr id="32" name="Text 30"/>
          <p:cNvSpPr/>
          <p:nvPr/>
        </p:nvSpPr>
        <p:spPr>
          <a:xfrm>
            <a:off x="6317307" y="2393900"/>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Single binary deploy</a:t>
            </a:r>
            <a:endParaRPr lang="en-US" sz="1000" dirty="0"/>
          </a:p>
        </p:txBody>
      </p:sp>
      <p:sp>
        <p:nvSpPr>
          <p:cNvPr id="33" name="Text 31"/>
          <p:cNvSpPr/>
          <p:nvPr/>
        </p:nvSpPr>
        <p:spPr>
          <a:xfrm>
            <a:off x="6317307" y="2612975"/>
            <a:ext cx="2355553" cy="142875"/>
          </a:xfrm>
          <a:prstGeom prst="rect">
            <a:avLst/>
          </a:prstGeom>
          <a:noFill/>
          <a:ln/>
        </p:spPr>
        <p:txBody>
          <a:bodyPr wrap="square" lIns="0" tIns="0" rIns="0" bIns="0" rtlCol="0" anchor="t"/>
          <a:lstStyle/>
          <a:p>
            <a:pPr algn="l" indent="0" marL="0">
              <a:spcAft>
                <a:spcPts val="600"/>
              </a:spcAft>
              <a:buNone/>
            </a:pPr>
            <a:r>
              <a:rPr lang="en-US" sz="1000" dirty="0">
                <a:solidFill>
                  <a:srgbClr val="333333"/>
                </a:solidFill>
                <a:latin typeface="Arial" pitchFamily="34" charset="0"/>
                <a:ea typeface="Arial" pitchFamily="34" charset="-122"/>
                <a:cs typeface="Arial" pitchFamily="34" charset="-120"/>
              </a:rPr>
              <a:t>+ Low memory footprint</a:t>
            </a:r>
            <a:endParaRPr lang="en-US" sz="1000" dirty="0"/>
          </a:p>
        </p:txBody>
      </p:sp>
      <p:sp>
        <p:nvSpPr>
          <p:cNvPr id="34" name="Text 32"/>
          <p:cNvSpPr/>
          <p:nvPr/>
        </p:nvSpPr>
        <p:spPr>
          <a:xfrm>
            <a:off x="6317307" y="4619625"/>
            <a:ext cx="2355553" cy="133350"/>
          </a:xfrm>
          <a:prstGeom prst="rect">
            <a:avLst/>
          </a:prstGeom>
          <a:noFill/>
          <a:ln/>
        </p:spPr>
        <p:txBody>
          <a:bodyPr wrap="square" lIns="0" tIns="0" rIns="0" bIns="0" rtlCol="0" anchor="t"/>
          <a:lstStyle/>
          <a:p>
            <a:pPr algn="l" indent="0" marL="0">
              <a:buNone/>
            </a:pPr>
            <a:r>
              <a:rPr lang="en-US" sz="900" i="1" dirty="0">
                <a:solidFill>
                  <a:srgbClr val="00B894"/>
                </a:solidFill>
                <a:latin typeface="Arial" pitchFamily="34" charset="0"/>
                <a:ea typeface="Arial" pitchFamily="34" charset="-122"/>
                <a:cs typeface="Arial" pitchFamily="34" charset="-120"/>
              </a:rPr>
              <a:t>"Performance is non-negotiable"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04850"/>
          </a:xfrm>
          <a:prstGeom prst="rect">
            <a:avLst/>
          </a:prstGeom>
          <a:solidFill>
            <a:srgbClr val="667EEA"/>
          </a:solidFill>
          <a:ln/>
        </p:spPr>
        <p:txBody>
          <a:bodyPr wrap="square" rtlCol="0" anchor="ctr"/>
          <a:lstStyle/>
          <a:p>
            <a:pPr indent="0" marL="0">
              <a:buNone/>
            </a:pPr>
            <a:endParaRPr lang="en-US" dirty="0"/>
          </a:p>
        </p:txBody>
      </p:sp>
      <p:sp>
        <p:nvSpPr>
          <p:cNvPr id="3" name="Text 1"/>
          <p:cNvSpPr/>
          <p:nvPr/>
        </p:nvSpPr>
        <p:spPr>
          <a:xfrm>
            <a:off x="317450" y="190500"/>
            <a:ext cx="8679281" cy="323850"/>
          </a:xfrm>
          <a:prstGeom prst="rect">
            <a:avLst/>
          </a:prstGeom>
          <a:noFill/>
          <a:ln/>
        </p:spPr>
        <p:txBody>
          <a:bodyPr wrap="square" lIns="0" tIns="0" rIns="0" bIns="0" rtlCol="0" anchor="t"/>
          <a:lstStyle/>
          <a:p>
            <a:pPr algn="l" indent="0" marL="0">
              <a:buNone/>
            </a:pPr>
            <a:r>
              <a:rPr lang="en-US" sz="2200" b="1" dirty="0">
                <a:solidFill>
                  <a:srgbClr val="FFFFFF"/>
                </a:solidFill>
                <a:latin typeface="Arial" pitchFamily="34" charset="0"/>
                <a:ea typeface="Arial" pitchFamily="34" charset="-122"/>
                <a:cs typeface="Arial" pitchFamily="34" charset="-120"/>
              </a:rPr>
              <a:t>Summary: Why Our Approach Works</a:t>
            </a:r>
            <a:endParaRPr lang="en-US" sz="2200" dirty="0"/>
          </a:p>
        </p:txBody>
      </p:sp>
      <p:sp>
        <p:nvSpPr>
          <p:cNvPr id="4" name="Text 2"/>
          <p:cNvSpPr/>
          <p:nvPr/>
        </p:nvSpPr>
        <p:spPr>
          <a:xfrm>
            <a:off x="317450" y="958751"/>
            <a:ext cx="304800" cy="304800"/>
          </a:xfrm>
          <a:prstGeom prst="roundRect">
            <a:avLst>
              <a:gd name="adj" fmla="val 300000"/>
            </a:avLst>
          </a:prstGeom>
          <a:solidFill>
            <a:srgbClr val="667EEA"/>
          </a:solidFill>
          <a:ln/>
        </p:spPr>
        <p:txBody>
          <a:bodyPr wrap="square" rtlCol="0" anchor="ctr"/>
          <a:lstStyle/>
          <a:p>
            <a:pPr indent="0" marL="0">
              <a:buNone/>
            </a:pPr>
            <a:endParaRPr lang="en-US" dirty="0"/>
          </a:p>
        </p:txBody>
      </p:sp>
      <p:sp>
        <p:nvSpPr>
          <p:cNvPr id="5" name="Text 3"/>
          <p:cNvSpPr/>
          <p:nvPr/>
        </p:nvSpPr>
        <p:spPr>
          <a:xfrm>
            <a:off x="427434" y="1025426"/>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774650" y="958751"/>
            <a:ext cx="4585868" cy="171450"/>
          </a:xfrm>
          <a:prstGeom prst="rect">
            <a:avLst/>
          </a:prstGeom>
          <a:noFill/>
          <a:ln/>
        </p:spPr>
        <p:txBody>
          <a:bodyPr wrap="square" lIns="0" tIns="0" rIns="0" bIns="0" rtlCol="0" anchor="t"/>
          <a:lstStyle/>
          <a:p>
            <a:pPr algn="l" indent="0" marL="0">
              <a:spcAft>
                <a:spcPts val="300"/>
              </a:spcAft>
              <a:buNone/>
            </a:pPr>
            <a:r>
              <a:rPr lang="en-US" sz="1200" b="1" dirty="0">
                <a:solidFill>
                  <a:srgbClr val="1A1A2E"/>
                </a:solidFill>
                <a:latin typeface="Arial" pitchFamily="34" charset="0"/>
                <a:ea typeface="Arial" pitchFamily="34" charset="-122"/>
                <a:cs typeface="Arial" pitchFamily="34" charset="-120"/>
              </a:rPr>
              <a:t>Philosophy-Driven Design</a:t>
            </a:r>
            <a:endParaRPr lang="en-US" sz="1200" dirty="0"/>
          </a:p>
        </p:txBody>
      </p:sp>
      <p:sp>
        <p:nvSpPr>
          <p:cNvPr id="7" name="Text 5"/>
          <p:cNvSpPr/>
          <p:nvPr/>
        </p:nvSpPr>
        <p:spPr>
          <a:xfrm>
            <a:off x="774650" y="1168301"/>
            <a:ext cx="4585868"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IndyDevDan's Core Four framework guides every decision</a:t>
            </a:r>
            <a:endParaRPr lang="en-US" sz="1000" dirty="0"/>
          </a:p>
        </p:txBody>
      </p:sp>
      <p:sp>
        <p:nvSpPr>
          <p:cNvPr id="8" name="Text 6"/>
          <p:cNvSpPr/>
          <p:nvPr/>
        </p:nvSpPr>
        <p:spPr>
          <a:xfrm>
            <a:off x="317450" y="1438126"/>
            <a:ext cx="304800" cy="304800"/>
          </a:xfrm>
          <a:prstGeom prst="roundRect">
            <a:avLst>
              <a:gd name="adj" fmla="val 300000"/>
            </a:avLst>
          </a:prstGeom>
          <a:solidFill>
            <a:srgbClr val="667EEA"/>
          </a:solidFill>
          <a:ln/>
        </p:spPr>
        <p:txBody>
          <a:bodyPr wrap="square" rtlCol="0" anchor="ctr"/>
          <a:lstStyle/>
          <a:p>
            <a:pPr indent="0" marL="0">
              <a:buNone/>
            </a:pPr>
            <a:endParaRPr lang="en-US" dirty="0"/>
          </a:p>
        </p:txBody>
      </p:sp>
      <p:sp>
        <p:nvSpPr>
          <p:cNvPr id="9" name="Text 7"/>
          <p:cNvSpPr/>
          <p:nvPr/>
        </p:nvSpPr>
        <p:spPr>
          <a:xfrm>
            <a:off x="427434" y="1504801"/>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0" name="Text 8"/>
          <p:cNvSpPr/>
          <p:nvPr/>
        </p:nvSpPr>
        <p:spPr>
          <a:xfrm>
            <a:off x="774650" y="1438126"/>
            <a:ext cx="4585868" cy="171450"/>
          </a:xfrm>
          <a:prstGeom prst="rect">
            <a:avLst/>
          </a:prstGeom>
          <a:noFill/>
          <a:ln/>
        </p:spPr>
        <p:txBody>
          <a:bodyPr wrap="square" lIns="0" tIns="0" rIns="0" bIns="0" rtlCol="0" anchor="t"/>
          <a:lstStyle/>
          <a:p>
            <a:pPr algn="l" indent="0" marL="0">
              <a:spcAft>
                <a:spcPts val="300"/>
              </a:spcAft>
              <a:buNone/>
            </a:pPr>
            <a:r>
              <a:rPr lang="en-US" sz="1200" b="1" dirty="0">
                <a:solidFill>
                  <a:srgbClr val="1A1A2E"/>
                </a:solidFill>
                <a:latin typeface="Arial" pitchFamily="34" charset="0"/>
                <a:ea typeface="Arial" pitchFamily="34" charset="-122"/>
                <a:cs typeface="Arial" pitchFamily="34" charset="-120"/>
              </a:rPr>
              <a:t>Python + FastMCP = Maximum Velocity</a:t>
            </a:r>
            <a:endParaRPr lang="en-US" sz="1200" dirty="0"/>
          </a:p>
        </p:txBody>
      </p:sp>
      <p:sp>
        <p:nvSpPr>
          <p:cNvPr id="11" name="Text 9"/>
          <p:cNvSpPr/>
          <p:nvPr/>
        </p:nvSpPr>
        <p:spPr>
          <a:xfrm>
            <a:off x="774650" y="1647676"/>
            <a:ext cx="4585868"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50 LOC server vs 150+ in TypeScript</a:t>
            </a:r>
            <a:endParaRPr lang="en-US" sz="1000" dirty="0"/>
          </a:p>
        </p:txBody>
      </p:sp>
      <p:sp>
        <p:nvSpPr>
          <p:cNvPr id="12" name="Text 10"/>
          <p:cNvSpPr/>
          <p:nvPr/>
        </p:nvSpPr>
        <p:spPr>
          <a:xfrm>
            <a:off x="317450" y="1917502"/>
            <a:ext cx="304800" cy="304800"/>
          </a:xfrm>
          <a:prstGeom prst="roundRect">
            <a:avLst>
              <a:gd name="adj" fmla="val 300000"/>
            </a:avLst>
          </a:prstGeom>
          <a:solidFill>
            <a:srgbClr val="667EEA"/>
          </a:solidFill>
          <a:ln/>
        </p:spPr>
        <p:txBody>
          <a:bodyPr wrap="square" rtlCol="0" anchor="ctr"/>
          <a:lstStyle/>
          <a:p>
            <a:pPr indent="0" marL="0">
              <a:buNone/>
            </a:pPr>
            <a:endParaRPr lang="en-US" dirty="0"/>
          </a:p>
        </p:txBody>
      </p:sp>
      <p:sp>
        <p:nvSpPr>
          <p:cNvPr id="13" name="Text 11"/>
          <p:cNvSpPr/>
          <p:nvPr/>
        </p:nvSpPr>
        <p:spPr>
          <a:xfrm>
            <a:off x="427434" y="1984177"/>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774650" y="1917502"/>
            <a:ext cx="4585868" cy="171450"/>
          </a:xfrm>
          <a:prstGeom prst="rect">
            <a:avLst/>
          </a:prstGeom>
          <a:noFill/>
          <a:ln/>
        </p:spPr>
        <p:txBody>
          <a:bodyPr wrap="square" lIns="0" tIns="0" rIns="0" bIns="0" rtlCol="0" anchor="t"/>
          <a:lstStyle/>
          <a:p>
            <a:pPr algn="l" indent="0" marL="0">
              <a:spcAft>
                <a:spcPts val="300"/>
              </a:spcAft>
              <a:buNone/>
            </a:pPr>
            <a:r>
              <a:rPr lang="en-US" sz="1200" b="1" dirty="0">
                <a:solidFill>
                  <a:srgbClr val="1A1A2E"/>
                </a:solidFill>
                <a:latin typeface="Arial" pitchFamily="34" charset="0"/>
                <a:ea typeface="Arial" pitchFamily="34" charset="-122"/>
                <a:cs typeface="Arial" pitchFamily="34" charset="-120"/>
              </a:rPr>
              <a:t>SQLite + FTS5 = Zero Dependencies</a:t>
            </a:r>
            <a:endParaRPr lang="en-US" sz="1200" dirty="0"/>
          </a:p>
        </p:txBody>
      </p:sp>
      <p:sp>
        <p:nvSpPr>
          <p:cNvPr id="15" name="Text 13"/>
          <p:cNvSpPr/>
          <p:nvPr/>
        </p:nvSpPr>
        <p:spPr>
          <a:xfrm>
            <a:off x="774650" y="2127052"/>
            <a:ext cx="4585868"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25x faster search, built-in full-text indexing</a:t>
            </a:r>
            <a:endParaRPr lang="en-US" sz="1000" dirty="0"/>
          </a:p>
        </p:txBody>
      </p:sp>
      <p:sp>
        <p:nvSpPr>
          <p:cNvPr id="16" name="Text 14"/>
          <p:cNvSpPr/>
          <p:nvPr/>
        </p:nvSpPr>
        <p:spPr>
          <a:xfrm>
            <a:off x="317450" y="2396877"/>
            <a:ext cx="304800" cy="304800"/>
          </a:xfrm>
          <a:prstGeom prst="roundRect">
            <a:avLst>
              <a:gd name="adj" fmla="val 300000"/>
            </a:avLst>
          </a:prstGeom>
          <a:solidFill>
            <a:srgbClr val="667EEA"/>
          </a:solidFill>
          <a:ln/>
        </p:spPr>
        <p:txBody>
          <a:bodyPr wrap="square" rtlCol="0" anchor="ctr"/>
          <a:lstStyle/>
          <a:p>
            <a:pPr indent="0" marL="0">
              <a:buNone/>
            </a:pPr>
            <a:endParaRPr lang="en-US" dirty="0"/>
          </a:p>
        </p:txBody>
      </p:sp>
      <p:sp>
        <p:nvSpPr>
          <p:cNvPr id="17" name="Text 15"/>
          <p:cNvSpPr/>
          <p:nvPr/>
        </p:nvSpPr>
        <p:spPr>
          <a:xfrm>
            <a:off x="427434" y="2463552"/>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8" name="Text 16"/>
          <p:cNvSpPr/>
          <p:nvPr/>
        </p:nvSpPr>
        <p:spPr>
          <a:xfrm>
            <a:off x="774650" y="2396877"/>
            <a:ext cx="4585868" cy="171450"/>
          </a:xfrm>
          <a:prstGeom prst="rect">
            <a:avLst/>
          </a:prstGeom>
          <a:noFill/>
          <a:ln/>
        </p:spPr>
        <p:txBody>
          <a:bodyPr wrap="square" lIns="0" tIns="0" rIns="0" bIns="0" rtlCol="0" anchor="t"/>
          <a:lstStyle/>
          <a:p>
            <a:pPr algn="l" indent="0" marL="0">
              <a:spcAft>
                <a:spcPts val="300"/>
              </a:spcAft>
              <a:buNone/>
            </a:pPr>
            <a:r>
              <a:rPr lang="en-US" sz="1200" b="1" dirty="0">
                <a:solidFill>
                  <a:srgbClr val="1A1A2E"/>
                </a:solidFill>
                <a:latin typeface="Arial" pitchFamily="34" charset="0"/>
                <a:ea typeface="Arial" pitchFamily="34" charset="-122"/>
                <a:cs typeface="Arial" pitchFamily="34" charset="-120"/>
              </a:rPr>
              <a:t>Clean, Maintainable Architecture</a:t>
            </a:r>
            <a:endParaRPr lang="en-US" sz="1200" dirty="0"/>
          </a:p>
        </p:txBody>
      </p:sp>
      <p:sp>
        <p:nvSpPr>
          <p:cNvPr id="19" name="Text 17"/>
          <p:cNvSpPr/>
          <p:nvPr/>
        </p:nvSpPr>
        <p:spPr>
          <a:xfrm>
            <a:off x="774650" y="2606427"/>
            <a:ext cx="4585868"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Modular tools, clear separation of concerns</a:t>
            </a:r>
            <a:endParaRPr lang="en-US" sz="1000" dirty="0"/>
          </a:p>
        </p:txBody>
      </p:sp>
      <p:sp>
        <p:nvSpPr>
          <p:cNvPr id="20" name="Text 18"/>
          <p:cNvSpPr/>
          <p:nvPr/>
        </p:nvSpPr>
        <p:spPr>
          <a:xfrm>
            <a:off x="317450" y="2876252"/>
            <a:ext cx="304800" cy="304800"/>
          </a:xfrm>
          <a:prstGeom prst="roundRect">
            <a:avLst>
              <a:gd name="adj" fmla="val 300000"/>
            </a:avLst>
          </a:prstGeom>
          <a:solidFill>
            <a:srgbClr val="667EEA"/>
          </a:solidFill>
          <a:ln/>
        </p:spPr>
        <p:txBody>
          <a:bodyPr wrap="square" rtlCol="0" anchor="ctr"/>
          <a:lstStyle/>
          <a:p>
            <a:pPr indent="0" marL="0">
              <a:buNone/>
            </a:pPr>
            <a:endParaRPr lang="en-US" dirty="0"/>
          </a:p>
        </p:txBody>
      </p:sp>
      <p:sp>
        <p:nvSpPr>
          <p:cNvPr id="21" name="Text 19"/>
          <p:cNvSpPr/>
          <p:nvPr/>
        </p:nvSpPr>
        <p:spPr>
          <a:xfrm>
            <a:off x="427434" y="2942927"/>
            <a:ext cx="86529"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2" name="Text 20"/>
          <p:cNvSpPr/>
          <p:nvPr/>
        </p:nvSpPr>
        <p:spPr>
          <a:xfrm>
            <a:off x="774650" y="2876252"/>
            <a:ext cx="4585868" cy="171450"/>
          </a:xfrm>
          <a:prstGeom prst="rect">
            <a:avLst/>
          </a:prstGeom>
          <a:noFill/>
          <a:ln/>
        </p:spPr>
        <p:txBody>
          <a:bodyPr wrap="square" lIns="0" tIns="0" rIns="0" bIns="0" rtlCol="0" anchor="t"/>
          <a:lstStyle/>
          <a:p>
            <a:pPr algn="l" indent="0" marL="0">
              <a:spcAft>
                <a:spcPts val="300"/>
              </a:spcAft>
              <a:buNone/>
            </a:pPr>
            <a:r>
              <a:rPr lang="en-US" sz="1200" b="1" dirty="0">
                <a:solidFill>
                  <a:srgbClr val="1A1A2E"/>
                </a:solidFill>
                <a:latin typeface="Arial" pitchFamily="34" charset="0"/>
                <a:ea typeface="Arial" pitchFamily="34" charset="-122"/>
                <a:cs typeface="Arial" pitchFamily="34" charset="-120"/>
              </a:rPr>
              <a:t>Optional Features Scale With Needs</a:t>
            </a:r>
            <a:endParaRPr lang="en-US" sz="1200" dirty="0"/>
          </a:p>
        </p:txBody>
      </p:sp>
      <p:sp>
        <p:nvSpPr>
          <p:cNvPr id="23" name="Text 21"/>
          <p:cNvSpPr/>
          <p:nvPr/>
        </p:nvSpPr>
        <p:spPr>
          <a:xfrm>
            <a:off x="774650" y="3085802"/>
            <a:ext cx="4585868" cy="142875"/>
          </a:xfrm>
          <a:prstGeom prst="rect">
            <a:avLst/>
          </a:prstGeom>
          <a:noFill/>
          <a:ln/>
        </p:spPr>
        <p:txBody>
          <a:bodyPr wrap="square" lIns="0" tIns="0" rIns="0" bIns="0" rtlCol="0" anchor="t"/>
          <a:lstStyle/>
          <a:p>
            <a:pPr algn="l" indent="0" marL="0">
              <a:buNone/>
            </a:pPr>
            <a:r>
              <a:rPr lang="en-US" sz="1000" dirty="0">
                <a:solidFill>
                  <a:srgbClr val="666666"/>
                </a:solidFill>
                <a:latin typeface="Arial" pitchFamily="34" charset="0"/>
                <a:ea typeface="Arial" pitchFamily="34" charset="-122"/>
                <a:cs typeface="Arial" pitchFamily="34" charset="-120"/>
              </a:rPr>
              <a:t>Embeddings off by default, enable when needed</a:t>
            </a:r>
            <a:endParaRPr lang="en-US" sz="1000" dirty="0"/>
          </a:p>
        </p:txBody>
      </p:sp>
      <p:sp>
        <p:nvSpPr>
          <p:cNvPr id="24" name="Text 22"/>
          <p:cNvSpPr/>
          <p:nvPr/>
        </p:nvSpPr>
        <p:spPr>
          <a:xfrm>
            <a:off x="5524500" y="958751"/>
            <a:ext cx="3302050" cy="2227511"/>
          </a:xfrm>
          <a:prstGeom prst="roundRect">
            <a:avLst>
              <a:gd name="adj" fmla="val 4561"/>
            </a:avLst>
          </a:prstGeom>
          <a:solidFill>
            <a:srgbClr val="F0F4FF"/>
          </a:solidFill>
          <a:ln w="19050">
            <a:solidFill>
              <a:srgbClr val="667EEA"/>
            </a:solidFill>
          </a:ln>
        </p:spPr>
        <p:txBody>
          <a:bodyPr wrap="square" rtlCol="0" anchor="ctr"/>
          <a:lstStyle/>
          <a:p>
            <a:pPr indent="0" marL="0">
              <a:buNone/>
            </a:pPr>
            <a:endParaRPr lang="en-US" dirty="0"/>
          </a:p>
        </p:txBody>
      </p:sp>
      <p:sp>
        <p:nvSpPr>
          <p:cNvPr id="25" name="Text 23"/>
          <p:cNvSpPr/>
          <p:nvPr/>
        </p:nvSpPr>
        <p:spPr>
          <a:xfrm>
            <a:off x="5769889" y="1772394"/>
            <a:ext cx="2811271" cy="266700"/>
          </a:xfrm>
          <a:prstGeom prst="rect">
            <a:avLst/>
          </a:prstGeom>
          <a:noFill/>
          <a:ln/>
        </p:spPr>
        <p:txBody>
          <a:bodyPr wrap="square" lIns="0" tIns="0" rIns="0" bIns="0" rtlCol="0" anchor="t"/>
          <a:lstStyle/>
          <a:p>
            <a:pPr algn="ctr" indent="0" marL="0">
              <a:lnSpc>
                <a:spcPts val="2100"/>
              </a:lnSpc>
              <a:spcAft>
                <a:spcPts val="1500"/>
              </a:spcAft>
              <a:buNone/>
            </a:pPr>
            <a:r>
              <a:rPr lang="en-US" sz="1400" i="1" dirty="0">
                <a:solidFill>
                  <a:srgbClr val="1A1A2E"/>
                </a:solidFill>
                <a:latin typeface="Arial" pitchFamily="34" charset="0"/>
                <a:ea typeface="Arial" pitchFamily="34" charset="-122"/>
                <a:cs typeface="Arial" pitchFamily="34" charset="-120"/>
              </a:rPr>
              <a:t>"Template once, run forever."</a:t>
            </a:r>
            <a:endParaRPr lang="en-US" sz="1400" dirty="0"/>
          </a:p>
        </p:txBody>
      </p:sp>
      <p:sp>
        <p:nvSpPr>
          <p:cNvPr id="26" name="Text 24"/>
          <p:cNvSpPr/>
          <p:nvPr/>
        </p:nvSpPr>
        <p:spPr>
          <a:xfrm>
            <a:off x="5769889" y="2229594"/>
            <a:ext cx="2811271" cy="142875"/>
          </a:xfrm>
          <a:prstGeom prst="rect">
            <a:avLst/>
          </a:prstGeom>
          <a:noFill/>
          <a:ln/>
        </p:spPr>
        <p:txBody>
          <a:bodyPr wrap="square" lIns="0" tIns="0" rIns="0" bIns="0" rtlCol="0" anchor="t"/>
          <a:lstStyle/>
          <a:p>
            <a:pPr algn="ctr" indent="0" marL="0">
              <a:buNone/>
            </a:pPr>
            <a:r>
              <a:rPr lang="en-US" sz="1000" dirty="0">
                <a:solidFill>
                  <a:srgbClr val="667EEA"/>
                </a:solidFill>
                <a:latin typeface="Arial" pitchFamily="34" charset="0"/>
                <a:ea typeface="Arial" pitchFamily="34" charset="-122"/>
                <a:cs typeface="Arial" pitchFamily="34" charset="-120"/>
              </a:rPr>
              <a:t>IndyDevDan, Episode 7</a:t>
            </a:r>
            <a:endParaRPr lang="en-US" sz="1000" dirty="0"/>
          </a:p>
        </p:txBody>
      </p:sp>
      <p:sp>
        <p:nvSpPr>
          <p:cNvPr id="27" name="Text 25"/>
          <p:cNvSpPr/>
          <p:nvPr/>
        </p:nvSpPr>
        <p:spPr>
          <a:xfrm>
            <a:off x="5524500" y="3313212"/>
            <a:ext cx="3302050" cy="1160562"/>
          </a:xfrm>
          <a:prstGeom prst="roundRect">
            <a:avLst>
              <a:gd name="adj" fmla="val 6566"/>
            </a:avLst>
          </a:prstGeom>
          <a:solidFill>
            <a:srgbClr val="E8F5E9"/>
          </a:solidFill>
          <a:ln/>
        </p:spPr>
        <p:txBody>
          <a:bodyPr wrap="square" rtlCol="0" anchor="ctr"/>
          <a:lstStyle/>
          <a:p>
            <a:pPr indent="0" marL="0">
              <a:buNone/>
            </a:pPr>
            <a:endParaRPr lang="en-US" dirty="0"/>
          </a:p>
        </p:txBody>
      </p:sp>
      <p:sp>
        <p:nvSpPr>
          <p:cNvPr id="28" name="Text 26"/>
          <p:cNvSpPr/>
          <p:nvPr/>
        </p:nvSpPr>
        <p:spPr>
          <a:xfrm>
            <a:off x="5676900" y="3465612"/>
            <a:ext cx="3057195" cy="152400"/>
          </a:xfrm>
          <a:prstGeom prst="rect">
            <a:avLst/>
          </a:prstGeom>
          <a:noFill/>
          <a:ln/>
        </p:spPr>
        <p:txBody>
          <a:bodyPr wrap="square" lIns="0" tIns="0" rIns="0" bIns="0" rtlCol="0" anchor="t"/>
          <a:lstStyle/>
          <a:p>
            <a:pPr algn="l" indent="0" marL="0">
              <a:spcAft>
                <a:spcPts val="500"/>
              </a:spcAft>
              <a:buNone/>
            </a:pPr>
            <a:r>
              <a:rPr lang="en-US" sz="1100" b="1" dirty="0">
                <a:solidFill>
                  <a:srgbClr val="2E7D32"/>
                </a:solidFill>
                <a:latin typeface="Arial" pitchFamily="34" charset="0"/>
                <a:ea typeface="Arial" pitchFamily="34" charset="-122"/>
                <a:cs typeface="Arial" pitchFamily="34" charset="-120"/>
              </a:rPr>
              <a:t>Honest Assessment</a:t>
            </a:r>
            <a:endParaRPr lang="en-US" sz="1100" dirty="0"/>
          </a:p>
        </p:txBody>
      </p:sp>
      <p:sp>
        <p:nvSpPr>
          <p:cNvPr id="29" name="Text 27"/>
          <p:cNvSpPr/>
          <p:nvPr/>
        </p:nvSpPr>
        <p:spPr>
          <a:xfrm>
            <a:off x="5676900" y="3681413"/>
            <a:ext cx="3057195" cy="639961"/>
          </a:xfrm>
          <a:prstGeom prst="rect">
            <a:avLst/>
          </a:prstGeom>
          <a:noFill/>
          <a:ln/>
        </p:spPr>
        <p:txBody>
          <a:bodyPr wrap="square" lIns="0" tIns="0" rIns="0" bIns="0" rtlCol="0" anchor="t"/>
          <a:lstStyle/>
          <a:p>
            <a:pPr algn="l" indent="0" marL="0">
              <a:lnSpc>
                <a:spcPts val="1260"/>
              </a:lnSpc>
              <a:buNone/>
            </a:pPr>
            <a:r>
              <a:rPr lang="en-US" sz="900" dirty="0">
                <a:solidFill>
                  <a:srgbClr val="333333"/>
                </a:solidFill>
                <a:latin typeface="Arial" pitchFamily="34" charset="0"/>
                <a:ea typeface="Arial" pitchFamily="34" charset="-122"/>
                <a:cs typeface="Arial" pitchFamily="34" charset="-120"/>
              </a:rPr>
              <a:t>Python isn't the fastest, but for MCP development where velocity and ecosystem matter most, it's optimal. Go wins on performance. TypeScript wins on type safety. Python wins on getting things done.</a:t>
            </a:r>
            <a:endParaRPr lang="en-US" sz="900" dirty="0"/>
          </a:p>
        </p:txBody>
      </p:sp>
      <p:sp>
        <p:nvSpPr>
          <p:cNvPr id="30" name="Text 28"/>
          <p:cNvSpPr/>
          <p:nvPr/>
        </p:nvSpPr>
        <p:spPr>
          <a:xfrm>
            <a:off x="0" y="4727674"/>
            <a:ext cx="9144000" cy="415826"/>
          </a:xfrm>
          <a:prstGeom prst="rect">
            <a:avLst/>
          </a:prstGeom>
          <a:solidFill>
            <a:srgbClr val="F0F4FF"/>
          </a:solidFill>
          <a:ln/>
        </p:spPr>
        <p:txBody>
          <a:bodyPr wrap="square" rtlCol="0" anchor="ctr"/>
          <a:lstStyle/>
          <a:p>
            <a:pPr indent="0" marL="0">
              <a:buNone/>
            </a:pPr>
            <a:endParaRPr lang="en-US" dirty="0"/>
          </a:p>
        </p:txBody>
      </p:sp>
      <p:sp>
        <p:nvSpPr>
          <p:cNvPr id="31" name="Shape 29"/>
          <p:cNvSpPr/>
          <p:nvPr/>
        </p:nvSpPr>
        <p:spPr>
          <a:xfrm>
            <a:off x="0" y="4737199"/>
            <a:ext cx="9144000" cy="0"/>
          </a:xfrm>
          <a:prstGeom prst="line">
            <a:avLst/>
          </a:prstGeom>
          <a:noFill/>
          <a:ln w="19050">
            <a:solidFill>
              <a:srgbClr val="667EEA"/>
            </a:solidFill>
            <a:prstDash val="solid"/>
          </a:ln>
        </p:spPr>
      </p:sp>
      <p:sp>
        <p:nvSpPr>
          <p:cNvPr id="32" name="Text 30"/>
          <p:cNvSpPr/>
          <p:nvPr/>
        </p:nvSpPr>
        <p:spPr>
          <a:xfrm>
            <a:off x="232359" y="4873675"/>
            <a:ext cx="8679281" cy="142875"/>
          </a:xfrm>
          <a:prstGeom prst="rect">
            <a:avLst/>
          </a:prstGeom>
          <a:noFill/>
          <a:ln/>
        </p:spPr>
        <p:txBody>
          <a:bodyPr wrap="square" lIns="0" tIns="0" rIns="0" bIns="0" rtlCol="0" anchor="t"/>
          <a:lstStyle/>
          <a:p>
            <a:pPr algn="ctr" indent="0" marL="0">
              <a:buNone/>
            </a:pPr>
            <a:r>
              <a:rPr lang="en-US" sz="1000" dirty="0">
                <a:solidFill>
                  <a:srgbClr val="667EEA"/>
                </a:solidFill>
                <a:latin typeface="Arial" pitchFamily="34" charset="0"/>
                <a:ea typeface="Arial" pitchFamily="34" charset="-122"/>
                <a:cs typeface="Arial" pitchFamily="34" charset="-120"/>
              </a:rPr>
              <a:t>Omni-Cortex: The right tool for building memory systems that learn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Python for Omni-Cortex MCP</dc:title>
  <dc:subject>IndyDevDan Philosophy &amp; Technical Comparison</dc:subject>
  <dc:creator>Claude Code</dc:creator>
  <cp:lastModifiedBy>Claude Code</cp:lastModifiedBy>
  <cp:revision>1</cp:revision>
  <dcterms:created xsi:type="dcterms:W3CDTF">2026-01-08T18:43:21Z</dcterms:created>
  <dcterms:modified xsi:type="dcterms:W3CDTF">2026-01-08T18:43:21Z</dcterms:modified>
</cp:coreProperties>
</file>